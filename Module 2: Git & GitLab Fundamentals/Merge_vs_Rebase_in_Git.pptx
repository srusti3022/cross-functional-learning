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the audience and introduce the topic: comparing Git's two main ways to combine branches. Mention this is a beginner-friendly, 5-7 minute walkthrough aimed at students and interns. Preview that we'll cover both commands, see diagrams of each, compare them side by side, and end with guidance on which to use when.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that a branch is just a lightweight, movable pointer to a commit — creating one is cheap and fast in Git. Point to the diagram: main continues on its own line while feature diverges to isolate new work. Set up the next two slides by noting that reconnecting feature back into main is done via merge or rebase.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command: check out main, then merge feature-branch into it. Point out that merge creates a new commit (F) with two parents, shown converging in the diagram. Emphasize that merge never rewrites existing commits — it only adds a new one — which is why it's considered the 'safe' option for shared branches.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 command: switch to feature-branch, then rebase onto main. Explain that D and E become D-prime and E-prime — new commits with new hashes — because rebase rewrites history rather than merging it. Highlight the diagram's single straight line, and flag that rebasing shared/public branches is risky since it changes commit history other people may depend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table as a quick reference students can screenshot. Walk down the rows: merge keeps everything (safer for teams), rebase produces a cleaner line (nicer for solo cleanup) but rewrites history, which is risky once commits are shared. Point out that 'risk level' is really about rewriting commits others may have already pulled.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Green checkmarks are advantages, red marks are disadvantages. Merge's biggest strength is safety and honesty about history; its downside is a noisier log with extra merge commits. Rebase's strength is a clean, linear log that's easier to read and bisect; its downside is that it rewrites history, which causes real problems if those commits were already pushed and shared.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two concrete scenarios: merging is right when finishing a feature for release, since it preserves the record of what happened. Rebasing is right when privately updating your own branch with the latest main before you've shared it. State the golden rule clearly: never rebase public history — this is the single most common rebase mistake beginners make.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Summarize the core message: merge and rebase both integrate changes, but merge preserves full history while rebase produces a clean, linear one. Reiterate the final recommendation as a simple rule of thumb for interns: merge on shared branches, rebase locally, never rebase public history. Open the floor for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3A8A"/>
        </a:solidFill>
      </p:bgPr>
    </p:bg>
    <p:spTree>
      <p:nvGrpSpPr>
        <p:cNvPr id="1" name=""/>
        <p:cNvGrpSpPr/>
        <p:nvPr/>
      </p:nvGrpSpPr>
      <p:grpSpPr>
        <a:xfrm>
          <a:off x="0" y="0"/>
          <a:ext cx="0" cy="0"/>
          <a:chOff x="0" y="0"/>
          <a:chExt cx="0" cy="0"/>
        </a:xfrm>
      </p:grpSpPr>
      <p:sp>
        <p:nvSpPr>
          <p:cNvPr id="2" name="Shape 0"/>
          <p:cNvSpPr/>
          <p:nvPr/>
        </p:nvSpPr>
        <p:spPr>
          <a:xfrm>
            <a:off x="9692640" y="1828800"/>
            <a:ext cx="914" cy="2194560"/>
          </a:xfrm>
          <a:prstGeom prst="line">
            <a:avLst/>
          </a:prstGeom>
          <a:noFill/>
          <a:ln w="31750">
            <a:solidFill>
              <a:srgbClr val="CADCFC"/>
            </a:solidFill>
            <a:prstDash val="solid"/>
          </a:ln>
        </p:spPr>
      </p:sp>
      <p:sp>
        <p:nvSpPr>
          <p:cNvPr id="3" name="Shape 1"/>
          <p:cNvSpPr/>
          <p:nvPr/>
        </p:nvSpPr>
        <p:spPr>
          <a:xfrm flipV="1">
            <a:off x="9692640" y="2194560"/>
            <a:ext cx="822960" cy="731520"/>
          </a:xfrm>
          <a:prstGeom prst="line">
            <a:avLst/>
          </a:prstGeom>
          <a:noFill/>
          <a:ln w="31750">
            <a:solidFill>
              <a:srgbClr val="F05133"/>
            </a:solidFill>
            <a:prstDash val="solid"/>
          </a:ln>
        </p:spPr>
      </p:sp>
      <p:sp>
        <p:nvSpPr>
          <p:cNvPr id="4" name="Shape 2"/>
          <p:cNvSpPr/>
          <p:nvPr/>
        </p:nvSpPr>
        <p:spPr>
          <a:xfrm>
            <a:off x="9692640" y="2925166"/>
            <a:ext cx="822960" cy="1829"/>
          </a:xfrm>
          <a:prstGeom prst="line">
            <a:avLst/>
          </a:prstGeom>
          <a:noFill/>
          <a:ln w="31750">
            <a:solidFill>
              <a:srgbClr val="F05133"/>
            </a:solidFill>
            <a:prstDash val="solid"/>
          </a:ln>
        </p:spPr>
      </p:sp>
      <p:sp>
        <p:nvSpPr>
          <p:cNvPr id="5" name="Shape 3"/>
          <p:cNvSpPr/>
          <p:nvPr/>
        </p:nvSpPr>
        <p:spPr>
          <a:xfrm>
            <a:off x="9692640" y="1463040"/>
            <a:ext cx="822960" cy="731520"/>
          </a:xfrm>
          <a:prstGeom prst="line">
            <a:avLst/>
          </a:prstGeom>
          <a:noFill/>
          <a:ln w="31750">
            <a:solidFill>
              <a:srgbClr val="F05133"/>
            </a:solidFill>
            <a:prstDash val="solid"/>
          </a:ln>
        </p:spPr>
      </p:sp>
      <p:sp>
        <p:nvSpPr>
          <p:cNvPr id="6" name="Shape 4"/>
          <p:cNvSpPr/>
          <p:nvPr/>
        </p:nvSpPr>
        <p:spPr>
          <a:xfrm>
            <a:off x="9592056" y="3922776"/>
            <a:ext cx="201168" cy="201168"/>
          </a:xfrm>
          <a:prstGeom prst="ellipse">
            <a:avLst/>
          </a:prstGeom>
          <a:solidFill>
            <a:srgbClr val="EAF2FF"/>
          </a:solidFill>
          <a:ln w="19050">
            <a:solidFill>
              <a:srgbClr val="FFFFFF"/>
            </a:solidFill>
            <a:prstDash val="solid"/>
          </a:ln>
        </p:spPr>
      </p:sp>
      <p:sp>
        <p:nvSpPr>
          <p:cNvPr id="7" name="Shape 5"/>
          <p:cNvSpPr/>
          <p:nvPr/>
        </p:nvSpPr>
        <p:spPr>
          <a:xfrm>
            <a:off x="9592056" y="3191256"/>
            <a:ext cx="201168" cy="201168"/>
          </a:xfrm>
          <a:prstGeom prst="ellipse">
            <a:avLst/>
          </a:prstGeom>
          <a:solidFill>
            <a:srgbClr val="EAF2FF"/>
          </a:solidFill>
          <a:ln w="19050">
            <a:solidFill>
              <a:srgbClr val="FFFFFF"/>
            </a:solidFill>
            <a:prstDash val="solid"/>
          </a:ln>
        </p:spPr>
      </p:sp>
      <p:sp>
        <p:nvSpPr>
          <p:cNvPr id="8" name="Shape 6"/>
          <p:cNvSpPr/>
          <p:nvPr/>
        </p:nvSpPr>
        <p:spPr>
          <a:xfrm>
            <a:off x="9592056" y="2459736"/>
            <a:ext cx="201168" cy="201168"/>
          </a:xfrm>
          <a:prstGeom prst="ellipse">
            <a:avLst/>
          </a:prstGeom>
          <a:solidFill>
            <a:srgbClr val="EAF2FF"/>
          </a:solidFill>
          <a:ln w="19050">
            <a:solidFill>
              <a:srgbClr val="FFFFFF"/>
            </a:solidFill>
            <a:prstDash val="solid"/>
          </a:ln>
        </p:spPr>
      </p:sp>
      <p:sp>
        <p:nvSpPr>
          <p:cNvPr id="9" name="Shape 7"/>
          <p:cNvSpPr/>
          <p:nvPr/>
        </p:nvSpPr>
        <p:spPr>
          <a:xfrm>
            <a:off x="9592056" y="1728216"/>
            <a:ext cx="201168" cy="201168"/>
          </a:xfrm>
          <a:prstGeom prst="ellipse">
            <a:avLst/>
          </a:prstGeom>
          <a:solidFill>
            <a:srgbClr val="EAF2FF"/>
          </a:solidFill>
          <a:ln w="19050">
            <a:solidFill>
              <a:srgbClr val="FFFFFF"/>
            </a:solidFill>
            <a:prstDash val="solid"/>
          </a:ln>
        </p:spPr>
      </p:sp>
      <p:sp>
        <p:nvSpPr>
          <p:cNvPr id="10" name="Shape 8"/>
          <p:cNvSpPr/>
          <p:nvPr/>
        </p:nvSpPr>
        <p:spPr>
          <a:xfrm>
            <a:off x="10415016" y="2825496"/>
            <a:ext cx="201168" cy="201168"/>
          </a:xfrm>
          <a:prstGeom prst="ellipse">
            <a:avLst/>
          </a:prstGeom>
          <a:solidFill>
            <a:srgbClr val="F05133"/>
          </a:solidFill>
          <a:ln w="19050">
            <a:solidFill>
              <a:srgbClr val="FFFFFF"/>
            </a:solidFill>
            <a:prstDash val="solid"/>
          </a:ln>
        </p:spPr>
      </p:sp>
      <p:sp>
        <p:nvSpPr>
          <p:cNvPr id="11" name="Shape 9"/>
          <p:cNvSpPr/>
          <p:nvPr/>
        </p:nvSpPr>
        <p:spPr>
          <a:xfrm>
            <a:off x="10415016" y="2093976"/>
            <a:ext cx="201168" cy="201168"/>
          </a:xfrm>
          <a:prstGeom prst="ellipse">
            <a:avLst/>
          </a:prstGeom>
          <a:solidFill>
            <a:srgbClr val="F05133"/>
          </a:solidFill>
          <a:ln w="19050">
            <a:solidFill>
              <a:srgbClr val="FFFFFF"/>
            </a:solidFill>
            <a:prstDash val="solid"/>
          </a:ln>
        </p:spPr>
      </p:sp>
      <p:sp>
        <p:nvSpPr>
          <p:cNvPr id="12" name="Text 10"/>
          <p:cNvSpPr/>
          <p:nvPr/>
        </p:nvSpPr>
        <p:spPr>
          <a:xfrm>
            <a:off x="640080" y="2331720"/>
            <a:ext cx="8778240" cy="914400"/>
          </a:xfrm>
          <a:prstGeom prst="rect">
            <a:avLst/>
          </a:prstGeom>
          <a:noFill/>
          <a:ln/>
        </p:spPr>
        <p:txBody>
          <a:bodyPr wrap="square" rtlCol="0" anchor="ctr"/>
          <a:lstStyle/>
          <a:p>
            <a:pPr indent="0" marL="0">
              <a:buNone/>
            </a:pPr>
            <a:r>
              <a:rPr lang="en-US" sz="4400" b="1" spc="100" kern="0" dirty="0">
                <a:solidFill>
                  <a:srgbClr val="FFFFFF"/>
                </a:solidFill>
                <a:latin typeface="Calibri" pitchFamily="34" charset="0"/>
                <a:ea typeface="Calibri" pitchFamily="34" charset="-122"/>
                <a:cs typeface="Calibri" pitchFamily="34" charset="-120"/>
              </a:rPr>
              <a:t>MERGE  vs  REBASE</a:t>
            </a:r>
            <a:endParaRPr lang="en-US" sz="4400" dirty="0"/>
          </a:p>
        </p:txBody>
      </p:sp>
      <p:sp>
        <p:nvSpPr>
          <p:cNvPr id="13" name="Text 11"/>
          <p:cNvSpPr/>
          <p:nvPr/>
        </p:nvSpPr>
        <p:spPr>
          <a:xfrm>
            <a:off x="640080" y="3063240"/>
            <a:ext cx="8778240" cy="640080"/>
          </a:xfrm>
          <a:prstGeom prst="rect">
            <a:avLst/>
          </a:prstGeom>
          <a:noFill/>
          <a:ln/>
        </p:spPr>
        <p:txBody>
          <a:bodyPr wrap="square" rtlCol="0" anchor="ctr"/>
          <a:lstStyle/>
          <a:p>
            <a:pPr indent="0" marL="0">
              <a:buNone/>
            </a:pPr>
            <a:r>
              <a:rPr lang="en-US" sz="2600" dirty="0">
                <a:solidFill>
                  <a:srgbClr val="F05133"/>
                </a:solidFill>
                <a:latin typeface="Calibri" pitchFamily="34" charset="0"/>
                <a:ea typeface="Calibri" pitchFamily="34" charset="-122"/>
                <a:cs typeface="Calibri" pitchFamily="34" charset="-120"/>
              </a:rPr>
              <a:t>in Git</a:t>
            </a:r>
            <a:endParaRPr lang="en-US" sz="2600" dirty="0"/>
          </a:p>
        </p:txBody>
      </p:sp>
      <p:sp>
        <p:nvSpPr>
          <p:cNvPr id="14" name="Text 12"/>
          <p:cNvSpPr/>
          <p:nvPr/>
        </p:nvSpPr>
        <p:spPr>
          <a:xfrm>
            <a:off x="640080" y="3794760"/>
            <a:ext cx="7863840" cy="548640"/>
          </a:xfrm>
          <a:prstGeom prst="rect">
            <a:avLst/>
          </a:prstGeom>
          <a:noFill/>
          <a:ln/>
        </p:spPr>
        <p:txBody>
          <a:bodyPr wrap="square" rtlCol="0" anchor="ctr"/>
          <a:lstStyle/>
          <a:p>
            <a:pPr indent="0" marL="0">
              <a:buNone/>
            </a:pPr>
            <a:r>
              <a:rPr lang="en-US" sz="1500" dirty="0">
                <a:solidFill>
                  <a:srgbClr val="CADCFC"/>
                </a:solidFill>
                <a:latin typeface="Calibri" pitchFamily="34" charset="0"/>
                <a:ea typeface="Calibri" pitchFamily="34" charset="-122"/>
                <a:cs typeface="Calibri" pitchFamily="34" charset="-120"/>
              </a:rPr>
              <a:t>A practical guide to combining branches, for software engineering students &amp; interns</a:t>
            </a:r>
            <a:endParaRPr lang="en-US" sz="1500" dirty="0"/>
          </a:p>
        </p:txBody>
      </p:sp>
      <p:sp>
        <p:nvSpPr>
          <p:cNvPr id="15" name="Shape 13"/>
          <p:cNvSpPr/>
          <p:nvPr/>
        </p:nvSpPr>
        <p:spPr>
          <a:xfrm>
            <a:off x="640080" y="5349240"/>
            <a:ext cx="3108960" cy="914"/>
          </a:xfrm>
          <a:prstGeom prst="line">
            <a:avLst/>
          </a:prstGeom>
          <a:noFill/>
          <a:ln w="12700">
            <a:solidFill>
              <a:srgbClr val="CADCFC"/>
            </a:solidFill>
            <a:prstDash val="solid"/>
          </a:ln>
        </p:spPr>
      </p:sp>
      <p:sp>
        <p:nvSpPr>
          <p:cNvPr id="16" name="Text 14"/>
          <p:cNvSpPr/>
          <p:nvPr/>
        </p:nvSpPr>
        <p:spPr>
          <a:xfrm>
            <a:off x="640080" y="5486400"/>
            <a:ext cx="3657600" cy="320040"/>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Presenter Name</a:t>
            </a:r>
            <a:endParaRPr lang="en-US" sz="1400" dirty="0"/>
          </a:p>
        </p:txBody>
      </p:sp>
      <p:sp>
        <p:nvSpPr>
          <p:cNvPr id="17" name="Text 15"/>
          <p:cNvSpPr/>
          <p:nvPr/>
        </p:nvSpPr>
        <p:spPr>
          <a:xfrm>
            <a:off x="640080" y="5806440"/>
            <a:ext cx="3657600" cy="320040"/>
          </a:xfrm>
          <a:prstGeom prst="rect">
            <a:avLst/>
          </a:prstGeom>
          <a:noFill/>
          <a:ln/>
        </p:spPr>
        <p:txBody>
          <a:bodyPr wrap="square" rtlCol="0" anchor="ctr"/>
          <a:lstStyle/>
          <a:p>
            <a:pPr indent="0" marL="0">
              <a:buNone/>
            </a:pPr>
            <a:r>
              <a:rPr lang="en-US" sz="1200" dirty="0">
                <a:solidFill>
                  <a:srgbClr val="CADCFC"/>
                </a:solidFill>
                <a:latin typeface="Calibri" pitchFamily="34" charset="0"/>
                <a:ea typeface="Calibri" pitchFamily="34" charset="-122"/>
                <a:cs typeface="Calibri" pitchFamily="34" charset="-120"/>
              </a:rPr>
              <a:t>August 3, 2026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8686800" cy="640080"/>
          </a:xfrm>
          <a:prstGeom prst="rect">
            <a:avLst/>
          </a:prstGeom>
          <a:noFill/>
          <a:ln/>
        </p:spPr>
        <p:txBody>
          <a:bodyPr wrap="square" rtlCol="0" anchor="ctr"/>
          <a:lstStyle/>
          <a:p>
            <a:pPr indent="0" marL="0">
              <a:buNone/>
            </a:pPr>
            <a:r>
              <a:rPr lang="en-US" sz="3000" b="1" dirty="0">
                <a:solidFill>
                  <a:srgbClr val="1E3A8A"/>
                </a:solidFill>
                <a:latin typeface="Calibri" pitchFamily="34" charset="0"/>
                <a:ea typeface="Calibri" pitchFamily="34" charset="-122"/>
                <a:cs typeface="Calibri" pitchFamily="34" charset="-120"/>
              </a:rPr>
              <a:t>Introduction to Git Branching</a:t>
            </a:r>
            <a:endParaRPr lang="en-US" sz="3000" dirty="0"/>
          </a:p>
        </p:txBody>
      </p:sp>
      <p:sp>
        <p:nvSpPr>
          <p:cNvPr id="3" name="Shape 1"/>
          <p:cNvSpPr/>
          <p:nvPr/>
        </p:nvSpPr>
        <p:spPr>
          <a:xfrm>
            <a:off x="10058400" y="502920"/>
            <a:ext cx="1554480" cy="292608"/>
          </a:xfrm>
          <a:prstGeom prst="roundRect">
            <a:avLst>
              <a:gd name="adj" fmla="val 50000"/>
            </a:avLst>
          </a:prstGeom>
          <a:solidFill>
            <a:srgbClr val="F05133"/>
          </a:solidFill>
          <a:ln/>
        </p:spPr>
      </p:sp>
      <p:sp>
        <p:nvSpPr>
          <p:cNvPr id="4" name="Text 2"/>
          <p:cNvSpPr/>
          <p:nvPr/>
        </p:nvSpPr>
        <p:spPr>
          <a:xfrm>
            <a:off x="10058400" y="502920"/>
            <a:ext cx="1554480" cy="292608"/>
          </a:xfrm>
          <a:prstGeom prst="rect">
            <a:avLst/>
          </a:prstGeom>
          <a:noFill/>
          <a:ln/>
        </p:spPr>
        <p:txBody>
          <a:bodyPr wrap="square"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BASICS</a:t>
            </a:r>
            <a:endParaRPr lang="en-US" sz="1050" dirty="0"/>
          </a:p>
        </p:txBody>
      </p:sp>
      <p:sp>
        <p:nvSpPr>
          <p:cNvPr id="5" name="Shape 3"/>
          <p:cNvSpPr/>
          <p:nvPr/>
        </p:nvSpPr>
        <p:spPr>
          <a:xfrm>
            <a:off x="594360" y="1472184"/>
            <a:ext cx="146304" cy="146304"/>
          </a:xfrm>
          <a:prstGeom prst="ellipse">
            <a:avLst/>
          </a:prstGeom>
          <a:solidFill>
            <a:srgbClr val="F05133"/>
          </a:solidFill>
          <a:ln/>
        </p:spPr>
      </p:sp>
      <p:sp>
        <p:nvSpPr>
          <p:cNvPr id="6" name="Text 4"/>
          <p:cNvSpPr/>
          <p:nvPr/>
        </p:nvSpPr>
        <p:spPr>
          <a:xfrm>
            <a:off x="868680" y="1362456"/>
            <a:ext cx="6035040" cy="777240"/>
          </a:xfrm>
          <a:prstGeom prst="rect">
            <a:avLst/>
          </a:prstGeom>
          <a:noFill/>
          <a:ln/>
        </p:spPr>
        <p:txBody>
          <a:bodyPr wrap="square" rtlCol="0" anchor="t"/>
          <a:lstStyle/>
          <a:p>
            <a:pPr indent="0" marL="0">
              <a:lnSpc>
                <a:spcPct val="115000"/>
              </a:lnSpc>
              <a:buNone/>
            </a:pPr>
            <a:r>
              <a:rPr lang="en-US" sz="1400" b="1" dirty="0">
                <a:solidFill>
                  <a:srgbClr val="1E3A8A"/>
                </a:solidFill>
                <a:latin typeface="Calibri" pitchFamily="34" charset="0"/>
                <a:ea typeface="Calibri" pitchFamily="34" charset="-122"/>
                <a:cs typeface="Calibri" pitchFamily="34" charset="-120"/>
              </a:rPr>
              <a:t>What is a branch?  </a:t>
            </a:r>
            <a:pPr indent="0" marL="0">
              <a:lnSpc>
                <a:spcPct val="115000"/>
              </a:lnSpc>
              <a:buNone/>
            </a:pPr>
            <a:r>
              <a:rPr lang="en-US" sz="1400" dirty="0">
                <a:solidFill>
                  <a:srgbClr val="1F2937"/>
                </a:solidFill>
                <a:latin typeface="Calibri" pitchFamily="34" charset="0"/>
                <a:ea typeface="Calibri" pitchFamily="34" charset="-122"/>
                <a:cs typeface="Calibri" pitchFamily="34" charset="-120"/>
              </a:rPr>
              <a:t>An independent line of development — a movable pointer to a series of commits.</a:t>
            </a:r>
            <a:endParaRPr lang="en-US" sz="1400" dirty="0"/>
          </a:p>
        </p:txBody>
      </p:sp>
      <p:sp>
        <p:nvSpPr>
          <p:cNvPr id="7" name="Shape 5"/>
          <p:cNvSpPr/>
          <p:nvPr/>
        </p:nvSpPr>
        <p:spPr>
          <a:xfrm>
            <a:off x="594360" y="2523744"/>
            <a:ext cx="146304" cy="146304"/>
          </a:xfrm>
          <a:prstGeom prst="ellipse">
            <a:avLst/>
          </a:prstGeom>
          <a:solidFill>
            <a:srgbClr val="F05133"/>
          </a:solidFill>
          <a:ln/>
        </p:spPr>
      </p:sp>
      <p:sp>
        <p:nvSpPr>
          <p:cNvPr id="8" name="Text 6"/>
          <p:cNvSpPr/>
          <p:nvPr/>
        </p:nvSpPr>
        <p:spPr>
          <a:xfrm>
            <a:off x="868680" y="2414016"/>
            <a:ext cx="6035040" cy="777240"/>
          </a:xfrm>
          <a:prstGeom prst="rect">
            <a:avLst/>
          </a:prstGeom>
          <a:noFill/>
          <a:ln/>
        </p:spPr>
        <p:txBody>
          <a:bodyPr wrap="square" rtlCol="0" anchor="t"/>
          <a:lstStyle/>
          <a:p>
            <a:pPr indent="0" marL="0">
              <a:lnSpc>
                <a:spcPct val="115000"/>
              </a:lnSpc>
              <a:buNone/>
            </a:pPr>
            <a:r>
              <a:rPr lang="en-US" sz="1400" b="1" dirty="0">
                <a:solidFill>
                  <a:srgbClr val="1E3A8A"/>
                </a:solidFill>
                <a:latin typeface="Calibri" pitchFamily="34" charset="0"/>
                <a:ea typeface="Calibri" pitchFamily="34" charset="-122"/>
                <a:cs typeface="Calibri" pitchFamily="34" charset="-120"/>
              </a:rPr>
              <a:t>Why teams branch out  </a:t>
            </a:r>
            <a:pPr indent="0" marL="0">
              <a:lnSpc>
                <a:spcPct val="115000"/>
              </a:lnSpc>
              <a:buNone/>
            </a:pPr>
            <a:r>
              <a:rPr lang="en-US" sz="1400" dirty="0">
                <a:solidFill>
                  <a:srgbClr val="1F2937"/>
                </a:solidFill>
                <a:latin typeface="Calibri" pitchFamily="34" charset="0"/>
                <a:ea typeface="Calibri" pitchFamily="34" charset="-122"/>
                <a:cs typeface="Calibri" pitchFamily="34" charset="-120"/>
              </a:rPr>
              <a:t>Lets developers build features, fixes, or experiments without disturbing the main codebase.</a:t>
            </a:r>
            <a:endParaRPr lang="en-US" sz="1400" dirty="0"/>
          </a:p>
        </p:txBody>
      </p:sp>
      <p:sp>
        <p:nvSpPr>
          <p:cNvPr id="9" name="Shape 7"/>
          <p:cNvSpPr/>
          <p:nvPr/>
        </p:nvSpPr>
        <p:spPr>
          <a:xfrm>
            <a:off x="594360" y="3575304"/>
            <a:ext cx="146304" cy="146304"/>
          </a:xfrm>
          <a:prstGeom prst="ellipse">
            <a:avLst/>
          </a:prstGeom>
          <a:solidFill>
            <a:srgbClr val="F05133"/>
          </a:solidFill>
          <a:ln/>
        </p:spPr>
      </p:sp>
      <p:sp>
        <p:nvSpPr>
          <p:cNvPr id="10" name="Text 8"/>
          <p:cNvSpPr/>
          <p:nvPr/>
        </p:nvSpPr>
        <p:spPr>
          <a:xfrm>
            <a:off x="868680" y="3465576"/>
            <a:ext cx="6035040" cy="777240"/>
          </a:xfrm>
          <a:prstGeom prst="rect">
            <a:avLst/>
          </a:prstGeom>
          <a:noFill/>
          <a:ln/>
        </p:spPr>
        <p:txBody>
          <a:bodyPr wrap="square" rtlCol="0" anchor="t"/>
          <a:lstStyle/>
          <a:p>
            <a:pPr indent="0" marL="0">
              <a:lnSpc>
                <a:spcPct val="115000"/>
              </a:lnSpc>
              <a:buNone/>
            </a:pPr>
            <a:r>
              <a:rPr lang="en-US" sz="1400" b="1" dirty="0">
                <a:solidFill>
                  <a:srgbClr val="1E3A8A"/>
                </a:solidFill>
                <a:latin typeface="Calibri" pitchFamily="34" charset="0"/>
                <a:ea typeface="Calibri" pitchFamily="34" charset="-122"/>
                <a:cs typeface="Calibri" pitchFamily="34" charset="-120"/>
              </a:rPr>
              <a:t>Combining branches  </a:t>
            </a:r>
            <a:pPr indent="0" marL="0">
              <a:lnSpc>
                <a:spcPct val="115000"/>
              </a:lnSpc>
              <a:buNone/>
            </a:pPr>
            <a:r>
              <a:rPr lang="en-US" sz="1400" dirty="0">
                <a:solidFill>
                  <a:srgbClr val="1F2937"/>
                </a:solidFill>
                <a:latin typeface="Calibri" pitchFamily="34" charset="0"/>
                <a:ea typeface="Calibri" pitchFamily="34" charset="-122"/>
                <a:cs typeface="Calibri" pitchFamily="34" charset="-120"/>
              </a:rPr>
              <a:t>Eventually, work on a branch must rejoin the main line — that's where Merge and Rebase come in.</a:t>
            </a:r>
            <a:endParaRPr lang="en-US" sz="1400" dirty="0"/>
          </a:p>
        </p:txBody>
      </p:sp>
      <p:sp>
        <p:nvSpPr>
          <p:cNvPr id="11" name="Shape 9"/>
          <p:cNvSpPr/>
          <p:nvPr/>
        </p:nvSpPr>
        <p:spPr>
          <a:xfrm>
            <a:off x="594360" y="4626864"/>
            <a:ext cx="146304" cy="146304"/>
          </a:xfrm>
          <a:prstGeom prst="ellipse">
            <a:avLst/>
          </a:prstGeom>
          <a:solidFill>
            <a:srgbClr val="F05133"/>
          </a:solidFill>
          <a:ln/>
        </p:spPr>
      </p:sp>
      <p:sp>
        <p:nvSpPr>
          <p:cNvPr id="12" name="Text 10"/>
          <p:cNvSpPr/>
          <p:nvPr/>
        </p:nvSpPr>
        <p:spPr>
          <a:xfrm>
            <a:off x="868680" y="4517136"/>
            <a:ext cx="6035040" cy="777240"/>
          </a:xfrm>
          <a:prstGeom prst="rect">
            <a:avLst/>
          </a:prstGeom>
          <a:noFill/>
          <a:ln/>
        </p:spPr>
        <p:txBody>
          <a:bodyPr wrap="square" rtlCol="0" anchor="t"/>
          <a:lstStyle/>
          <a:p>
            <a:pPr indent="0" marL="0">
              <a:lnSpc>
                <a:spcPct val="115000"/>
              </a:lnSpc>
              <a:buNone/>
            </a:pPr>
            <a:r>
              <a:rPr lang="en-US" sz="1400" b="1" dirty="0">
                <a:solidFill>
                  <a:srgbClr val="1E3A8A"/>
                </a:solidFill>
                <a:latin typeface="Calibri" pitchFamily="34" charset="0"/>
                <a:ea typeface="Calibri" pitchFamily="34" charset="-122"/>
                <a:cs typeface="Calibri" pitchFamily="34" charset="-120"/>
              </a:rPr>
              <a:t>Two approaches, one goal  </a:t>
            </a:r>
            <a:pPr indent="0" marL="0">
              <a:lnSpc>
                <a:spcPct val="115000"/>
              </a:lnSpc>
              <a:buNone/>
            </a:pPr>
            <a:r>
              <a:rPr lang="en-US" sz="1400" dirty="0">
                <a:solidFill>
                  <a:srgbClr val="1F2937"/>
                </a:solidFill>
                <a:latin typeface="Calibri" pitchFamily="34" charset="0"/>
                <a:ea typeface="Calibri" pitchFamily="34" charset="-122"/>
                <a:cs typeface="Calibri" pitchFamily="34" charset="-120"/>
              </a:rPr>
              <a:t>Both integrate changes from one branch into another — but they rewrite history very differently.</a:t>
            </a:r>
            <a:endParaRPr lang="en-US" sz="1400" dirty="0"/>
          </a:p>
        </p:txBody>
      </p:sp>
      <p:sp>
        <p:nvSpPr>
          <p:cNvPr id="13" name="Shape 11"/>
          <p:cNvSpPr/>
          <p:nvPr/>
        </p:nvSpPr>
        <p:spPr>
          <a:xfrm>
            <a:off x="7223760" y="1234440"/>
            <a:ext cx="4297680" cy="4160520"/>
          </a:xfrm>
          <a:prstGeom prst="roundRect">
            <a:avLst>
              <a:gd name="adj" fmla="val 2198"/>
            </a:avLst>
          </a:prstGeom>
          <a:solidFill>
            <a:srgbClr val="EAF2FF"/>
          </a:solidFill>
          <a:ln/>
        </p:spPr>
      </p:sp>
      <p:sp>
        <p:nvSpPr>
          <p:cNvPr id="14" name="Text 12"/>
          <p:cNvSpPr/>
          <p:nvPr/>
        </p:nvSpPr>
        <p:spPr>
          <a:xfrm>
            <a:off x="7452360" y="1371600"/>
            <a:ext cx="3840480" cy="320040"/>
          </a:xfrm>
          <a:prstGeom prst="rect">
            <a:avLst/>
          </a:prstGeom>
          <a:noFill/>
          <a:ln/>
        </p:spPr>
        <p:txBody>
          <a:bodyPr wrap="square" rtlCol="0" anchor="ctr"/>
          <a:lstStyle/>
          <a:p>
            <a:pPr indent="0" marL="0">
              <a:buNone/>
            </a:pPr>
            <a:r>
              <a:rPr lang="en-US" sz="1300" b="1" dirty="0">
                <a:solidFill>
                  <a:srgbClr val="1E3A8A"/>
                </a:solidFill>
                <a:latin typeface="Calibri" pitchFamily="34" charset="0"/>
                <a:ea typeface="Calibri" pitchFamily="34" charset="-122"/>
                <a:cs typeface="Calibri" pitchFamily="34" charset="-120"/>
              </a:rPr>
              <a:t>A Branch, Visually</a:t>
            </a:r>
            <a:endParaRPr lang="en-US" sz="1300" dirty="0"/>
          </a:p>
        </p:txBody>
      </p:sp>
      <p:sp>
        <p:nvSpPr>
          <p:cNvPr id="15" name="Shape 13"/>
          <p:cNvSpPr/>
          <p:nvPr/>
        </p:nvSpPr>
        <p:spPr>
          <a:xfrm>
            <a:off x="7955280" y="2103120"/>
            <a:ext cx="914" cy="2743200"/>
          </a:xfrm>
          <a:prstGeom prst="line">
            <a:avLst/>
          </a:prstGeom>
          <a:noFill/>
          <a:ln w="31750">
            <a:solidFill>
              <a:srgbClr val="1E3A8A"/>
            </a:solidFill>
            <a:prstDash val="solid"/>
          </a:ln>
        </p:spPr>
      </p:sp>
      <p:sp>
        <p:nvSpPr>
          <p:cNvPr id="16" name="Shape 14"/>
          <p:cNvSpPr/>
          <p:nvPr/>
        </p:nvSpPr>
        <p:spPr>
          <a:xfrm>
            <a:off x="7827264" y="1975104"/>
            <a:ext cx="256032" cy="256032"/>
          </a:xfrm>
          <a:prstGeom prst="ellipse">
            <a:avLst/>
          </a:prstGeom>
          <a:solidFill>
            <a:srgbClr val="1E3A8A"/>
          </a:solidFill>
          <a:ln w="19050">
            <a:solidFill>
              <a:srgbClr val="FFFFFF"/>
            </a:solidFill>
            <a:prstDash val="solid"/>
          </a:ln>
        </p:spPr>
      </p:sp>
      <p:sp>
        <p:nvSpPr>
          <p:cNvPr id="17" name="Shape 15"/>
          <p:cNvSpPr/>
          <p:nvPr/>
        </p:nvSpPr>
        <p:spPr>
          <a:xfrm>
            <a:off x="7827264" y="2889504"/>
            <a:ext cx="256032" cy="256032"/>
          </a:xfrm>
          <a:prstGeom prst="ellipse">
            <a:avLst/>
          </a:prstGeom>
          <a:solidFill>
            <a:srgbClr val="1E3A8A"/>
          </a:solidFill>
          <a:ln w="19050">
            <a:solidFill>
              <a:srgbClr val="FFFFFF"/>
            </a:solidFill>
            <a:prstDash val="solid"/>
          </a:ln>
        </p:spPr>
      </p:sp>
      <p:sp>
        <p:nvSpPr>
          <p:cNvPr id="18" name="Shape 16"/>
          <p:cNvSpPr/>
          <p:nvPr/>
        </p:nvSpPr>
        <p:spPr>
          <a:xfrm>
            <a:off x="7827264" y="4718304"/>
            <a:ext cx="256032" cy="256032"/>
          </a:xfrm>
          <a:prstGeom prst="ellipse">
            <a:avLst/>
          </a:prstGeom>
          <a:solidFill>
            <a:srgbClr val="1E3A8A"/>
          </a:solidFill>
          <a:ln w="19050">
            <a:solidFill>
              <a:srgbClr val="FFFFFF"/>
            </a:solidFill>
            <a:prstDash val="solid"/>
          </a:ln>
        </p:spPr>
      </p:sp>
      <p:sp>
        <p:nvSpPr>
          <p:cNvPr id="19" name="Text 17"/>
          <p:cNvSpPr/>
          <p:nvPr/>
        </p:nvSpPr>
        <p:spPr>
          <a:xfrm>
            <a:off x="6995160" y="3337560"/>
            <a:ext cx="822960" cy="274320"/>
          </a:xfrm>
          <a:prstGeom prst="rect">
            <a:avLst/>
          </a:prstGeom>
          <a:noFill/>
          <a:ln/>
        </p:spPr>
        <p:txBody>
          <a:bodyPr wrap="square" rtlCol="0" anchor="ctr"/>
          <a:lstStyle/>
          <a:p>
            <a:pPr algn="r" indent="0" marL="0">
              <a:buNone/>
            </a:pPr>
            <a:r>
              <a:rPr lang="en-US" sz="1150" b="1" dirty="0">
                <a:solidFill>
                  <a:srgbClr val="1E3A8A"/>
                </a:solidFill>
                <a:latin typeface="Calibri" pitchFamily="34" charset="0"/>
                <a:ea typeface="Calibri" pitchFamily="34" charset="-122"/>
                <a:cs typeface="Calibri" pitchFamily="34" charset="-120"/>
              </a:rPr>
              <a:t>main</a:t>
            </a:r>
            <a:endParaRPr lang="en-US" sz="1150" dirty="0"/>
          </a:p>
        </p:txBody>
      </p:sp>
      <p:sp>
        <p:nvSpPr>
          <p:cNvPr id="20" name="Shape 18"/>
          <p:cNvSpPr/>
          <p:nvPr/>
        </p:nvSpPr>
        <p:spPr>
          <a:xfrm>
            <a:off x="7955280" y="3017520"/>
            <a:ext cx="1371600" cy="822960"/>
          </a:xfrm>
          <a:prstGeom prst="line">
            <a:avLst/>
          </a:prstGeom>
          <a:noFill/>
          <a:ln w="31750">
            <a:solidFill>
              <a:srgbClr val="F05133"/>
            </a:solidFill>
            <a:prstDash val="solid"/>
          </a:ln>
        </p:spPr>
      </p:sp>
      <p:sp>
        <p:nvSpPr>
          <p:cNvPr id="21" name="Shape 19"/>
          <p:cNvSpPr/>
          <p:nvPr/>
        </p:nvSpPr>
        <p:spPr>
          <a:xfrm>
            <a:off x="9326880" y="3840480"/>
            <a:ext cx="914" cy="365760"/>
          </a:xfrm>
          <a:prstGeom prst="line">
            <a:avLst/>
          </a:prstGeom>
          <a:noFill/>
          <a:ln w="31750">
            <a:solidFill>
              <a:srgbClr val="F05133"/>
            </a:solidFill>
            <a:prstDash val="solid"/>
          </a:ln>
        </p:spPr>
      </p:sp>
      <p:sp>
        <p:nvSpPr>
          <p:cNvPr id="22" name="Shape 20"/>
          <p:cNvSpPr/>
          <p:nvPr/>
        </p:nvSpPr>
        <p:spPr>
          <a:xfrm>
            <a:off x="9198864" y="3712464"/>
            <a:ext cx="256032" cy="256032"/>
          </a:xfrm>
          <a:prstGeom prst="ellipse">
            <a:avLst/>
          </a:prstGeom>
          <a:solidFill>
            <a:srgbClr val="F05133"/>
          </a:solidFill>
          <a:ln w="19050">
            <a:solidFill>
              <a:srgbClr val="FFFFFF"/>
            </a:solidFill>
            <a:prstDash val="solid"/>
          </a:ln>
        </p:spPr>
      </p:sp>
      <p:sp>
        <p:nvSpPr>
          <p:cNvPr id="23" name="Shape 21"/>
          <p:cNvSpPr/>
          <p:nvPr/>
        </p:nvSpPr>
        <p:spPr>
          <a:xfrm>
            <a:off x="9198864" y="4078224"/>
            <a:ext cx="256032" cy="256032"/>
          </a:xfrm>
          <a:prstGeom prst="ellipse">
            <a:avLst/>
          </a:prstGeom>
          <a:solidFill>
            <a:srgbClr val="F05133"/>
          </a:solidFill>
          <a:ln w="19050">
            <a:solidFill>
              <a:srgbClr val="FFFFFF"/>
            </a:solidFill>
            <a:prstDash val="solid"/>
          </a:ln>
        </p:spPr>
      </p:sp>
      <p:sp>
        <p:nvSpPr>
          <p:cNvPr id="24" name="Text 22"/>
          <p:cNvSpPr/>
          <p:nvPr/>
        </p:nvSpPr>
        <p:spPr>
          <a:xfrm>
            <a:off x="9006840" y="4434840"/>
            <a:ext cx="1097280" cy="274320"/>
          </a:xfrm>
          <a:prstGeom prst="rect">
            <a:avLst/>
          </a:prstGeom>
          <a:noFill/>
          <a:ln/>
        </p:spPr>
        <p:txBody>
          <a:bodyPr wrap="square" rtlCol="0" anchor="ctr"/>
          <a:lstStyle/>
          <a:p>
            <a:pPr algn="ctr" indent="0" marL="0">
              <a:buNone/>
            </a:pPr>
            <a:r>
              <a:rPr lang="en-US" sz="1150" b="1" dirty="0">
                <a:solidFill>
                  <a:srgbClr val="F05133"/>
                </a:solidFill>
                <a:latin typeface="Calibri" pitchFamily="34" charset="0"/>
                <a:ea typeface="Calibri" pitchFamily="34" charset="-122"/>
                <a:cs typeface="Calibri" pitchFamily="34" charset="-120"/>
              </a:rPr>
              <a:t>feature</a:t>
            </a:r>
            <a:endParaRPr lang="en-US" sz="1150" dirty="0"/>
          </a:p>
        </p:txBody>
      </p:sp>
      <p:sp>
        <p:nvSpPr>
          <p:cNvPr id="25" name="Text 23"/>
          <p:cNvSpPr/>
          <p:nvPr/>
        </p:nvSpPr>
        <p:spPr>
          <a:xfrm>
            <a:off x="457200" y="6492240"/>
            <a:ext cx="4572000" cy="27432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Merge vs Rebase in Git</a:t>
            </a:r>
            <a:endParaRPr lang="en-US" sz="900" dirty="0"/>
          </a:p>
        </p:txBody>
      </p:sp>
      <p:sp>
        <p:nvSpPr>
          <p:cNvPr id="26" name="Text 24"/>
          <p:cNvSpPr/>
          <p:nvPr/>
        </p:nvSpPr>
        <p:spPr>
          <a:xfrm>
            <a:off x="11277295" y="6492240"/>
            <a:ext cx="457200" cy="274320"/>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6400800" cy="640080"/>
          </a:xfrm>
          <a:prstGeom prst="rect">
            <a:avLst/>
          </a:prstGeom>
          <a:noFill/>
          <a:ln/>
        </p:spPr>
        <p:txBody>
          <a:bodyPr wrap="square" rtlCol="0" anchor="ctr"/>
          <a:lstStyle/>
          <a:p>
            <a:pPr indent="0" marL="0">
              <a:buNone/>
            </a:pPr>
            <a:r>
              <a:rPr lang="en-US" sz="3000" b="1" dirty="0">
                <a:solidFill>
                  <a:srgbClr val="1E3A8A"/>
                </a:solidFill>
                <a:latin typeface="Calibri" pitchFamily="34" charset="0"/>
                <a:ea typeface="Calibri" pitchFamily="34" charset="-122"/>
                <a:cs typeface="Calibri" pitchFamily="34" charset="-120"/>
              </a:rPr>
              <a:t>Git Merge</a:t>
            </a:r>
            <a:endParaRPr lang="en-US" sz="3000" dirty="0"/>
          </a:p>
        </p:txBody>
      </p:sp>
      <p:sp>
        <p:nvSpPr>
          <p:cNvPr id="3" name="Shape 1"/>
          <p:cNvSpPr/>
          <p:nvPr/>
        </p:nvSpPr>
        <p:spPr>
          <a:xfrm>
            <a:off x="10058400" y="502920"/>
            <a:ext cx="1554480" cy="292608"/>
          </a:xfrm>
          <a:prstGeom prst="roundRect">
            <a:avLst>
              <a:gd name="adj" fmla="val 50000"/>
            </a:avLst>
          </a:prstGeom>
          <a:solidFill>
            <a:srgbClr val="1E3A8A"/>
          </a:solidFill>
          <a:ln/>
        </p:spPr>
      </p:sp>
      <p:sp>
        <p:nvSpPr>
          <p:cNvPr id="4" name="Text 2"/>
          <p:cNvSpPr/>
          <p:nvPr/>
        </p:nvSpPr>
        <p:spPr>
          <a:xfrm>
            <a:off x="10058400" y="502920"/>
            <a:ext cx="1554480" cy="292608"/>
          </a:xfrm>
          <a:prstGeom prst="rect">
            <a:avLst/>
          </a:prstGeom>
          <a:noFill/>
          <a:ln/>
        </p:spPr>
        <p:txBody>
          <a:bodyPr wrap="square"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COMBINE</a:t>
            </a:r>
            <a:endParaRPr lang="en-US" sz="1050" dirty="0"/>
          </a:p>
        </p:txBody>
      </p:sp>
      <p:sp>
        <p:nvSpPr>
          <p:cNvPr id="5" name="Text 3"/>
          <p:cNvSpPr/>
          <p:nvPr/>
        </p:nvSpPr>
        <p:spPr>
          <a:xfrm>
            <a:off x="594360" y="1417320"/>
            <a:ext cx="5577840" cy="640080"/>
          </a:xfrm>
          <a:prstGeom prst="rect">
            <a:avLst/>
          </a:prstGeom>
          <a:noFill/>
          <a:ln/>
        </p:spPr>
        <p:txBody>
          <a:bodyPr wrap="square" rtlCol="0" anchor="t"/>
          <a:lstStyle/>
          <a:p>
            <a:pPr indent="0" marL="0">
              <a:lnSpc>
                <a:spcPct val="115000"/>
              </a:lnSpc>
              <a:buNone/>
            </a:pPr>
            <a:r>
              <a:rPr lang="en-US" sz="1400" b="1" dirty="0">
                <a:solidFill>
                  <a:srgbClr val="1E3A8A"/>
                </a:solidFill>
                <a:latin typeface="Calibri" pitchFamily="34" charset="0"/>
                <a:ea typeface="Calibri" pitchFamily="34" charset="-122"/>
                <a:cs typeface="Calibri" pitchFamily="34" charset="-120"/>
              </a:rPr>
              <a:t>Definition  </a:t>
            </a:r>
            <a:pPr indent="0" marL="0">
              <a:lnSpc>
                <a:spcPct val="115000"/>
              </a:lnSpc>
              <a:buNone/>
            </a:pPr>
            <a:r>
              <a:rPr lang="en-US" sz="1400" dirty="0">
                <a:solidFill>
                  <a:srgbClr val="1F2937"/>
                </a:solidFill>
                <a:latin typeface="Calibri" pitchFamily="34" charset="0"/>
                <a:ea typeface="Calibri" pitchFamily="34" charset="-122"/>
                <a:cs typeface="Calibri" pitchFamily="34" charset="-120"/>
              </a:rPr>
              <a:t>Joins two branches by creating a new commit that ties both histories together.</a:t>
            </a:r>
            <a:endParaRPr lang="en-US" sz="1400" dirty="0"/>
          </a:p>
        </p:txBody>
      </p:sp>
      <p:sp>
        <p:nvSpPr>
          <p:cNvPr id="6" name="Text 4"/>
          <p:cNvSpPr/>
          <p:nvPr/>
        </p:nvSpPr>
        <p:spPr>
          <a:xfrm>
            <a:off x="594360" y="2148840"/>
            <a:ext cx="5577840" cy="640080"/>
          </a:xfrm>
          <a:prstGeom prst="rect">
            <a:avLst/>
          </a:prstGeom>
          <a:noFill/>
          <a:ln/>
        </p:spPr>
        <p:txBody>
          <a:bodyPr wrap="square" rtlCol="0" anchor="t"/>
          <a:lstStyle/>
          <a:p>
            <a:pPr indent="0" marL="0">
              <a:lnSpc>
                <a:spcPct val="115000"/>
              </a:lnSpc>
              <a:buNone/>
            </a:pPr>
            <a:r>
              <a:rPr lang="en-US" sz="1400" b="1" dirty="0">
                <a:solidFill>
                  <a:srgbClr val="1E3A8A"/>
                </a:solidFill>
                <a:latin typeface="Calibri" pitchFamily="34" charset="0"/>
                <a:ea typeface="Calibri" pitchFamily="34" charset="-122"/>
                <a:cs typeface="Calibri" pitchFamily="34" charset="-120"/>
              </a:rPr>
              <a:t>Purpose  </a:t>
            </a:r>
            <a:pPr indent="0" marL="0">
              <a:lnSpc>
                <a:spcPct val="115000"/>
              </a:lnSpc>
              <a:buNone/>
            </a:pPr>
            <a:r>
              <a:rPr lang="en-US" sz="1400" dirty="0">
                <a:solidFill>
                  <a:srgbClr val="1F2937"/>
                </a:solidFill>
                <a:latin typeface="Calibri" pitchFamily="34" charset="0"/>
                <a:ea typeface="Calibri" pitchFamily="34" charset="-122"/>
                <a:cs typeface="Calibri" pitchFamily="34" charset="-120"/>
              </a:rPr>
              <a:t>Preserves the complete, true history of when and how branches diverged and reunited.</a:t>
            </a:r>
            <a:endParaRPr lang="en-US" sz="1400" dirty="0"/>
          </a:p>
        </p:txBody>
      </p:sp>
      <p:sp>
        <p:nvSpPr>
          <p:cNvPr id="7" name="Shape 5"/>
          <p:cNvSpPr/>
          <p:nvPr/>
        </p:nvSpPr>
        <p:spPr>
          <a:xfrm>
            <a:off x="594360" y="3063240"/>
            <a:ext cx="5577840" cy="1051560"/>
          </a:xfrm>
          <a:prstGeom prst="roundRect">
            <a:avLst>
              <a:gd name="adj" fmla="val 6957"/>
            </a:avLst>
          </a:prstGeom>
          <a:solidFill>
            <a:srgbClr val="16295F"/>
          </a:solidFill>
          <a:ln/>
        </p:spPr>
      </p:sp>
      <p:sp>
        <p:nvSpPr>
          <p:cNvPr id="8" name="Shape 6"/>
          <p:cNvSpPr/>
          <p:nvPr/>
        </p:nvSpPr>
        <p:spPr>
          <a:xfrm>
            <a:off x="758952" y="3209544"/>
            <a:ext cx="100584" cy="100584"/>
          </a:xfrm>
          <a:prstGeom prst="ellipse">
            <a:avLst/>
          </a:prstGeom>
          <a:solidFill>
            <a:srgbClr val="FF6159"/>
          </a:solidFill>
          <a:ln/>
        </p:spPr>
      </p:sp>
      <p:sp>
        <p:nvSpPr>
          <p:cNvPr id="9" name="Shape 7"/>
          <p:cNvSpPr/>
          <p:nvPr/>
        </p:nvSpPr>
        <p:spPr>
          <a:xfrm>
            <a:off x="923544" y="3209544"/>
            <a:ext cx="100584" cy="100584"/>
          </a:xfrm>
          <a:prstGeom prst="ellipse">
            <a:avLst/>
          </a:prstGeom>
          <a:solidFill>
            <a:srgbClr val="FFC12F"/>
          </a:solidFill>
          <a:ln/>
        </p:spPr>
      </p:sp>
      <p:sp>
        <p:nvSpPr>
          <p:cNvPr id="10" name="Shape 8"/>
          <p:cNvSpPr/>
          <p:nvPr/>
        </p:nvSpPr>
        <p:spPr>
          <a:xfrm>
            <a:off x="1088136" y="3209544"/>
            <a:ext cx="100584" cy="100584"/>
          </a:xfrm>
          <a:prstGeom prst="ellipse">
            <a:avLst/>
          </a:prstGeom>
          <a:solidFill>
            <a:srgbClr val="28C93F"/>
          </a:solidFill>
          <a:ln/>
        </p:spPr>
      </p:sp>
      <p:sp>
        <p:nvSpPr>
          <p:cNvPr id="11" name="Text 9"/>
          <p:cNvSpPr/>
          <p:nvPr/>
        </p:nvSpPr>
        <p:spPr>
          <a:xfrm>
            <a:off x="822960" y="3474720"/>
            <a:ext cx="5120640" cy="502920"/>
          </a:xfrm>
          <a:prstGeom prst="rect">
            <a:avLst/>
          </a:prstGeom>
          <a:noFill/>
          <a:ln/>
        </p:spPr>
        <p:txBody>
          <a:bodyPr wrap="square" lIns="0" tIns="0" rIns="0" bIns="0" rtlCol="0" anchor="t"/>
          <a:lstStyle/>
          <a:p>
            <a:pPr indent="0" marL="0">
              <a:lnSpc>
                <a:spcPct val="125000"/>
              </a:lnSpc>
              <a:buNone/>
            </a:pPr>
            <a:r>
              <a:rPr lang="en-US" sz="1450" dirty="0">
                <a:solidFill>
                  <a:srgbClr val="9CDCFE"/>
                </a:solidFill>
                <a:latin typeface="Courier New" pitchFamily="34" charset="0"/>
                <a:ea typeface="Courier New" pitchFamily="34" charset="-122"/>
                <a:cs typeface="Courier New" pitchFamily="34" charset="-120"/>
              </a:rPr>
              <a:t>$ git checkout main</a:t>
            </a:r>
            <a:endParaRPr lang="en-US" sz="1450" dirty="0"/>
          </a:p>
          <a:p>
            <a:pPr indent="0" marL="0">
              <a:lnSpc>
                <a:spcPct val="125000"/>
              </a:lnSpc>
              <a:buNone/>
            </a:pPr>
            <a:r>
              <a:rPr lang="en-US" sz="1450" dirty="0">
                <a:solidFill>
                  <a:srgbClr val="9CDCFE"/>
                </a:solidFill>
                <a:latin typeface="Courier New" pitchFamily="34" charset="0"/>
                <a:ea typeface="Courier New" pitchFamily="34" charset="-122"/>
                <a:cs typeface="Courier New" pitchFamily="34" charset="-120"/>
              </a:rPr>
              <a:t>$ git merge feature-branch</a:t>
            </a:r>
            <a:endParaRPr lang="en-US" sz="1450" dirty="0"/>
          </a:p>
        </p:txBody>
      </p:sp>
      <p:sp>
        <p:nvSpPr>
          <p:cNvPr id="12" name="Shape 10"/>
          <p:cNvSpPr/>
          <p:nvPr/>
        </p:nvSpPr>
        <p:spPr>
          <a:xfrm>
            <a:off x="594360" y="4343400"/>
            <a:ext cx="5577840" cy="1737360"/>
          </a:xfrm>
          <a:prstGeom prst="roundRect">
            <a:avLst>
              <a:gd name="adj" fmla="val 4211"/>
            </a:avLst>
          </a:prstGeom>
          <a:solidFill>
            <a:srgbClr val="EAF2FF"/>
          </a:solidFill>
          <a:ln/>
        </p:spPr>
      </p:sp>
      <p:sp>
        <p:nvSpPr>
          <p:cNvPr id="13" name="Text 11"/>
          <p:cNvSpPr/>
          <p:nvPr/>
        </p:nvSpPr>
        <p:spPr>
          <a:xfrm>
            <a:off x="822960" y="4480560"/>
            <a:ext cx="5120640" cy="1463040"/>
          </a:xfrm>
          <a:prstGeom prst="rect">
            <a:avLst/>
          </a:prstGeom>
          <a:noFill/>
          <a:ln/>
        </p:spPr>
        <p:txBody>
          <a:bodyPr wrap="square" rtlCol="0" anchor="t"/>
          <a:lstStyle/>
          <a:p>
            <a:pPr indent="0" marL="0">
              <a:lnSpc>
                <a:spcPct val="120000"/>
              </a:lnSpc>
              <a:buNone/>
            </a:pPr>
            <a:r>
              <a:rPr lang="en-US" sz="1350" b="1" dirty="0">
                <a:solidFill>
                  <a:srgbClr val="1E3A8A"/>
                </a:solidFill>
                <a:latin typeface="Calibri" pitchFamily="34" charset="0"/>
                <a:ea typeface="Calibri" pitchFamily="34" charset="-122"/>
                <a:cs typeface="Calibri" pitchFamily="34" charset="-120"/>
              </a:rPr>
              <a:t>Result: </a:t>
            </a:r>
            <a:pPr indent="0" marL="0">
              <a:lnSpc>
                <a:spcPct val="120000"/>
              </a:lnSpc>
              <a:buNone/>
            </a:pPr>
            <a:r>
              <a:rPr lang="en-US" sz="1350" dirty="0">
                <a:solidFill>
                  <a:srgbClr val="1F2937"/>
                </a:solidFill>
                <a:latin typeface="Calibri" pitchFamily="34" charset="0"/>
                <a:ea typeface="Calibri" pitchFamily="34" charset="-122"/>
                <a:cs typeface="Calibri" pitchFamily="34" charset="-120"/>
              </a:rPr>
              <a:t>a new </a:t>
            </a:r>
            <a:pPr indent="0" marL="0">
              <a:lnSpc>
                <a:spcPct val="120000"/>
              </a:lnSpc>
              <a:buNone/>
            </a:pPr>
            <a:r>
              <a:rPr lang="en-US" sz="1350" b="1" dirty="0">
                <a:solidFill>
                  <a:srgbClr val="F05133"/>
                </a:solidFill>
                <a:latin typeface="Calibri" pitchFamily="34" charset="0"/>
                <a:ea typeface="Calibri" pitchFamily="34" charset="-122"/>
                <a:cs typeface="Calibri" pitchFamily="34" charset="-120"/>
              </a:rPr>
              <a:t>merge commit</a:t>
            </a:r>
            <a:pPr indent="0" marL="0">
              <a:lnSpc>
                <a:spcPct val="120000"/>
              </a:lnSpc>
              <a:buNone/>
            </a:pPr>
            <a:r>
              <a:rPr lang="en-US" sz="1350" dirty="0">
                <a:solidFill>
                  <a:srgbClr val="1F2937"/>
                </a:solidFill>
                <a:latin typeface="Calibri" pitchFamily="34" charset="0"/>
                <a:ea typeface="Calibri" pitchFamily="34" charset="-122"/>
                <a:cs typeface="Calibri" pitchFamily="34" charset="-120"/>
              </a:rPr>
              <a:t> with two parents — both branch histories stay intact and visible.</a:t>
            </a:r>
            <a:endParaRPr lang="en-US" sz="1350" dirty="0"/>
          </a:p>
        </p:txBody>
      </p:sp>
      <p:sp>
        <p:nvSpPr>
          <p:cNvPr id="14" name="Shape 12"/>
          <p:cNvSpPr/>
          <p:nvPr/>
        </p:nvSpPr>
        <p:spPr>
          <a:xfrm>
            <a:off x="7040880" y="1188720"/>
            <a:ext cx="4480560" cy="4846320"/>
          </a:xfrm>
          <a:prstGeom prst="roundRect">
            <a:avLst>
              <a:gd name="adj" fmla="val 2041"/>
            </a:avLst>
          </a:prstGeom>
          <a:solidFill>
            <a:srgbClr val="F7FAFF"/>
          </a:solidFill>
          <a:ln w="12700">
            <a:solidFill>
              <a:srgbClr val="CADCFC"/>
            </a:solidFill>
            <a:prstDash val="solid"/>
          </a:ln>
        </p:spPr>
      </p:sp>
      <p:sp>
        <p:nvSpPr>
          <p:cNvPr id="15" name="Text 13"/>
          <p:cNvSpPr/>
          <p:nvPr/>
        </p:nvSpPr>
        <p:spPr>
          <a:xfrm>
            <a:off x="7269480" y="1325880"/>
            <a:ext cx="4023360" cy="320040"/>
          </a:xfrm>
          <a:prstGeom prst="rect">
            <a:avLst/>
          </a:prstGeom>
          <a:noFill/>
          <a:ln/>
        </p:spPr>
        <p:txBody>
          <a:bodyPr wrap="square" rtlCol="0" anchor="ctr"/>
          <a:lstStyle/>
          <a:p>
            <a:pPr indent="0" marL="0">
              <a:buNone/>
            </a:pPr>
            <a:r>
              <a:rPr lang="en-US" sz="1300" b="1" dirty="0">
                <a:solidFill>
                  <a:srgbClr val="1E3A8A"/>
                </a:solidFill>
                <a:latin typeface="Calibri" pitchFamily="34" charset="0"/>
                <a:ea typeface="Calibri" pitchFamily="34" charset="-122"/>
                <a:cs typeface="Calibri" pitchFamily="34" charset="-120"/>
              </a:rPr>
              <a:t>Merge Commit Graph</a:t>
            </a:r>
            <a:endParaRPr lang="en-US" sz="1300" dirty="0"/>
          </a:p>
        </p:txBody>
      </p:sp>
      <p:sp>
        <p:nvSpPr>
          <p:cNvPr id="16" name="Shape 14"/>
          <p:cNvSpPr/>
          <p:nvPr/>
        </p:nvSpPr>
        <p:spPr>
          <a:xfrm>
            <a:off x="8138160" y="2011680"/>
            <a:ext cx="914" cy="3291840"/>
          </a:xfrm>
          <a:prstGeom prst="line">
            <a:avLst/>
          </a:prstGeom>
          <a:noFill/>
          <a:ln w="31750">
            <a:solidFill>
              <a:srgbClr val="1E3A8A"/>
            </a:solidFill>
            <a:prstDash val="solid"/>
          </a:ln>
        </p:spPr>
      </p:sp>
      <p:sp>
        <p:nvSpPr>
          <p:cNvPr id="17" name="Shape 15"/>
          <p:cNvSpPr/>
          <p:nvPr/>
        </p:nvSpPr>
        <p:spPr>
          <a:xfrm>
            <a:off x="8010144" y="1883664"/>
            <a:ext cx="256032" cy="256032"/>
          </a:xfrm>
          <a:prstGeom prst="ellipse">
            <a:avLst/>
          </a:prstGeom>
          <a:solidFill>
            <a:srgbClr val="1E3A8A"/>
          </a:solidFill>
          <a:ln w="19050">
            <a:solidFill>
              <a:srgbClr val="FFFFFF"/>
            </a:solidFill>
            <a:prstDash val="solid"/>
          </a:ln>
        </p:spPr>
      </p:sp>
      <p:sp>
        <p:nvSpPr>
          <p:cNvPr id="18" name="Text 16"/>
          <p:cNvSpPr/>
          <p:nvPr/>
        </p:nvSpPr>
        <p:spPr>
          <a:xfrm>
            <a:off x="7680960" y="2157984"/>
            <a:ext cx="914400" cy="274320"/>
          </a:xfrm>
          <a:prstGeom prst="rect">
            <a:avLst/>
          </a:prstGeom>
          <a:noFill/>
          <a:ln/>
        </p:spPr>
        <p:txBody>
          <a:bodyPr wrap="square" rtlCol="0" anchor="ctr"/>
          <a:lstStyle/>
          <a:p>
            <a:pPr algn="ctr" indent="0" marL="0">
              <a:buNone/>
            </a:pPr>
            <a:r>
              <a:rPr lang="en-US" sz="1000" dirty="0">
                <a:solidFill>
                  <a:srgbClr val="6B7280"/>
                </a:solidFill>
                <a:latin typeface="Courier New" pitchFamily="34" charset="0"/>
                <a:ea typeface="Courier New" pitchFamily="34" charset="-122"/>
                <a:cs typeface="Courier New" pitchFamily="34" charset="-120"/>
              </a:rPr>
              <a:t>A</a:t>
            </a:r>
            <a:endParaRPr lang="en-US" sz="1000" dirty="0"/>
          </a:p>
        </p:txBody>
      </p:sp>
      <p:sp>
        <p:nvSpPr>
          <p:cNvPr id="19" name="Shape 17"/>
          <p:cNvSpPr/>
          <p:nvPr/>
        </p:nvSpPr>
        <p:spPr>
          <a:xfrm>
            <a:off x="8010144" y="2798064"/>
            <a:ext cx="256032" cy="256032"/>
          </a:xfrm>
          <a:prstGeom prst="ellipse">
            <a:avLst/>
          </a:prstGeom>
          <a:solidFill>
            <a:srgbClr val="1E3A8A"/>
          </a:solidFill>
          <a:ln w="19050">
            <a:solidFill>
              <a:srgbClr val="FFFFFF"/>
            </a:solidFill>
            <a:prstDash val="solid"/>
          </a:ln>
        </p:spPr>
      </p:sp>
      <p:sp>
        <p:nvSpPr>
          <p:cNvPr id="20" name="Text 18"/>
          <p:cNvSpPr/>
          <p:nvPr/>
        </p:nvSpPr>
        <p:spPr>
          <a:xfrm>
            <a:off x="7680960" y="3072384"/>
            <a:ext cx="914400" cy="274320"/>
          </a:xfrm>
          <a:prstGeom prst="rect">
            <a:avLst/>
          </a:prstGeom>
          <a:noFill/>
          <a:ln/>
        </p:spPr>
        <p:txBody>
          <a:bodyPr wrap="square" rtlCol="0" anchor="ctr"/>
          <a:lstStyle/>
          <a:p>
            <a:pPr algn="ctr" indent="0" marL="0">
              <a:buNone/>
            </a:pPr>
            <a:r>
              <a:rPr lang="en-US" sz="1000" dirty="0">
                <a:solidFill>
                  <a:srgbClr val="6B7280"/>
                </a:solidFill>
                <a:latin typeface="Courier New" pitchFamily="34" charset="0"/>
                <a:ea typeface="Courier New" pitchFamily="34" charset="-122"/>
                <a:cs typeface="Courier New" pitchFamily="34" charset="-120"/>
              </a:rPr>
              <a:t>B</a:t>
            </a:r>
            <a:endParaRPr lang="en-US" sz="1000" dirty="0"/>
          </a:p>
        </p:txBody>
      </p:sp>
      <p:sp>
        <p:nvSpPr>
          <p:cNvPr id="21" name="Shape 19"/>
          <p:cNvSpPr/>
          <p:nvPr/>
        </p:nvSpPr>
        <p:spPr>
          <a:xfrm>
            <a:off x="8138160" y="2926080"/>
            <a:ext cx="1554480" cy="914400"/>
          </a:xfrm>
          <a:prstGeom prst="line">
            <a:avLst/>
          </a:prstGeom>
          <a:noFill/>
          <a:ln w="31750">
            <a:solidFill>
              <a:srgbClr val="F05133"/>
            </a:solidFill>
            <a:prstDash val="solid"/>
          </a:ln>
        </p:spPr>
      </p:sp>
      <p:sp>
        <p:nvSpPr>
          <p:cNvPr id="22" name="Shape 20"/>
          <p:cNvSpPr/>
          <p:nvPr/>
        </p:nvSpPr>
        <p:spPr>
          <a:xfrm>
            <a:off x="9564624" y="3712464"/>
            <a:ext cx="256032" cy="256032"/>
          </a:xfrm>
          <a:prstGeom prst="ellipse">
            <a:avLst/>
          </a:prstGeom>
          <a:solidFill>
            <a:srgbClr val="F05133"/>
          </a:solidFill>
          <a:ln w="19050">
            <a:solidFill>
              <a:srgbClr val="FFFFFF"/>
            </a:solidFill>
            <a:prstDash val="solid"/>
          </a:ln>
        </p:spPr>
      </p:sp>
      <p:sp>
        <p:nvSpPr>
          <p:cNvPr id="23" name="Text 21"/>
          <p:cNvSpPr/>
          <p:nvPr/>
        </p:nvSpPr>
        <p:spPr>
          <a:xfrm>
            <a:off x="9235440" y="3986784"/>
            <a:ext cx="914400" cy="274320"/>
          </a:xfrm>
          <a:prstGeom prst="rect">
            <a:avLst/>
          </a:prstGeom>
          <a:noFill/>
          <a:ln/>
        </p:spPr>
        <p:txBody>
          <a:bodyPr wrap="square" rtlCol="0" anchor="ctr"/>
          <a:lstStyle/>
          <a:p>
            <a:pPr algn="ctr" indent="0" marL="0">
              <a:buNone/>
            </a:pPr>
            <a:r>
              <a:rPr lang="en-US" sz="1000" dirty="0">
                <a:solidFill>
                  <a:srgbClr val="6B7280"/>
                </a:solidFill>
                <a:latin typeface="Courier New" pitchFamily="34" charset="0"/>
                <a:ea typeface="Courier New" pitchFamily="34" charset="-122"/>
                <a:cs typeface="Courier New" pitchFamily="34" charset="-120"/>
              </a:rPr>
              <a:t>D</a:t>
            </a:r>
            <a:endParaRPr lang="en-US" sz="1000" dirty="0"/>
          </a:p>
        </p:txBody>
      </p:sp>
      <p:sp>
        <p:nvSpPr>
          <p:cNvPr id="24" name="Shape 22"/>
          <p:cNvSpPr/>
          <p:nvPr/>
        </p:nvSpPr>
        <p:spPr>
          <a:xfrm>
            <a:off x="9692640" y="3840480"/>
            <a:ext cx="914" cy="640080"/>
          </a:xfrm>
          <a:prstGeom prst="line">
            <a:avLst/>
          </a:prstGeom>
          <a:noFill/>
          <a:ln w="31750">
            <a:solidFill>
              <a:srgbClr val="F05133"/>
            </a:solidFill>
            <a:prstDash val="solid"/>
          </a:ln>
        </p:spPr>
      </p:sp>
      <p:sp>
        <p:nvSpPr>
          <p:cNvPr id="25" name="Shape 23"/>
          <p:cNvSpPr/>
          <p:nvPr/>
        </p:nvSpPr>
        <p:spPr>
          <a:xfrm>
            <a:off x="9564624" y="4352544"/>
            <a:ext cx="256032" cy="256032"/>
          </a:xfrm>
          <a:prstGeom prst="ellipse">
            <a:avLst/>
          </a:prstGeom>
          <a:solidFill>
            <a:srgbClr val="F05133"/>
          </a:solidFill>
          <a:ln w="19050">
            <a:solidFill>
              <a:srgbClr val="FFFFFF"/>
            </a:solidFill>
            <a:prstDash val="solid"/>
          </a:ln>
        </p:spPr>
      </p:sp>
      <p:sp>
        <p:nvSpPr>
          <p:cNvPr id="26" name="Text 24"/>
          <p:cNvSpPr/>
          <p:nvPr/>
        </p:nvSpPr>
        <p:spPr>
          <a:xfrm>
            <a:off x="9235440" y="4626864"/>
            <a:ext cx="914400" cy="274320"/>
          </a:xfrm>
          <a:prstGeom prst="rect">
            <a:avLst/>
          </a:prstGeom>
          <a:noFill/>
          <a:ln/>
        </p:spPr>
        <p:txBody>
          <a:bodyPr wrap="square" rtlCol="0" anchor="ctr"/>
          <a:lstStyle/>
          <a:p>
            <a:pPr algn="ctr" indent="0" marL="0">
              <a:buNone/>
            </a:pPr>
            <a:r>
              <a:rPr lang="en-US" sz="1000" dirty="0">
                <a:solidFill>
                  <a:srgbClr val="6B7280"/>
                </a:solidFill>
                <a:latin typeface="Courier New" pitchFamily="34" charset="0"/>
                <a:ea typeface="Courier New" pitchFamily="34" charset="-122"/>
                <a:cs typeface="Courier New" pitchFamily="34" charset="-120"/>
              </a:rPr>
              <a:t>E</a:t>
            </a:r>
            <a:endParaRPr lang="en-US" sz="1000" dirty="0"/>
          </a:p>
        </p:txBody>
      </p:sp>
      <p:sp>
        <p:nvSpPr>
          <p:cNvPr id="27" name="Shape 25"/>
          <p:cNvSpPr/>
          <p:nvPr/>
        </p:nvSpPr>
        <p:spPr>
          <a:xfrm>
            <a:off x="8138160" y="3840480"/>
            <a:ext cx="914" cy="1371600"/>
          </a:xfrm>
          <a:prstGeom prst="line">
            <a:avLst/>
          </a:prstGeom>
          <a:noFill/>
          <a:ln w="31750">
            <a:solidFill>
              <a:srgbClr val="1E3A8A"/>
            </a:solidFill>
            <a:prstDash val="solid"/>
          </a:ln>
        </p:spPr>
      </p:sp>
      <p:sp>
        <p:nvSpPr>
          <p:cNvPr id="28" name="Shape 26"/>
          <p:cNvSpPr/>
          <p:nvPr/>
        </p:nvSpPr>
        <p:spPr>
          <a:xfrm flipV="1">
            <a:off x="9692640" y="4480560"/>
            <a:ext cx="1554480" cy="822960"/>
          </a:xfrm>
          <a:prstGeom prst="line">
            <a:avLst/>
          </a:prstGeom>
          <a:noFill/>
          <a:ln w="31750">
            <a:solidFill>
              <a:srgbClr val="F05133"/>
            </a:solidFill>
            <a:prstDash val="solid"/>
          </a:ln>
        </p:spPr>
      </p:sp>
      <p:sp>
        <p:nvSpPr>
          <p:cNvPr id="29" name="Shape 27"/>
          <p:cNvSpPr/>
          <p:nvPr/>
        </p:nvSpPr>
        <p:spPr>
          <a:xfrm>
            <a:off x="8010144" y="5175504"/>
            <a:ext cx="256032" cy="256032"/>
          </a:xfrm>
          <a:prstGeom prst="ellipse">
            <a:avLst/>
          </a:prstGeom>
          <a:solidFill>
            <a:srgbClr val="1E3A8A"/>
          </a:solidFill>
          <a:ln w="19050">
            <a:solidFill>
              <a:srgbClr val="FFFFFF"/>
            </a:solidFill>
            <a:prstDash val="solid"/>
          </a:ln>
        </p:spPr>
      </p:sp>
      <p:sp>
        <p:nvSpPr>
          <p:cNvPr id="30" name="Text 28"/>
          <p:cNvSpPr/>
          <p:nvPr/>
        </p:nvSpPr>
        <p:spPr>
          <a:xfrm>
            <a:off x="7680960" y="5449824"/>
            <a:ext cx="914400" cy="274320"/>
          </a:xfrm>
          <a:prstGeom prst="rect">
            <a:avLst/>
          </a:prstGeom>
          <a:noFill/>
          <a:ln/>
        </p:spPr>
        <p:txBody>
          <a:bodyPr wrap="square" rtlCol="0" anchor="ctr"/>
          <a:lstStyle/>
          <a:p>
            <a:pPr algn="ctr" indent="0" marL="0">
              <a:buNone/>
            </a:pPr>
            <a:r>
              <a:rPr lang="en-US" sz="1000" dirty="0">
                <a:solidFill>
                  <a:srgbClr val="F05133"/>
                </a:solidFill>
                <a:latin typeface="Courier New" pitchFamily="34" charset="0"/>
                <a:ea typeface="Courier New" pitchFamily="34" charset="-122"/>
                <a:cs typeface="Courier New" pitchFamily="34" charset="-120"/>
              </a:rPr>
              <a:t>F (merge)</a:t>
            </a:r>
            <a:endParaRPr lang="en-US" sz="1000" dirty="0"/>
          </a:p>
        </p:txBody>
      </p:sp>
      <p:sp>
        <p:nvSpPr>
          <p:cNvPr id="31" name="Text 29"/>
          <p:cNvSpPr/>
          <p:nvPr/>
        </p:nvSpPr>
        <p:spPr>
          <a:xfrm>
            <a:off x="7086600" y="3246120"/>
            <a:ext cx="914400" cy="274320"/>
          </a:xfrm>
          <a:prstGeom prst="rect">
            <a:avLst/>
          </a:prstGeom>
          <a:noFill/>
          <a:ln/>
        </p:spPr>
        <p:txBody>
          <a:bodyPr wrap="square" rtlCol="0" anchor="ctr"/>
          <a:lstStyle/>
          <a:p>
            <a:pPr algn="r" indent="0" marL="0">
              <a:buNone/>
            </a:pPr>
            <a:r>
              <a:rPr lang="en-US" sz="1100" b="1" dirty="0">
                <a:solidFill>
                  <a:srgbClr val="1E3A8A"/>
                </a:solidFill>
                <a:latin typeface="Calibri" pitchFamily="34" charset="0"/>
                <a:ea typeface="Calibri" pitchFamily="34" charset="-122"/>
                <a:cs typeface="Calibri" pitchFamily="34" charset="-120"/>
              </a:rPr>
              <a:t>main</a:t>
            </a:r>
            <a:endParaRPr lang="en-US" sz="1100" dirty="0"/>
          </a:p>
        </p:txBody>
      </p:sp>
      <p:sp>
        <p:nvSpPr>
          <p:cNvPr id="32" name="Text 30"/>
          <p:cNvSpPr/>
          <p:nvPr/>
        </p:nvSpPr>
        <p:spPr>
          <a:xfrm>
            <a:off x="9372600" y="4160520"/>
            <a:ext cx="1005840" cy="274320"/>
          </a:xfrm>
          <a:prstGeom prst="rect">
            <a:avLst/>
          </a:prstGeom>
          <a:noFill/>
          <a:ln/>
        </p:spPr>
        <p:txBody>
          <a:bodyPr wrap="square" rtlCol="0" anchor="ctr"/>
          <a:lstStyle/>
          <a:p>
            <a:pPr algn="ctr" indent="0" marL="0">
              <a:buNone/>
            </a:pPr>
            <a:r>
              <a:rPr lang="en-US" sz="1100" b="1" dirty="0">
                <a:solidFill>
                  <a:srgbClr val="F05133"/>
                </a:solidFill>
                <a:latin typeface="Calibri" pitchFamily="34" charset="0"/>
                <a:ea typeface="Calibri" pitchFamily="34" charset="-122"/>
                <a:cs typeface="Calibri" pitchFamily="34" charset="-120"/>
              </a:rPr>
              <a:t>feature</a:t>
            </a:r>
            <a:endParaRPr lang="en-US" sz="1100" dirty="0"/>
          </a:p>
        </p:txBody>
      </p:sp>
      <p:sp>
        <p:nvSpPr>
          <p:cNvPr id="33" name="Text 31"/>
          <p:cNvSpPr/>
          <p:nvPr/>
        </p:nvSpPr>
        <p:spPr>
          <a:xfrm>
            <a:off x="457200" y="6492240"/>
            <a:ext cx="4572000" cy="27432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Merge vs Rebase in Git</a:t>
            </a:r>
            <a:endParaRPr lang="en-US" sz="900" dirty="0"/>
          </a:p>
        </p:txBody>
      </p:sp>
      <p:sp>
        <p:nvSpPr>
          <p:cNvPr id="34" name="Text 32"/>
          <p:cNvSpPr/>
          <p:nvPr/>
        </p:nvSpPr>
        <p:spPr>
          <a:xfrm>
            <a:off x="11277295" y="6492240"/>
            <a:ext cx="457200" cy="274320"/>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6400800" cy="640080"/>
          </a:xfrm>
          <a:prstGeom prst="rect">
            <a:avLst/>
          </a:prstGeom>
          <a:noFill/>
          <a:ln/>
        </p:spPr>
        <p:txBody>
          <a:bodyPr wrap="square" rtlCol="0" anchor="ctr"/>
          <a:lstStyle/>
          <a:p>
            <a:pPr indent="0" marL="0">
              <a:buNone/>
            </a:pPr>
            <a:r>
              <a:rPr lang="en-US" sz="3000" b="1" dirty="0">
                <a:solidFill>
                  <a:srgbClr val="1E3A8A"/>
                </a:solidFill>
                <a:latin typeface="Calibri" pitchFamily="34" charset="0"/>
                <a:ea typeface="Calibri" pitchFamily="34" charset="-122"/>
                <a:cs typeface="Calibri" pitchFamily="34" charset="-120"/>
              </a:rPr>
              <a:t>Git Rebase</a:t>
            </a:r>
            <a:endParaRPr lang="en-US" sz="3000" dirty="0"/>
          </a:p>
        </p:txBody>
      </p:sp>
      <p:sp>
        <p:nvSpPr>
          <p:cNvPr id="3" name="Shape 1"/>
          <p:cNvSpPr/>
          <p:nvPr/>
        </p:nvSpPr>
        <p:spPr>
          <a:xfrm>
            <a:off x="10058400" y="502920"/>
            <a:ext cx="1554480" cy="292608"/>
          </a:xfrm>
          <a:prstGeom prst="roundRect">
            <a:avLst>
              <a:gd name="adj" fmla="val 50000"/>
            </a:avLst>
          </a:prstGeom>
          <a:solidFill>
            <a:srgbClr val="F05133"/>
          </a:solidFill>
          <a:ln/>
        </p:spPr>
      </p:sp>
      <p:sp>
        <p:nvSpPr>
          <p:cNvPr id="4" name="Text 2"/>
          <p:cNvSpPr/>
          <p:nvPr/>
        </p:nvSpPr>
        <p:spPr>
          <a:xfrm>
            <a:off x="10058400" y="502920"/>
            <a:ext cx="1554480" cy="292608"/>
          </a:xfrm>
          <a:prstGeom prst="rect">
            <a:avLst/>
          </a:prstGeom>
          <a:noFill/>
          <a:ln/>
        </p:spPr>
        <p:txBody>
          <a:bodyPr wrap="square"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REPLAY</a:t>
            </a:r>
            <a:endParaRPr lang="en-US" sz="1050" dirty="0"/>
          </a:p>
        </p:txBody>
      </p:sp>
      <p:sp>
        <p:nvSpPr>
          <p:cNvPr id="5" name="Text 3"/>
          <p:cNvSpPr/>
          <p:nvPr/>
        </p:nvSpPr>
        <p:spPr>
          <a:xfrm>
            <a:off x="594360" y="1417320"/>
            <a:ext cx="5577840" cy="640080"/>
          </a:xfrm>
          <a:prstGeom prst="rect">
            <a:avLst/>
          </a:prstGeom>
          <a:noFill/>
          <a:ln/>
        </p:spPr>
        <p:txBody>
          <a:bodyPr wrap="square" rtlCol="0" anchor="t"/>
          <a:lstStyle/>
          <a:p>
            <a:pPr indent="0" marL="0">
              <a:lnSpc>
                <a:spcPct val="115000"/>
              </a:lnSpc>
              <a:buNone/>
            </a:pPr>
            <a:r>
              <a:rPr lang="en-US" sz="1400" b="1" dirty="0">
                <a:solidFill>
                  <a:srgbClr val="1E3A8A"/>
                </a:solidFill>
                <a:latin typeface="Calibri" pitchFamily="34" charset="0"/>
                <a:ea typeface="Calibri" pitchFamily="34" charset="-122"/>
                <a:cs typeface="Calibri" pitchFamily="34" charset="-120"/>
              </a:rPr>
              <a:t>Definition  </a:t>
            </a:r>
            <a:pPr indent="0" marL="0">
              <a:lnSpc>
                <a:spcPct val="115000"/>
              </a:lnSpc>
              <a:buNone/>
            </a:pPr>
            <a:r>
              <a:rPr lang="en-US" sz="1400" dirty="0">
                <a:solidFill>
                  <a:srgbClr val="1F2937"/>
                </a:solidFill>
                <a:latin typeface="Calibri" pitchFamily="34" charset="0"/>
                <a:ea typeface="Calibri" pitchFamily="34" charset="-122"/>
                <a:cs typeface="Calibri" pitchFamily="34" charset="-120"/>
              </a:rPr>
              <a:t>Moves a branch's commits to begin from the tip of another branch, rewriting their history.</a:t>
            </a:r>
            <a:endParaRPr lang="en-US" sz="1400" dirty="0"/>
          </a:p>
        </p:txBody>
      </p:sp>
      <p:sp>
        <p:nvSpPr>
          <p:cNvPr id="6" name="Text 4"/>
          <p:cNvSpPr/>
          <p:nvPr/>
        </p:nvSpPr>
        <p:spPr>
          <a:xfrm>
            <a:off x="594360" y="2148840"/>
            <a:ext cx="5577840" cy="640080"/>
          </a:xfrm>
          <a:prstGeom prst="rect">
            <a:avLst/>
          </a:prstGeom>
          <a:noFill/>
          <a:ln/>
        </p:spPr>
        <p:txBody>
          <a:bodyPr wrap="square" rtlCol="0" anchor="t"/>
          <a:lstStyle/>
          <a:p>
            <a:pPr indent="0" marL="0">
              <a:lnSpc>
                <a:spcPct val="115000"/>
              </a:lnSpc>
              <a:buNone/>
            </a:pPr>
            <a:r>
              <a:rPr lang="en-US" sz="1400" b="1" dirty="0">
                <a:solidFill>
                  <a:srgbClr val="1E3A8A"/>
                </a:solidFill>
                <a:latin typeface="Calibri" pitchFamily="34" charset="0"/>
                <a:ea typeface="Calibri" pitchFamily="34" charset="-122"/>
                <a:cs typeface="Calibri" pitchFamily="34" charset="-120"/>
              </a:rPr>
              <a:t>Purpose  </a:t>
            </a:r>
            <a:pPr indent="0" marL="0">
              <a:lnSpc>
                <a:spcPct val="115000"/>
              </a:lnSpc>
              <a:buNone/>
            </a:pPr>
            <a:r>
              <a:rPr lang="en-US" sz="1400" dirty="0">
                <a:solidFill>
                  <a:srgbClr val="1F2937"/>
                </a:solidFill>
                <a:latin typeface="Calibri" pitchFamily="34" charset="0"/>
                <a:ea typeface="Calibri" pitchFamily="34" charset="-122"/>
                <a:cs typeface="Calibri" pitchFamily="34" charset="-120"/>
              </a:rPr>
              <a:t>Produces a clean, linear commit history that reads as one straight sequence of changes.</a:t>
            </a:r>
            <a:endParaRPr lang="en-US" sz="1400" dirty="0"/>
          </a:p>
        </p:txBody>
      </p:sp>
      <p:sp>
        <p:nvSpPr>
          <p:cNvPr id="7" name="Shape 5"/>
          <p:cNvSpPr/>
          <p:nvPr/>
        </p:nvSpPr>
        <p:spPr>
          <a:xfrm>
            <a:off x="594360" y="3063240"/>
            <a:ext cx="5577840" cy="1051560"/>
          </a:xfrm>
          <a:prstGeom prst="roundRect">
            <a:avLst>
              <a:gd name="adj" fmla="val 6957"/>
            </a:avLst>
          </a:prstGeom>
          <a:solidFill>
            <a:srgbClr val="16295F"/>
          </a:solidFill>
          <a:ln/>
        </p:spPr>
      </p:sp>
      <p:sp>
        <p:nvSpPr>
          <p:cNvPr id="8" name="Shape 6"/>
          <p:cNvSpPr/>
          <p:nvPr/>
        </p:nvSpPr>
        <p:spPr>
          <a:xfrm>
            <a:off x="758952" y="3209544"/>
            <a:ext cx="100584" cy="100584"/>
          </a:xfrm>
          <a:prstGeom prst="ellipse">
            <a:avLst/>
          </a:prstGeom>
          <a:solidFill>
            <a:srgbClr val="FF6159"/>
          </a:solidFill>
          <a:ln/>
        </p:spPr>
      </p:sp>
      <p:sp>
        <p:nvSpPr>
          <p:cNvPr id="9" name="Shape 7"/>
          <p:cNvSpPr/>
          <p:nvPr/>
        </p:nvSpPr>
        <p:spPr>
          <a:xfrm>
            <a:off x="923544" y="3209544"/>
            <a:ext cx="100584" cy="100584"/>
          </a:xfrm>
          <a:prstGeom prst="ellipse">
            <a:avLst/>
          </a:prstGeom>
          <a:solidFill>
            <a:srgbClr val="FFC12F"/>
          </a:solidFill>
          <a:ln/>
        </p:spPr>
      </p:sp>
      <p:sp>
        <p:nvSpPr>
          <p:cNvPr id="10" name="Shape 8"/>
          <p:cNvSpPr/>
          <p:nvPr/>
        </p:nvSpPr>
        <p:spPr>
          <a:xfrm>
            <a:off x="1088136" y="3209544"/>
            <a:ext cx="100584" cy="100584"/>
          </a:xfrm>
          <a:prstGeom prst="ellipse">
            <a:avLst/>
          </a:prstGeom>
          <a:solidFill>
            <a:srgbClr val="28C93F"/>
          </a:solidFill>
          <a:ln/>
        </p:spPr>
      </p:sp>
      <p:sp>
        <p:nvSpPr>
          <p:cNvPr id="11" name="Text 9"/>
          <p:cNvSpPr/>
          <p:nvPr/>
        </p:nvSpPr>
        <p:spPr>
          <a:xfrm>
            <a:off x="822960" y="3474720"/>
            <a:ext cx="5120640" cy="502920"/>
          </a:xfrm>
          <a:prstGeom prst="rect">
            <a:avLst/>
          </a:prstGeom>
          <a:noFill/>
          <a:ln/>
        </p:spPr>
        <p:txBody>
          <a:bodyPr wrap="square" lIns="0" tIns="0" rIns="0" bIns="0" rtlCol="0" anchor="t"/>
          <a:lstStyle/>
          <a:p>
            <a:pPr indent="0" marL="0">
              <a:lnSpc>
                <a:spcPct val="125000"/>
              </a:lnSpc>
              <a:buNone/>
            </a:pPr>
            <a:r>
              <a:rPr lang="en-US" sz="1450" dirty="0">
                <a:solidFill>
                  <a:srgbClr val="9CDCFE"/>
                </a:solidFill>
                <a:latin typeface="Courier New" pitchFamily="34" charset="0"/>
                <a:ea typeface="Courier New" pitchFamily="34" charset="-122"/>
                <a:cs typeface="Courier New" pitchFamily="34" charset="-120"/>
              </a:rPr>
              <a:t>$ git checkout feature-branch</a:t>
            </a:r>
            <a:endParaRPr lang="en-US" sz="1450" dirty="0"/>
          </a:p>
          <a:p>
            <a:pPr indent="0" marL="0">
              <a:lnSpc>
                <a:spcPct val="125000"/>
              </a:lnSpc>
              <a:buNone/>
            </a:pPr>
            <a:r>
              <a:rPr lang="en-US" sz="1450" dirty="0">
                <a:solidFill>
                  <a:srgbClr val="9CDCFE"/>
                </a:solidFill>
                <a:latin typeface="Courier New" pitchFamily="34" charset="0"/>
                <a:ea typeface="Courier New" pitchFamily="34" charset="-122"/>
                <a:cs typeface="Courier New" pitchFamily="34" charset="-120"/>
              </a:rPr>
              <a:t>$ git rebase main</a:t>
            </a:r>
            <a:endParaRPr lang="en-US" sz="1450" dirty="0"/>
          </a:p>
        </p:txBody>
      </p:sp>
      <p:sp>
        <p:nvSpPr>
          <p:cNvPr id="12" name="Shape 10"/>
          <p:cNvSpPr/>
          <p:nvPr/>
        </p:nvSpPr>
        <p:spPr>
          <a:xfrm>
            <a:off x="594360" y="4343400"/>
            <a:ext cx="5577840" cy="1737360"/>
          </a:xfrm>
          <a:prstGeom prst="roundRect">
            <a:avLst>
              <a:gd name="adj" fmla="val 4211"/>
            </a:avLst>
          </a:prstGeom>
          <a:solidFill>
            <a:srgbClr val="EAF2FF"/>
          </a:solidFill>
          <a:ln/>
        </p:spPr>
      </p:sp>
      <p:sp>
        <p:nvSpPr>
          <p:cNvPr id="13" name="Text 11"/>
          <p:cNvSpPr/>
          <p:nvPr/>
        </p:nvSpPr>
        <p:spPr>
          <a:xfrm>
            <a:off x="822960" y="4480560"/>
            <a:ext cx="5120640" cy="1463040"/>
          </a:xfrm>
          <a:prstGeom prst="rect">
            <a:avLst/>
          </a:prstGeom>
          <a:noFill/>
          <a:ln/>
        </p:spPr>
        <p:txBody>
          <a:bodyPr wrap="square" rtlCol="0" anchor="t"/>
          <a:lstStyle/>
          <a:p>
            <a:pPr indent="0" marL="0">
              <a:lnSpc>
                <a:spcPct val="120000"/>
              </a:lnSpc>
              <a:buNone/>
            </a:pPr>
            <a:r>
              <a:rPr lang="en-US" sz="1350" b="1" dirty="0">
                <a:solidFill>
                  <a:srgbClr val="1E3A8A"/>
                </a:solidFill>
                <a:latin typeface="Calibri" pitchFamily="34" charset="0"/>
                <a:ea typeface="Calibri" pitchFamily="34" charset="-122"/>
                <a:cs typeface="Calibri" pitchFamily="34" charset="-120"/>
              </a:rPr>
              <a:t>Result: </a:t>
            </a:r>
            <a:pPr indent="0" marL="0">
              <a:lnSpc>
                <a:spcPct val="120000"/>
              </a:lnSpc>
              <a:buNone/>
            </a:pPr>
            <a:r>
              <a:rPr lang="en-US" sz="1350" dirty="0">
                <a:solidFill>
                  <a:srgbClr val="1F2937"/>
                </a:solidFill>
                <a:latin typeface="Calibri" pitchFamily="34" charset="0"/>
                <a:ea typeface="Calibri" pitchFamily="34" charset="-122"/>
                <a:cs typeface="Calibri" pitchFamily="34" charset="-120"/>
              </a:rPr>
              <a:t>feature commits are </a:t>
            </a:r>
            <a:pPr indent="0" marL="0">
              <a:lnSpc>
                <a:spcPct val="120000"/>
              </a:lnSpc>
              <a:buNone/>
            </a:pPr>
            <a:r>
              <a:rPr lang="en-US" sz="1350" b="1" dirty="0">
                <a:solidFill>
                  <a:srgbClr val="F05133"/>
                </a:solidFill>
                <a:latin typeface="Calibri" pitchFamily="34" charset="0"/>
                <a:ea typeface="Calibri" pitchFamily="34" charset="-122"/>
                <a:cs typeface="Calibri" pitchFamily="34" charset="-120"/>
              </a:rPr>
              <a:t>replayed</a:t>
            </a:r>
            <a:pPr indent="0" marL="0">
              <a:lnSpc>
                <a:spcPct val="120000"/>
              </a:lnSpc>
              <a:buNone/>
            </a:pPr>
            <a:r>
              <a:rPr lang="en-US" sz="1350" dirty="0">
                <a:solidFill>
                  <a:srgbClr val="1F2937"/>
                </a:solidFill>
                <a:latin typeface="Calibri" pitchFamily="34" charset="0"/>
                <a:ea typeface="Calibri" pitchFamily="34" charset="-122"/>
                <a:cs typeface="Calibri" pitchFamily="34" charset="-120"/>
              </a:rPr>
              <a:t> on top of main, one after another — no merge commit, no branching in the log.</a:t>
            </a:r>
            <a:endParaRPr lang="en-US" sz="1350" dirty="0"/>
          </a:p>
        </p:txBody>
      </p:sp>
      <p:sp>
        <p:nvSpPr>
          <p:cNvPr id="14" name="Shape 12"/>
          <p:cNvSpPr/>
          <p:nvPr/>
        </p:nvSpPr>
        <p:spPr>
          <a:xfrm>
            <a:off x="7040880" y="1188720"/>
            <a:ext cx="4480560" cy="4846320"/>
          </a:xfrm>
          <a:prstGeom prst="roundRect">
            <a:avLst>
              <a:gd name="adj" fmla="val 2041"/>
            </a:avLst>
          </a:prstGeom>
          <a:solidFill>
            <a:srgbClr val="F7FAFF"/>
          </a:solidFill>
          <a:ln w="12700">
            <a:solidFill>
              <a:srgbClr val="CADCFC"/>
            </a:solidFill>
            <a:prstDash val="solid"/>
          </a:ln>
        </p:spPr>
      </p:sp>
      <p:sp>
        <p:nvSpPr>
          <p:cNvPr id="15" name="Text 13"/>
          <p:cNvSpPr/>
          <p:nvPr/>
        </p:nvSpPr>
        <p:spPr>
          <a:xfrm>
            <a:off x="7269480" y="1325880"/>
            <a:ext cx="4023360" cy="320040"/>
          </a:xfrm>
          <a:prstGeom prst="rect">
            <a:avLst/>
          </a:prstGeom>
          <a:noFill/>
          <a:ln/>
        </p:spPr>
        <p:txBody>
          <a:bodyPr wrap="square" rtlCol="0" anchor="ctr"/>
          <a:lstStyle/>
          <a:p>
            <a:pPr indent="0" marL="0">
              <a:buNone/>
            </a:pPr>
            <a:r>
              <a:rPr lang="en-US" sz="1300" b="1" dirty="0">
                <a:solidFill>
                  <a:srgbClr val="1E3A8A"/>
                </a:solidFill>
                <a:latin typeface="Calibri" pitchFamily="34" charset="0"/>
                <a:ea typeface="Calibri" pitchFamily="34" charset="-122"/>
                <a:cs typeface="Calibri" pitchFamily="34" charset="-120"/>
              </a:rPr>
              <a:t>Linear History (After)</a:t>
            </a:r>
            <a:endParaRPr lang="en-US" sz="1300" dirty="0"/>
          </a:p>
        </p:txBody>
      </p:sp>
      <p:sp>
        <p:nvSpPr>
          <p:cNvPr id="16" name="Shape 14"/>
          <p:cNvSpPr/>
          <p:nvPr/>
        </p:nvSpPr>
        <p:spPr>
          <a:xfrm>
            <a:off x="7772400" y="2194560"/>
            <a:ext cx="914" cy="3291840"/>
          </a:xfrm>
          <a:prstGeom prst="line">
            <a:avLst/>
          </a:prstGeom>
          <a:noFill/>
          <a:ln w="31750">
            <a:solidFill>
              <a:srgbClr val="1E3A8A"/>
            </a:solidFill>
            <a:prstDash val="solid"/>
          </a:ln>
        </p:spPr>
      </p:sp>
      <p:sp>
        <p:nvSpPr>
          <p:cNvPr id="17" name="Shape 15"/>
          <p:cNvSpPr/>
          <p:nvPr/>
        </p:nvSpPr>
        <p:spPr>
          <a:xfrm>
            <a:off x="7644384" y="2066544"/>
            <a:ext cx="256032" cy="256032"/>
          </a:xfrm>
          <a:prstGeom prst="ellipse">
            <a:avLst/>
          </a:prstGeom>
          <a:solidFill>
            <a:srgbClr val="1E3A8A"/>
          </a:solidFill>
          <a:ln w="19050">
            <a:solidFill>
              <a:srgbClr val="FFFFFF"/>
            </a:solidFill>
            <a:prstDash val="solid"/>
          </a:ln>
        </p:spPr>
      </p:sp>
      <p:sp>
        <p:nvSpPr>
          <p:cNvPr id="18" name="Text 16"/>
          <p:cNvSpPr/>
          <p:nvPr/>
        </p:nvSpPr>
        <p:spPr>
          <a:xfrm>
            <a:off x="7315200" y="2340864"/>
            <a:ext cx="914400" cy="274320"/>
          </a:xfrm>
          <a:prstGeom prst="rect">
            <a:avLst/>
          </a:prstGeom>
          <a:noFill/>
          <a:ln/>
        </p:spPr>
        <p:txBody>
          <a:bodyPr wrap="square" rtlCol="0" anchor="ctr"/>
          <a:lstStyle/>
          <a:p>
            <a:pPr algn="ctr" indent="0" marL="0">
              <a:buNone/>
            </a:pPr>
            <a:r>
              <a:rPr lang="en-US" sz="1000" dirty="0">
                <a:solidFill>
                  <a:srgbClr val="6B7280"/>
                </a:solidFill>
                <a:latin typeface="Courier New" pitchFamily="34" charset="0"/>
                <a:ea typeface="Courier New" pitchFamily="34" charset="-122"/>
                <a:cs typeface="Courier New" pitchFamily="34" charset="-120"/>
              </a:rPr>
              <a:t>A</a:t>
            </a:r>
            <a:endParaRPr lang="en-US" sz="1000" dirty="0"/>
          </a:p>
        </p:txBody>
      </p:sp>
      <p:sp>
        <p:nvSpPr>
          <p:cNvPr id="19" name="Shape 17"/>
          <p:cNvSpPr/>
          <p:nvPr/>
        </p:nvSpPr>
        <p:spPr>
          <a:xfrm>
            <a:off x="7644384" y="2798064"/>
            <a:ext cx="256032" cy="256032"/>
          </a:xfrm>
          <a:prstGeom prst="ellipse">
            <a:avLst/>
          </a:prstGeom>
          <a:solidFill>
            <a:srgbClr val="1E3A8A"/>
          </a:solidFill>
          <a:ln w="19050">
            <a:solidFill>
              <a:srgbClr val="FFFFFF"/>
            </a:solidFill>
            <a:prstDash val="solid"/>
          </a:ln>
        </p:spPr>
      </p:sp>
      <p:sp>
        <p:nvSpPr>
          <p:cNvPr id="20" name="Text 18"/>
          <p:cNvSpPr/>
          <p:nvPr/>
        </p:nvSpPr>
        <p:spPr>
          <a:xfrm>
            <a:off x="7315200" y="3072384"/>
            <a:ext cx="914400" cy="274320"/>
          </a:xfrm>
          <a:prstGeom prst="rect">
            <a:avLst/>
          </a:prstGeom>
          <a:noFill/>
          <a:ln/>
        </p:spPr>
        <p:txBody>
          <a:bodyPr wrap="square" rtlCol="0" anchor="ctr"/>
          <a:lstStyle/>
          <a:p>
            <a:pPr algn="ctr" indent="0" marL="0">
              <a:buNone/>
            </a:pPr>
            <a:r>
              <a:rPr lang="en-US" sz="1000" dirty="0">
                <a:solidFill>
                  <a:srgbClr val="6B7280"/>
                </a:solidFill>
                <a:latin typeface="Courier New" pitchFamily="34" charset="0"/>
                <a:ea typeface="Courier New" pitchFamily="34" charset="-122"/>
                <a:cs typeface="Courier New" pitchFamily="34" charset="-120"/>
              </a:rPr>
              <a:t>B</a:t>
            </a:r>
            <a:endParaRPr lang="en-US" sz="1000" dirty="0"/>
          </a:p>
        </p:txBody>
      </p:sp>
      <p:sp>
        <p:nvSpPr>
          <p:cNvPr id="21" name="Shape 19"/>
          <p:cNvSpPr/>
          <p:nvPr/>
        </p:nvSpPr>
        <p:spPr>
          <a:xfrm>
            <a:off x="7644384" y="3529584"/>
            <a:ext cx="256032" cy="256032"/>
          </a:xfrm>
          <a:prstGeom prst="ellipse">
            <a:avLst/>
          </a:prstGeom>
          <a:solidFill>
            <a:srgbClr val="F05133"/>
          </a:solidFill>
          <a:ln w="19050">
            <a:solidFill>
              <a:srgbClr val="FFFFFF"/>
            </a:solidFill>
            <a:prstDash val="solid"/>
          </a:ln>
        </p:spPr>
      </p:sp>
      <p:sp>
        <p:nvSpPr>
          <p:cNvPr id="22" name="Text 20"/>
          <p:cNvSpPr/>
          <p:nvPr/>
        </p:nvSpPr>
        <p:spPr>
          <a:xfrm>
            <a:off x="7315200" y="3803904"/>
            <a:ext cx="914400" cy="274320"/>
          </a:xfrm>
          <a:prstGeom prst="rect">
            <a:avLst/>
          </a:prstGeom>
          <a:noFill/>
          <a:ln/>
        </p:spPr>
        <p:txBody>
          <a:bodyPr wrap="square" rtlCol="0" anchor="ctr"/>
          <a:lstStyle/>
          <a:p>
            <a:pPr algn="ctr" indent="0" marL="0">
              <a:buNone/>
            </a:pPr>
            <a:r>
              <a:rPr lang="en-US" sz="1000" dirty="0">
                <a:solidFill>
                  <a:srgbClr val="6B7280"/>
                </a:solidFill>
                <a:latin typeface="Courier New" pitchFamily="34" charset="0"/>
                <a:ea typeface="Courier New" pitchFamily="34" charset="-122"/>
                <a:cs typeface="Courier New" pitchFamily="34" charset="-120"/>
              </a:rPr>
              <a:t>D'</a:t>
            </a:r>
            <a:endParaRPr lang="en-US" sz="1000" dirty="0"/>
          </a:p>
        </p:txBody>
      </p:sp>
      <p:sp>
        <p:nvSpPr>
          <p:cNvPr id="23" name="Shape 21"/>
          <p:cNvSpPr/>
          <p:nvPr/>
        </p:nvSpPr>
        <p:spPr>
          <a:xfrm>
            <a:off x="7644384" y="4261104"/>
            <a:ext cx="256032" cy="256032"/>
          </a:xfrm>
          <a:prstGeom prst="ellipse">
            <a:avLst/>
          </a:prstGeom>
          <a:solidFill>
            <a:srgbClr val="F05133"/>
          </a:solidFill>
          <a:ln w="19050">
            <a:solidFill>
              <a:srgbClr val="FFFFFF"/>
            </a:solidFill>
            <a:prstDash val="solid"/>
          </a:ln>
        </p:spPr>
      </p:sp>
      <p:sp>
        <p:nvSpPr>
          <p:cNvPr id="24" name="Text 22"/>
          <p:cNvSpPr/>
          <p:nvPr/>
        </p:nvSpPr>
        <p:spPr>
          <a:xfrm>
            <a:off x="7315200" y="4535424"/>
            <a:ext cx="914400" cy="274320"/>
          </a:xfrm>
          <a:prstGeom prst="rect">
            <a:avLst/>
          </a:prstGeom>
          <a:noFill/>
          <a:ln/>
        </p:spPr>
        <p:txBody>
          <a:bodyPr wrap="square" rtlCol="0" anchor="ctr"/>
          <a:lstStyle/>
          <a:p>
            <a:pPr algn="ctr" indent="0" marL="0">
              <a:buNone/>
            </a:pPr>
            <a:r>
              <a:rPr lang="en-US" sz="1000" dirty="0">
                <a:solidFill>
                  <a:srgbClr val="6B7280"/>
                </a:solidFill>
                <a:latin typeface="Courier New" pitchFamily="34" charset="0"/>
                <a:ea typeface="Courier New" pitchFamily="34" charset="-122"/>
                <a:cs typeface="Courier New" pitchFamily="34" charset="-120"/>
              </a:rPr>
              <a:t>E'</a:t>
            </a:r>
            <a:endParaRPr lang="en-US" sz="1000" dirty="0"/>
          </a:p>
        </p:txBody>
      </p:sp>
      <p:sp>
        <p:nvSpPr>
          <p:cNvPr id="25" name="Text 23"/>
          <p:cNvSpPr/>
          <p:nvPr/>
        </p:nvSpPr>
        <p:spPr>
          <a:xfrm>
            <a:off x="6537960" y="4617720"/>
            <a:ext cx="2468880" cy="274320"/>
          </a:xfrm>
          <a:prstGeom prst="rect">
            <a:avLst/>
          </a:prstGeom>
          <a:noFill/>
          <a:ln/>
        </p:spPr>
        <p:txBody>
          <a:bodyPr wrap="square" rtlCol="0" anchor="ctr"/>
          <a:lstStyle/>
          <a:p>
            <a:pPr algn="ctr" indent="0" marL="0">
              <a:buNone/>
            </a:pPr>
            <a:r>
              <a:rPr lang="en-US" sz="1100" b="1" dirty="0">
                <a:solidFill>
                  <a:srgbClr val="F05133"/>
                </a:solidFill>
                <a:latin typeface="Calibri" pitchFamily="34" charset="0"/>
                <a:ea typeface="Calibri" pitchFamily="34" charset="-122"/>
                <a:cs typeface="Calibri" pitchFamily="34" charset="-120"/>
              </a:rPr>
              <a:t>feature (rebased)</a:t>
            </a:r>
            <a:endParaRPr lang="en-US" sz="1100" dirty="0"/>
          </a:p>
        </p:txBody>
      </p:sp>
      <p:sp>
        <p:nvSpPr>
          <p:cNvPr id="26" name="Text 24"/>
          <p:cNvSpPr/>
          <p:nvPr/>
        </p:nvSpPr>
        <p:spPr>
          <a:xfrm>
            <a:off x="6080760" y="5166360"/>
            <a:ext cx="3383280" cy="548640"/>
          </a:xfrm>
          <a:prstGeom prst="rect">
            <a:avLst/>
          </a:prstGeom>
          <a:noFill/>
          <a:ln/>
        </p:spPr>
        <p:txBody>
          <a:bodyPr wrap="square" rtlCol="0" anchor="ctr"/>
          <a:lstStyle/>
          <a:p>
            <a:pPr algn="ctr" indent="0" marL="0">
              <a:buNone/>
            </a:pPr>
            <a:r>
              <a:rPr lang="en-US" sz="1100" i="1" dirty="0">
                <a:solidFill>
                  <a:srgbClr val="6B7280"/>
                </a:solidFill>
                <a:latin typeface="Calibri" pitchFamily="34" charset="0"/>
                <a:ea typeface="Calibri" pitchFamily="34" charset="-122"/>
                <a:cs typeface="Calibri" pitchFamily="34" charset="-120"/>
              </a:rPr>
              <a:t>one straight line — no side branch, no merge commit</a:t>
            </a:r>
            <a:endParaRPr lang="en-US" sz="1100" dirty="0"/>
          </a:p>
        </p:txBody>
      </p:sp>
      <p:sp>
        <p:nvSpPr>
          <p:cNvPr id="27" name="Text 25"/>
          <p:cNvSpPr/>
          <p:nvPr/>
        </p:nvSpPr>
        <p:spPr>
          <a:xfrm>
            <a:off x="457200" y="6492240"/>
            <a:ext cx="4572000" cy="27432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Merge vs Rebase in Git</a:t>
            </a:r>
            <a:endParaRPr lang="en-US" sz="900" dirty="0"/>
          </a:p>
        </p:txBody>
      </p:sp>
      <p:sp>
        <p:nvSpPr>
          <p:cNvPr id="28" name="Text 26"/>
          <p:cNvSpPr/>
          <p:nvPr/>
        </p:nvSpPr>
        <p:spPr>
          <a:xfrm>
            <a:off x="11277295" y="6492240"/>
            <a:ext cx="457200" cy="274320"/>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8686800" cy="640080"/>
          </a:xfrm>
          <a:prstGeom prst="rect">
            <a:avLst/>
          </a:prstGeom>
          <a:noFill/>
          <a:ln/>
        </p:spPr>
        <p:txBody>
          <a:bodyPr wrap="square" rtlCol="0" anchor="ctr"/>
          <a:lstStyle/>
          <a:p>
            <a:pPr indent="0" marL="0">
              <a:buNone/>
            </a:pPr>
            <a:r>
              <a:rPr lang="en-US" sz="2800" b="1" dirty="0">
                <a:solidFill>
                  <a:srgbClr val="1E3A8A"/>
                </a:solidFill>
                <a:latin typeface="Calibri" pitchFamily="34" charset="0"/>
                <a:ea typeface="Calibri" pitchFamily="34" charset="-122"/>
                <a:cs typeface="Calibri" pitchFamily="34" charset="-120"/>
              </a:rPr>
              <a:t>Merge vs Rebase — Comparison</a:t>
            </a:r>
            <a:endParaRPr lang="en-US" sz="2800" dirty="0"/>
          </a:p>
        </p:txBody>
      </p:sp>
      <p:sp>
        <p:nvSpPr>
          <p:cNvPr id="3" name="Shape 1"/>
          <p:cNvSpPr/>
          <p:nvPr/>
        </p:nvSpPr>
        <p:spPr>
          <a:xfrm>
            <a:off x="10058400" y="502920"/>
            <a:ext cx="1554480" cy="292608"/>
          </a:xfrm>
          <a:prstGeom prst="roundRect">
            <a:avLst>
              <a:gd name="adj" fmla="val 50000"/>
            </a:avLst>
          </a:prstGeom>
          <a:solidFill>
            <a:srgbClr val="1E3A8A"/>
          </a:solidFill>
          <a:ln/>
        </p:spPr>
      </p:sp>
      <p:sp>
        <p:nvSpPr>
          <p:cNvPr id="4" name="Text 2"/>
          <p:cNvSpPr/>
          <p:nvPr/>
        </p:nvSpPr>
        <p:spPr>
          <a:xfrm>
            <a:off x="10058400" y="502920"/>
            <a:ext cx="1554480" cy="292608"/>
          </a:xfrm>
          <a:prstGeom prst="rect">
            <a:avLst/>
          </a:prstGeom>
          <a:noFill/>
          <a:ln/>
        </p:spPr>
        <p:txBody>
          <a:bodyPr wrap="square"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AT A GLANCE</a:t>
            </a:r>
            <a:endParaRPr lang="en-US" sz="105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64240" cy="4754880"/>
        </p:xfrm>
        <a:graphic>
          <a:graphicData uri="http://schemas.openxmlformats.org/drawingml/2006/table">
            <a:tbl>
              <a:tblPr/>
              <a:tblGrid>
                <a:gridCol w="3200400"/>
                <a:gridCol w="3931920"/>
                <a:gridCol w="3931920"/>
              </a:tblGrid>
              <a:tr h="658368">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Criteria</a:t>
                      </a:r>
                      <a:endParaRPr lang="en-US" sz="1300" dirty="0">
                        <a:latin typeface="Calibri" charset="0"/>
                        <a:ea typeface="Calibri" charset="0"/>
                        <a:cs typeface="Calibri" charset="0"/>
                      </a:endParaRPr>
                    </a:p>
                  </a:txBody>
                  <a:tcPr marL="91440" marR="91440" marT="45720" marB="45720" anchor="ctr">
                    <a:lnL w="9525" cap="flat" cmpd="sng" algn="ctr">
                      <a:solidFill>
                        <a:srgbClr val="CADCFC"/>
                      </a:solidFill>
                      <a:prstDash val="solid"/>
                      <a:round/>
                      <a:headEnd type="none" w="med" len="med"/>
                      <a:tailEnd type="none" w="med" len="med"/>
                    </a:lnL>
                    <a:lnR w="9525" cap="flat" cmpd="sng" algn="ctr">
                      <a:solidFill>
                        <a:srgbClr val="CADCFC"/>
                      </a:solidFill>
                      <a:prstDash val="solid"/>
                      <a:round/>
                      <a:headEnd type="none" w="med" len="med"/>
                      <a:tailEnd type="none" w="med" len="med"/>
                    </a:lnR>
                    <a:lnT w="9525" cap="flat" cmpd="sng" algn="ctr">
                      <a:solidFill>
                        <a:srgbClr val="CADCFC"/>
                      </a:solidFill>
                      <a:prstDash val="solid"/>
                      <a:round/>
                      <a:headEnd type="none" w="med" len="med"/>
                      <a:tailEnd type="none" w="med" len="med"/>
                    </a:lnT>
                    <a:lnB w="9525" cap="flat" cmpd="sng" algn="ctr">
                      <a:solidFill>
                        <a:srgbClr val="CADCFC"/>
                      </a:solidFill>
                      <a:prstDash val="solid"/>
                      <a:round/>
                      <a:headEnd type="none" w="med" len="med"/>
                      <a:tailEnd type="none" w="med" len="med"/>
                    </a:lnB>
                    <a:solidFill>
                      <a:srgbClr val="1E3A8A"/>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Git Merge</a:t>
                      </a:r>
                      <a:endParaRPr lang="en-US" sz="1300" dirty="0">
                        <a:latin typeface="Calibri" charset="0"/>
                        <a:ea typeface="Calibri" charset="0"/>
                        <a:cs typeface="Calibri" charset="0"/>
                      </a:endParaRPr>
                    </a:p>
                  </a:txBody>
                  <a:tcPr marL="91440" marR="91440" marT="45720" marB="45720" anchor="ctr">
                    <a:lnL w="9525" cap="flat" cmpd="sng" algn="ctr">
                      <a:solidFill>
                        <a:srgbClr val="CADCFC"/>
                      </a:solidFill>
                      <a:prstDash val="solid"/>
                      <a:round/>
                      <a:headEnd type="none" w="med" len="med"/>
                      <a:tailEnd type="none" w="med" len="med"/>
                    </a:lnL>
                    <a:lnR w="9525" cap="flat" cmpd="sng" algn="ctr">
                      <a:solidFill>
                        <a:srgbClr val="CADCFC"/>
                      </a:solidFill>
                      <a:prstDash val="solid"/>
                      <a:round/>
                      <a:headEnd type="none" w="med" len="med"/>
                      <a:tailEnd type="none" w="med" len="med"/>
                    </a:lnR>
                    <a:lnT w="9525" cap="flat" cmpd="sng" algn="ctr">
                      <a:solidFill>
                        <a:srgbClr val="CADCFC"/>
                      </a:solidFill>
                      <a:prstDash val="solid"/>
                      <a:round/>
                      <a:headEnd type="none" w="med" len="med"/>
                      <a:tailEnd type="none" w="med" len="med"/>
                    </a:lnT>
                    <a:lnB w="9525" cap="flat" cmpd="sng" algn="ctr">
                      <a:solidFill>
                        <a:srgbClr val="CADCFC"/>
                      </a:solidFill>
                      <a:prstDash val="solid"/>
                      <a:round/>
                      <a:headEnd type="none" w="med" len="med"/>
                      <a:tailEnd type="none" w="med" len="med"/>
                    </a:lnB>
                    <a:solidFill>
                      <a:srgbClr val="1E3A8A"/>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Git Rebase</a:t>
                      </a:r>
                      <a:endParaRPr lang="en-US" sz="1300" dirty="0">
                        <a:latin typeface="Calibri" charset="0"/>
                        <a:ea typeface="Calibri" charset="0"/>
                        <a:cs typeface="Calibri" charset="0"/>
                      </a:endParaRPr>
                    </a:p>
                  </a:txBody>
                  <a:tcPr marL="91440" marR="91440" marT="45720" marB="45720" anchor="ctr">
                    <a:lnL w="9525" cap="flat" cmpd="sng" algn="ctr">
                      <a:solidFill>
                        <a:srgbClr val="CADCFC"/>
                      </a:solidFill>
                      <a:prstDash val="solid"/>
                      <a:round/>
                      <a:headEnd type="none" w="med" len="med"/>
                      <a:tailEnd type="none" w="med" len="med"/>
                    </a:lnL>
                    <a:lnR w="9525" cap="flat" cmpd="sng" algn="ctr">
                      <a:solidFill>
                        <a:srgbClr val="CADCFC"/>
                      </a:solidFill>
                      <a:prstDash val="solid"/>
                      <a:round/>
                      <a:headEnd type="none" w="med" len="med"/>
                      <a:tailEnd type="none" w="med" len="med"/>
                    </a:lnR>
                    <a:lnT w="9525" cap="flat" cmpd="sng" algn="ctr">
                      <a:solidFill>
                        <a:srgbClr val="CADCFC"/>
                      </a:solidFill>
                      <a:prstDash val="solid"/>
                      <a:round/>
                      <a:headEnd type="none" w="med" len="med"/>
                      <a:tailEnd type="none" w="med" len="med"/>
                    </a:lnT>
                    <a:lnB w="9525" cap="flat" cmpd="sng" algn="ctr">
                      <a:solidFill>
                        <a:srgbClr val="CADCFC"/>
                      </a:solidFill>
                      <a:prstDash val="solid"/>
                      <a:round/>
                      <a:headEnd type="none" w="med" len="med"/>
                      <a:tailEnd type="none" w="med" len="med"/>
                    </a:lnB>
                    <a:solidFill>
                      <a:srgbClr val="1E3A8A"/>
                    </a:solidFill>
                  </a:tcPr>
                </a:tc>
              </a:tr>
              <a:tr h="658368">
                <a:tc>
                  <a:txBody>
                    <a:bodyPr/>
                    <a:lstStyle/>
                    <a:p>
                      <a:pPr algn="l" indent="0" marL="0">
                        <a:buNone/>
                      </a:pPr>
                      <a:r>
                        <a:rPr lang="en-US" sz="1250" b="1" dirty="0">
                          <a:solidFill>
                            <a:srgbClr val="1E3A8A"/>
                          </a:solidFill>
                          <a:latin typeface="Calibri" pitchFamily="34" charset="0"/>
                          <a:ea typeface="Calibri" pitchFamily="34" charset="-122"/>
                          <a:cs typeface="Calibri" pitchFamily="34" charset="-120"/>
                        </a:rPr>
                        <a:t>History preservation</a:t>
                      </a:r>
                      <a:endParaRPr lang="en-US" sz="1250" dirty="0">
                        <a:latin typeface="Calibri" charset="0"/>
                        <a:ea typeface="Calibri" charset="0"/>
                        <a:cs typeface="Calibri" charset="0"/>
                      </a:endParaRPr>
                    </a:p>
                  </a:txBody>
                  <a:tcPr marL="91440" marR="91440" marT="45720" marB="45720" anchor="ctr">
                    <a:lnL w="9525" cap="flat" cmpd="sng" algn="ctr">
                      <a:solidFill>
                        <a:srgbClr val="CADCFC"/>
                      </a:solidFill>
                      <a:prstDash val="solid"/>
                      <a:round/>
                      <a:headEnd type="none" w="med" len="med"/>
                      <a:tailEnd type="none" w="med" len="med"/>
                    </a:lnL>
                    <a:lnR w="9525" cap="flat" cmpd="sng" algn="ctr">
                      <a:solidFill>
                        <a:srgbClr val="CADCFC"/>
                      </a:solidFill>
                      <a:prstDash val="solid"/>
                      <a:round/>
                      <a:headEnd type="none" w="med" len="med"/>
                      <a:tailEnd type="none" w="med" len="med"/>
                    </a:lnR>
                    <a:lnT w="9525" cap="flat" cmpd="sng" algn="ctr">
                      <a:solidFill>
                        <a:srgbClr val="CADCFC"/>
                      </a:solidFill>
                      <a:prstDash val="solid"/>
                      <a:round/>
                      <a:headEnd type="none" w="med" len="med"/>
                      <a:tailEnd type="none" w="med" len="med"/>
                    </a:lnT>
                    <a:lnB w="9525" cap="flat" cmpd="sng" algn="ctr">
                      <a:solidFill>
                        <a:srgbClr val="CADCFC"/>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F2937"/>
                          </a:solidFill>
                          <a:latin typeface="Calibri" pitchFamily="34" charset="0"/>
                          <a:ea typeface="Calibri" pitchFamily="34" charset="-122"/>
                          <a:cs typeface="Calibri" pitchFamily="34" charset="-120"/>
                        </a:rPr>
                        <a:t>Keeps full original history</a:t>
                      </a:r>
                      <a:endParaRPr lang="en-US" sz="1250" dirty="0">
                        <a:latin typeface="Calibri" charset="0"/>
                        <a:ea typeface="Calibri" charset="0"/>
                        <a:cs typeface="Calibri" charset="0"/>
                      </a:endParaRPr>
                    </a:p>
                  </a:txBody>
                  <a:tcPr marL="91440" marR="91440" marT="45720" marB="45720" anchor="ctr">
                    <a:lnL w="9525" cap="flat" cmpd="sng" algn="ctr">
                      <a:solidFill>
                        <a:srgbClr val="CADCFC"/>
                      </a:solidFill>
                      <a:prstDash val="solid"/>
                      <a:round/>
                      <a:headEnd type="none" w="med" len="med"/>
                      <a:tailEnd type="none" w="med" len="med"/>
                    </a:lnL>
                    <a:lnR w="9525" cap="flat" cmpd="sng" algn="ctr">
                      <a:solidFill>
                        <a:srgbClr val="CADCFC"/>
                      </a:solidFill>
                      <a:prstDash val="solid"/>
                      <a:round/>
                      <a:headEnd type="none" w="med" len="med"/>
                      <a:tailEnd type="none" w="med" len="med"/>
                    </a:lnR>
                    <a:lnT w="9525" cap="flat" cmpd="sng" algn="ctr">
                      <a:solidFill>
                        <a:srgbClr val="CADCFC"/>
                      </a:solidFill>
                      <a:prstDash val="solid"/>
                      <a:round/>
                      <a:headEnd type="none" w="med" len="med"/>
                      <a:tailEnd type="none" w="med" len="med"/>
                    </a:lnT>
                    <a:lnB w="9525" cap="flat" cmpd="sng" algn="ctr">
                      <a:solidFill>
                        <a:srgbClr val="CADCFC"/>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F2937"/>
                          </a:solidFill>
                          <a:latin typeface="Calibri" pitchFamily="34" charset="0"/>
                          <a:ea typeface="Calibri" pitchFamily="34" charset="-122"/>
                          <a:cs typeface="Calibri" pitchFamily="34" charset="-120"/>
                        </a:rPr>
                        <a:t>Rewrites commit history</a:t>
                      </a:r>
                      <a:endParaRPr lang="en-US" sz="1250" dirty="0">
                        <a:latin typeface="Calibri" charset="0"/>
                        <a:ea typeface="Calibri" charset="0"/>
                        <a:cs typeface="Calibri" charset="0"/>
                      </a:endParaRPr>
                    </a:p>
                  </a:txBody>
                  <a:tcPr marL="91440" marR="91440" marT="45720" marB="45720" anchor="ctr">
                    <a:lnL w="9525" cap="flat" cmpd="sng" algn="ctr">
                      <a:solidFill>
                        <a:srgbClr val="CADCFC"/>
                      </a:solidFill>
                      <a:prstDash val="solid"/>
                      <a:round/>
                      <a:headEnd type="none" w="med" len="med"/>
                      <a:tailEnd type="none" w="med" len="med"/>
                    </a:lnL>
                    <a:lnR w="9525" cap="flat" cmpd="sng" algn="ctr">
                      <a:solidFill>
                        <a:srgbClr val="CADCFC"/>
                      </a:solidFill>
                      <a:prstDash val="solid"/>
                      <a:round/>
                      <a:headEnd type="none" w="med" len="med"/>
                      <a:tailEnd type="none" w="med" len="med"/>
                    </a:lnR>
                    <a:lnT w="9525" cap="flat" cmpd="sng" algn="ctr">
                      <a:solidFill>
                        <a:srgbClr val="CADCFC"/>
                      </a:solidFill>
                      <a:prstDash val="solid"/>
                      <a:round/>
                      <a:headEnd type="none" w="med" len="med"/>
                      <a:tailEnd type="none" w="med" len="med"/>
                    </a:lnT>
                    <a:lnB w="9525" cap="flat" cmpd="sng" algn="ctr">
                      <a:solidFill>
                        <a:srgbClr val="CADCFC"/>
                      </a:solidFill>
                      <a:prstDash val="solid"/>
                      <a:round/>
                      <a:headEnd type="none" w="med" len="med"/>
                      <a:tailEnd type="none" w="med" len="med"/>
                    </a:lnB>
                    <a:solidFill>
                      <a:srgbClr val="FFFFFF"/>
                    </a:solidFill>
                  </a:tcPr>
                </a:tc>
              </a:tr>
              <a:tr h="658368">
                <a:tc>
                  <a:txBody>
                    <a:bodyPr/>
                    <a:lstStyle/>
                    <a:p>
                      <a:pPr algn="l" indent="0" marL="0">
                        <a:buNone/>
                      </a:pPr>
                      <a:r>
                        <a:rPr lang="en-US" sz="1250" b="1" dirty="0">
                          <a:solidFill>
                            <a:srgbClr val="1E3A8A"/>
                          </a:solidFill>
                          <a:latin typeface="Calibri" pitchFamily="34" charset="0"/>
                          <a:ea typeface="Calibri" pitchFamily="34" charset="-122"/>
                          <a:cs typeface="Calibri" pitchFamily="34" charset="-120"/>
                        </a:rPr>
                        <a:t>Merge commits</a:t>
                      </a:r>
                      <a:endParaRPr lang="en-US" sz="1250" dirty="0">
                        <a:latin typeface="Calibri" charset="0"/>
                        <a:ea typeface="Calibri" charset="0"/>
                        <a:cs typeface="Calibri" charset="0"/>
                      </a:endParaRPr>
                    </a:p>
                  </a:txBody>
                  <a:tcPr marL="91440" marR="91440" marT="45720" marB="45720" anchor="ctr">
                    <a:lnL w="9525" cap="flat" cmpd="sng" algn="ctr">
                      <a:solidFill>
                        <a:srgbClr val="CADCFC"/>
                      </a:solidFill>
                      <a:prstDash val="solid"/>
                      <a:round/>
                      <a:headEnd type="none" w="med" len="med"/>
                      <a:tailEnd type="none" w="med" len="med"/>
                    </a:lnL>
                    <a:lnR w="9525" cap="flat" cmpd="sng" algn="ctr">
                      <a:solidFill>
                        <a:srgbClr val="CADCFC"/>
                      </a:solidFill>
                      <a:prstDash val="solid"/>
                      <a:round/>
                      <a:headEnd type="none" w="med" len="med"/>
                      <a:tailEnd type="none" w="med" len="med"/>
                    </a:lnR>
                    <a:lnT w="9525" cap="flat" cmpd="sng" algn="ctr">
                      <a:solidFill>
                        <a:srgbClr val="CADCFC"/>
                      </a:solidFill>
                      <a:prstDash val="solid"/>
                      <a:round/>
                      <a:headEnd type="none" w="med" len="med"/>
                      <a:tailEnd type="none" w="med" len="med"/>
                    </a:lnT>
                    <a:lnB w="9525" cap="flat" cmpd="sng" algn="ctr">
                      <a:solidFill>
                        <a:srgbClr val="CADCFC"/>
                      </a:solidFill>
                      <a:prstDash val="solid"/>
                      <a:round/>
                      <a:headEnd type="none" w="med" len="med"/>
                      <a:tailEnd type="none" w="med" len="med"/>
                    </a:lnB>
                    <a:solidFill>
                      <a:srgbClr val="F7FAFF"/>
                    </a:solidFill>
                  </a:tcPr>
                </a:tc>
                <a:tc>
                  <a:txBody>
                    <a:bodyPr/>
                    <a:lstStyle/>
                    <a:p>
                      <a:pPr algn="ctr" indent="0" marL="0">
                        <a:buNone/>
                      </a:pPr>
                      <a:r>
                        <a:rPr lang="en-US" sz="1250" dirty="0">
                          <a:solidFill>
                            <a:srgbClr val="1F2937"/>
                          </a:solidFill>
                          <a:latin typeface="Calibri" pitchFamily="34" charset="0"/>
                          <a:ea typeface="Calibri" pitchFamily="34" charset="-122"/>
                          <a:cs typeface="Calibri" pitchFamily="34" charset="-120"/>
                        </a:rPr>
                        <a:t>Creates one</a:t>
                      </a:r>
                      <a:endParaRPr lang="en-US" sz="1250" dirty="0">
                        <a:latin typeface="Calibri" charset="0"/>
                        <a:ea typeface="Calibri" charset="0"/>
                        <a:cs typeface="Calibri" charset="0"/>
                      </a:endParaRPr>
                    </a:p>
                  </a:txBody>
                  <a:tcPr marL="91440" marR="91440" marT="45720" marB="45720" anchor="ctr">
                    <a:lnL w="9525" cap="flat" cmpd="sng" algn="ctr">
                      <a:solidFill>
                        <a:srgbClr val="CADCFC"/>
                      </a:solidFill>
                      <a:prstDash val="solid"/>
                      <a:round/>
                      <a:headEnd type="none" w="med" len="med"/>
                      <a:tailEnd type="none" w="med" len="med"/>
                    </a:lnL>
                    <a:lnR w="9525" cap="flat" cmpd="sng" algn="ctr">
                      <a:solidFill>
                        <a:srgbClr val="CADCFC"/>
                      </a:solidFill>
                      <a:prstDash val="solid"/>
                      <a:round/>
                      <a:headEnd type="none" w="med" len="med"/>
                      <a:tailEnd type="none" w="med" len="med"/>
                    </a:lnR>
                    <a:lnT w="9525" cap="flat" cmpd="sng" algn="ctr">
                      <a:solidFill>
                        <a:srgbClr val="CADCFC"/>
                      </a:solidFill>
                      <a:prstDash val="solid"/>
                      <a:round/>
                      <a:headEnd type="none" w="med" len="med"/>
                      <a:tailEnd type="none" w="med" len="med"/>
                    </a:lnT>
                    <a:lnB w="9525" cap="flat" cmpd="sng" algn="ctr">
                      <a:solidFill>
                        <a:srgbClr val="CADCFC"/>
                      </a:solidFill>
                      <a:prstDash val="solid"/>
                      <a:round/>
                      <a:headEnd type="none" w="med" len="med"/>
                      <a:tailEnd type="none" w="med" len="med"/>
                    </a:lnB>
                    <a:solidFill>
                      <a:srgbClr val="F7FAFF"/>
                    </a:solidFill>
                  </a:tcPr>
                </a:tc>
                <a:tc>
                  <a:txBody>
                    <a:bodyPr/>
                    <a:lstStyle/>
                    <a:p>
                      <a:pPr algn="ctr" indent="0" marL="0">
                        <a:buNone/>
                      </a:pPr>
                      <a:r>
                        <a:rPr lang="en-US" sz="1250" dirty="0">
                          <a:solidFill>
                            <a:srgbClr val="1F2937"/>
                          </a:solidFill>
                          <a:latin typeface="Calibri" pitchFamily="34" charset="0"/>
                          <a:ea typeface="Calibri" pitchFamily="34" charset="-122"/>
                          <a:cs typeface="Calibri" pitchFamily="34" charset="-120"/>
                        </a:rPr>
                        <a:t>None created</a:t>
                      </a:r>
                      <a:endParaRPr lang="en-US" sz="1250" dirty="0">
                        <a:latin typeface="Calibri" charset="0"/>
                        <a:ea typeface="Calibri" charset="0"/>
                        <a:cs typeface="Calibri" charset="0"/>
                      </a:endParaRPr>
                    </a:p>
                  </a:txBody>
                  <a:tcPr marL="91440" marR="91440" marT="45720" marB="45720" anchor="ctr">
                    <a:lnL w="9525" cap="flat" cmpd="sng" algn="ctr">
                      <a:solidFill>
                        <a:srgbClr val="CADCFC"/>
                      </a:solidFill>
                      <a:prstDash val="solid"/>
                      <a:round/>
                      <a:headEnd type="none" w="med" len="med"/>
                      <a:tailEnd type="none" w="med" len="med"/>
                    </a:lnL>
                    <a:lnR w="9525" cap="flat" cmpd="sng" algn="ctr">
                      <a:solidFill>
                        <a:srgbClr val="CADCFC"/>
                      </a:solidFill>
                      <a:prstDash val="solid"/>
                      <a:round/>
                      <a:headEnd type="none" w="med" len="med"/>
                      <a:tailEnd type="none" w="med" len="med"/>
                    </a:lnR>
                    <a:lnT w="9525" cap="flat" cmpd="sng" algn="ctr">
                      <a:solidFill>
                        <a:srgbClr val="CADCFC"/>
                      </a:solidFill>
                      <a:prstDash val="solid"/>
                      <a:round/>
                      <a:headEnd type="none" w="med" len="med"/>
                      <a:tailEnd type="none" w="med" len="med"/>
                    </a:lnT>
                    <a:lnB w="9525" cap="flat" cmpd="sng" algn="ctr">
                      <a:solidFill>
                        <a:srgbClr val="CADCFC"/>
                      </a:solidFill>
                      <a:prstDash val="solid"/>
                      <a:round/>
                      <a:headEnd type="none" w="med" len="med"/>
                      <a:tailEnd type="none" w="med" len="med"/>
                    </a:lnB>
                    <a:solidFill>
                      <a:srgbClr val="F7FAFF"/>
                    </a:solidFill>
                  </a:tcPr>
                </a:tc>
              </a:tr>
              <a:tr h="658368">
                <a:tc>
                  <a:txBody>
                    <a:bodyPr/>
                    <a:lstStyle/>
                    <a:p>
                      <a:pPr algn="l" indent="0" marL="0">
                        <a:buNone/>
                      </a:pPr>
                      <a:r>
                        <a:rPr lang="en-US" sz="1250" b="1" dirty="0">
                          <a:solidFill>
                            <a:srgbClr val="1E3A8A"/>
                          </a:solidFill>
                          <a:latin typeface="Calibri" pitchFamily="34" charset="0"/>
                          <a:ea typeface="Calibri" pitchFamily="34" charset="-122"/>
                          <a:cs typeface="Calibri" pitchFamily="34" charset="-120"/>
                        </a:rPr>
                        <a:t>Linear history</a:t>
                      </a:r>
                      <a:endParaRPr lang="en-US" sz="1250" dirty="0">
                        <a:latin typeface="Calibri" charset="0"/>
                        <a:ea typeface="Calibri" charset="0"/>
                        <a:cs typeface="Calibri" charset="0"/>
                      </a:endParaRPr>
                    </a:p>
                  </a:txBody>
                  <a:tcPr marL="91440" marR="91440" marT="45720" marB="45720" anchor="ctr">
                    <a:lnL w="9525" cap="flat" cmpd="sng" algn="ctr">
                      <a:solidFill>
                        <a:srgbClr val="CADCFC"/>
                      </a:solidFill>
                      <a:prstDash val="solid"/>
                      <a:round/>
                      <a:headEnd type="none" w="med" len="med"/>
                      <a:tailEnd type="none" w="med" len="med"/>
                    </a:lnL>
                    <a:lnR w="9525" cap="flat" cmpd="sng" algn="ctr">
                      <a:solidFill>
                        <a:srgbClr val="CADCFC"/>
                      </a:solidFill>
                      <a:prstDash val="solid"/>
                      <a:round/>
                      <a:headEnd type="none" w="med" len="med"/>
                      <a:tailEnd type="none" w="med" len="med"/>
                    </a:lnR>
                    <a:lnT w="9525" cap="flat" cmpd="sng" algn="ctr">
                      <a:solidFill>
                        <a:srgbClr val="CADCFC"/>
                      </a:solidFill>
                      <a:prstDash val="solid"/>
                      <a:round/>
                      <a:headEnd type="none" w="med" len="med"/>
                      <a:tailEnd type="none" w="med" len="med"/>
                    </a:lnT>
                    <a:lnB w="9525" cap="flat" cmpd="sng" algn="ctr">
                      <a:solidFill>
                        <a:srgbClr val="CADCFC"/>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F2937"/>
                          </a:solidFill>
                          <a:latin typeface="Calibri" pitchFamily="34" charset="0"/>
                          <a:ea typeface="Calibri" pitchFamily="34" charset="-122"/>
                          <a:cs typeface="Calibri" pitchFamily="34" charset="-120"/>
                        </a:rPr>
                        <a:t>No — shows branching</a:t>
                      </a:r>
                      <a:endParaRPr lang="en-US" sz="1250" dirty="0">
                        <a:latin typeface="Calibri" charset="0"/>
                        <a:ea typeface="Calibri" charset="0"/>
                        <a:cs typeface="Calibri" charset="0"/>
                      </a:endParaRPr>
                    </a:p>
                  </a:txBody>
                  <a:tcPr marL="91440" marR="91440" marT="45720" marB="45720" anchor="ctr">
                    <a:lnL w="9525" cap="flat" cmpd="sng" algn="ctr">
                      <a:solidFill>
                        <a:srgbClr val="CADCFC"/>
                      </a:solidFill>
                      <a:prstDash val="solid"/>
                      <a:round/>
                      <a:headEnd type="none" w="med" len="med"/>
                      <a:tailEnd type="none" w="med" len="med"/>
                    </a:lnL>
                    <a:lnR w="9525" cap="flat" cmpd="sng" algn="ctr">
                      <a:solidFill>
                        <a:srgbClr val="CADCFC"/>
                      </a:solidFill>
                      <a:prstDash val="solid"/>
                      <a:round/>
                      <a:headEnd type="none" w="med" len="med"/>
                      <a:tailEnd type="none" w="med" len="med"/>
                    </a:lnR>
                    <a:lnT w="9525" cap="flat" cmpd="sng" algn="ctr">
                      <a:solidFill>
                        <a:srgbClr val="CADCFC"/>
                      </a:solidFill>
                      <a:prstDash val="solid"/>
                      <a:round/>
                      <a:headEnd type="none" w="med" len="med"/>
                      <a:tailEnd type="none" w="med" len="med"/>
                    </a:lnT>
                    <a:lnB w="9525" cap="flat" cmpd="sng" algn="ctr">
                      <a:solidFill>
                        <a:srgbClr val="CADCFC"/>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F2937"/>
                          </a:solidFill>
                          <a:latin typeface="Calibri" pitchFamily="34" charset="0"/>
                          <a:ea typeface="Calibri" pitchFamily="34" charset="-122"/>
                          <a:cs typeface="Calibri" pitchFamily="34" charset="-120"/>
                        </a:rPr>
                        <a:t>Yes — single straight line</a:t>
                      </a:r>
                      <a:endParaRPr lang="en-US" sz="1250" dirty="0">
                        <a:latin typeface="Calibri" charset="0"/>
                        <a:ea typeface="Calibri" charset="0"/>
                        <a:cs typeface="Calibri" charset="0"/>
                      </a:endParaRPr>
                    </a:p>
                  </a:txBody>
                  <a:tcPr marL="91440" marR="91440" marT="45720" marB="45720" anchor="ctr">
                    <a:lnL w="9525" cap="flat" cmpd="sng" algn="ctr">
                      <a:solidFill>
                        <a:srgbClr val="CADCFC"/>
                      </a:solidFill>
                      <a:prstDash val="solid"/>
                      <a:round/>
                      <a:headEnd type="none" w="med" len="med"/>
                      <a:tailEnd type="none" w="med" len="med"/>
                    </a:lnL>
                    <a:lnR w="9525" cap="flat" cmpd="sng" algn="ctr">
                      <a:solidFill>
                        <a:srgbClr val="CADCFC"/>
                      </a:solidFill>
                      <a:prstDash val="solid"/>
                      <a:round/>
                      <a:headEnd type="none" w="med" len="med"/>
                      <a:tailEnd type="none" w="med" len="med"/>
                    </a:lnR>
                    <a:lnT w="9525" cap="flat" cmpd="sng" algn="ctr">
                      <a:solidFill>
                        <a:srgbClr val="CADCFC"/>
                      </a:solidFill>
                      <a:prstDash val="solid"/>
                      <a:round/>
                      <a:headEnd type="none" w="med" len="med"/>
                      <a:tailEnd type="none" w="med" len="med"/>
                    </a:lnT>
                    <a:lnB w="9525" cap="flat" cmpd="sng" algn="ctr">
                      <a:solidFill>
                        <a:srgbClr val="CADCFC"/>
                      </a:solidFill>
                      <a:prstDash val="solid"/>
                      <a:round/>
                      <a:headEnd type="none" w="med" len="med"/>
                      <a:tailEnd type="none" w="med" len="med"/>
                    </a:lnB>
                    <a:solidFill>
                      <a:srgbClr val="FFFFFF"/>
                    </a:solidFill>
                  </a:tcPr>
                </a:tc>
              </a:tr>
              <a:tr h="658368">
                <a:tc>
                  <a:txBody>
                    <a:bodyPr/>
                    <a:lstStyle/>
                    <a:p>
                      <a:pPr algn="l" indent="0" marL="0">
                        <a:buNone/>
                      </a:pPr>
                      <a:r>
                        <a:rPr lang="en-US" sz="1250" b="1" dirty="0">
                          <a:solidFill>
                            <a:srgbClr val="1E3A8A"/>
                          </a:solidFill>
                          <a:latin typeface="Calibri" pitchFamily="34" charset="0"/>
                          <a:ea typeface="Calibri" pitchFamily="34" charset="-122"/>
                          <a:cs typeface="Calibri" pitchFamily="34" charset="-120"/>
                        </a:rPr>
                        <a:t>Collaboration</a:t>
                      </a:r>
                      <a:endParaRPr lang="en-US" sz="1250" dirty="0">
                        <a:latin typeface="Calibri" charset="0"/>
                        <a:ea typeface="Calibri" charset="0"/>
                        <a:cs typeface="Calibri" charset="0"/>
                      </a:endParaRPr>
                    </a:p>
                  </a:txBody>
                  <a:tcPr marL="91440" marR="91440" marT="45720" marB="45720" anchor="ctr">
                    <a:lnL w="9525" cap="flat" cmpd="sng" algn="ctr">
                      <a:solidFill>
                        <a:srgbClr val="CADCFC"/>
                      </a:solidFill>
                      <a:prstDash val="solid"/>
                      <a:round/>
                      <a:headEnd type="none" w="med" len="med"/>
                      <a:tailEnd type="none" w="med" len="med"/>
                    </a:lnL>
                    <a:lnR w="9525" cap="flat" cmpd="sng" algn="ctr">
                      <a:solidFill>
                        <a:srgbClr val="CADCFC"/>
                      </a:solidFill>
                      <a:prstDash val="solid"/>
                      <a:round/>
                      <a:headEnd type="none" w="med" len="med"/>
                      <a:tailEnd type="none" w="med" len="med"/>
                    </a:lnR>
                    <a:lnT w="9525" cap="flat" cmpd="sng" algn="ctr">
                      <a:solidFill>
                        <a:srgbClr val="CADCFC"/>
                      </a:solidFill>
                      <a:prstDash val="solid"/>
                      <a:round/>
                      <a:headEnd type="none" w="med" len="med"/>
                      <a:tailEnd type="none" w="med" len="med"/>
                    </a:lnT>
                    <a:lnB w="9525" cap="flat" cmpd="sng" algn="ctr">
                      <a:solidFill>
                        <a:srgbClr val="CADCFC"/>
                      </a:solidFill>
                      <a:prstDash val="solid"/>
                      <a:round/>
                      <a:headEnd type="none" w="med" len="med"/>
                      <a:tailEnd type="none" w="med" len="med"/>
                    </a:lnB>
                    <a:solidFill>
                      <a:srgbClr val="F7FAFF"/>
                    </a:solidFill>
                  </a:tcPr>
                </a:tc>
                <a:tc>
                  <a:txBody>
                    <a:bodyPr/>
                    <a:lstStyle/>
                    <a:p>
                      <a:pPr algn="ctr" indent="0" marL="0">
                        <a:buNone/>
                      </a:pPr>
                      <a:r>
                        <a:rPr lang="en-US" sz="1250" dirty="0">
                          <a:solidFill>
                            <a:srgbClr val="1F2937"/>
                          </a:solidFill>
                          <a:latin typeface="Calibri" pitchFamily="34" charset="0"/>
                          <a:ea typeface="Calibri" pitchFamily="34" charset="-122"/>
                          <a:cs typeface="Calibri" pitchFamily="34" charset="-120"/>
                        </a:rPr>
                        <a:t>Safe on shared branches</a:t>
                      </a:r>
                      <a:endParaRPr lang="en-US" sz="1250" dirty="0">
                        <a:latin typeface="Calibri" charset="0"/>
                        <a:ea typeface="Calibri" charset="0"/>
                        <a:cs typeface="Calibri" charset="0"/>
                      </a:endParaRPr>
                    </a:p>
                  </a:txBody>
                  <a:tcPr marL="91440" marR="91440" marT="45720" marB="45720" anchor="ctr">
                    <a:lnL w="9525" cap="flat" cmpd="sng" algn="ctr">
                      <a:solidFill>
                        <a:srgbClr val="CADCFC"/>
                      </a:solidFill>
                      <a:prstDash val="solid"/>
                      <a:round/>
                      <a:headEnd type="none" w="med" len="med"/>
                      <a:tailEnd type="none" w="med" len="med"/>
                    </a:lnL>
                    <a:lnR w="9525" cap="flat" cmpd="sng" algn="ctr">
                      <a:solidFill>
                        <a:srgbClr val="CADCFC"/>
                      </a:solidFill>
                      <a:prstDash val="solid"/>
                      <a:round/>
                      <a:headEnd type="none" w="med" len="med"/>
                      <a:tailEnd type="none" w="med" len="med"/>
                    </a:lnR>
                    <a:lnT w="9525" cap="flat" cmpd="sng" algn="ctr">
                      <a:solidFill>
                        <a:srgbClr val="CADCFC"/>
                      </a:solidFill>
                      <a:prstDash val="solid"/>
                      <a:round/>
                      <a:headEnd type="none" w="med" len="med"/>
                      <a:tailEnd type="none" w="med" len="med"/>
                    </a:lnT>
                    <a:lnB w="9525" cap="flat" cmpd="sng" algn="ctr">
                      <a:solidFill>
                        <a:srgbClr val="CADCFC"/>
                      </a:solidFill>
                      <a:prstDash val="solid"/>
                      <a:round/>
                      <a:headEnd type="none" w="med" len="med"/>
                      <a:tailEnd type="none" w="med" len="med"/>
                    </a:lnB>
                    <a:solidFill>
                      <a:srgbClr val="F7FAFF"/>
                    </a:solidFill>
                  </a:tcPr>
                </a:tc>
                <a:tc>
                  <a:txBody>
                    <a:bodyPr/>
                    <a:lstStyle/>
                    <a:p>
                      <a:pPr algn="ctr" indent="0" marL="0">
                        <a:buNone/>
                      </a:pPr>
                      <a:r>
                        <a:rPr lang="en-US" sz="1250" dirty="0">
                          <a:solidFill>
                            <a:srgbClr val="1F2937"/>
                          </a:solidFill>
                          <a:latin typeface="Calibri" pitchFamily="34" charset="0"/>
                          <a:ea typeface="Calibri" pitchFamily="34" charset="-122"/>
                          <a:cs typeface="Calibri" pitchFamily="34" charset="-120"/>
                        </a:rPr>
                        <a:t>Best for local/private branches</a:t>
                      </a:r>
                      <a:endParaRPr lang="en-US" sz="1250" dirty="0">
                        <a:latin typeface="Calibri" charset="0"/>
                        <a:ea typeface="Calibri" charset="0"/>
                        <a:cs typeface="Calibri" charset="0"/>
                      </a:endParaRPr>
                    </a:p>
                  </a:txBody>
                  <a:tcPr marL="91440" marR="91440" marT="45720" marB="45720" anchor="ctr">
                    <a:lnL w="9525" cap="flat" cmpd="sng" algn="ctr">
                      <a:solidFill>
                        <a:srgbClr val="CADCFC"/>
                      </a:solidFill>
                      <a:prstDash val="solid"/>
                      <a:round/>
                      <a:headEnd type="none" w="med" len="med"/>
                      <a:tailEnd type="none" w="med" len="med"/>
                    </a:lnL>
                    <a:lnR w="9525" cap="flat" cmpd="sng" algn="ctr">
                      <a:solidFill>
                        <a:srgbClr val="CADCFC"/>
                      </a:solidFill>
                      <a:prstDash val="solid"/>
                      <a:round/>
                      <a:headEnd type="none" w="med" len="med"/>
                      <a:tailEnd type="none" w="med" len="med"/>
                    </a:lnR>
                    <a:lnT w="9525" cap="flat" cmpd="sng" algn="ctr">
                      <a:solidFill>
                        <a:srgbClr val="CADCFC"/>
                      </a:solidFill>
                      <a:prstDash val="solid"/>
                      <a:round/>
                      <a:headEnd type="none" w="med" len="med"/>
                      <a:tailEnd type="none" w="med" len="med"/>
                    </a:lnT>
                    <a:lnB w="9525" cap="flat" cmpd="sng" algn="ctr">
                      <a:solidFill>
                        <a:srgbClr val="CADCFC"/>
                      </a:solidFill>
                      <a:prstDash val="solid"/>
                      <a:round/>
                      <a:headEnd type="none" w="med" len="med"/>
                      <a:tailEnd type="none" w="med" len="med"/>
                    </a:lnB>
                    <a:solidFill>
                      <a:srgbClr val="F7FAFF"/>
                    </a:solidFill>
                  </a:tcPr>
                </a:tc>
              </a:tr>
              <a:tr h="658368">
                <a:tc>
                  <a:txBody>
                    <a:bodyPr/>
                    <a:lstStyle/>
                    <a:p>
                      <a:pPr algn="l" indent="0" marL="0">
                        <a:buNone/>
                      </a:pPr>
                      <a:r>
                        <a:rPr lang="en-US" sz="1250" b="1" dirty="0">
                          <a:solidFill>
                            <a:srgbClr val="1E3A8A"/>
                          </a:solidFill>
                          <a:latin typeface="Calibri" pitchFamily="34" charset="0"/>
                          <a:ea typeface="Calibri" pitchFamily="34" charset="-122"/>
                          <a:cs typeface="Calibri" pitchFamily="34" charset="-120"/>
                        </a:rPr>
                        <a:t>Complexity</a:t>
                      </a:r>
                      <a:endParaRPr lang="en-US" sz="1250" dirty="0">
                        <a:latin typeface="Calibri" charset="0"/>
                        <a:ea typeface="Calibri" charset="0"/>
                        <a:cs typeface="Calibri" charset="0"/>
                      </a:endParaRPr>
                    </a:p>
                  </a:txBody>
                  <a:tcPr marL="91440" marR="91440" marT="45720" marB="45720" anchor="ctr">
                    <a:lnL w="9525" cap="flat" cmpd="sng" algn="ctr">
                      <a:solidFill>
                        <a:srgbClr val="CADCFC"/>
                      </a:solidFill>
                      <a:prstDash val="solid"/>
                      <a:round/>
                      <a:headEnd type="none" w="med" len="med"/>
                      <a:tailEnd type="none" w="med" len="med"/>
                    </a:lnL>
                    <a:lnR w="9525" cap="flat" cmpd="sng" algn="ctr">
                      <a:solidFill>
                        <a:srgbClr val="CADCFC"/>
                      </a:solidFill>
                      <a:prstDash val="solid"/>
                      <a:round/>
                      <a:headEnd type="none" w="med" len="med"/>
                      <a:tailEnd type="none" w="med" len="med"/>
                    </a:lnR>
                    <a:lnT w="9525" cap="flat" cmpd="sng" algn="ctr">
                      <a:solidFill>
                        <a:srgbClr val="CADCFC"/>
                      </a:solidFill>
                      <a:prstDash val="solid"/>
                      <a:round/>
                      <a:headEnd type="none" w="med" len="med"/>
                      <a:tailEnd type="none" w="med" len="med"/>
                    </a:lnT>
                    <a:lnB w="9525" cap="flat" cmpd="sng" algn="ctr">
                      <a:solidFill>
                        <a:srgbClr val="CADCFC"/>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F2937"/>
                          </a:solidFill>
                          <a:latin typeface="Calibri" pitchFamily="34" charset="0"/>
                          <a:ea typeface="Calibri" pitchFamily="34" charset="-122"/>
                          <a:cs typeface="Calibri" pitchFamily="34" charset="-120"/>
                        </a:rPr>
                        <a:t>Simple, low learning curve</a:t>
                      </a:r>
                      <a:endParaRPr lang="en-US" sz="1250" dirty="0">
                        <a:latin typeface="Calibri" charset="0"/>
                        <a:ea typeface="Calibri" charset="0"/>
                        <a:cs typeface="Calibri" charset="0"/>
                      </a:endParaRPr>
                    </a:p>
                  </a:txBody>
                  <a:tcPr marL="91440" marR="91440" marT="45720" marB="45720" anchor="ctr">
                    <a:lnL w="9525" cap="flat" cmpd="sng" algn="ctr">
                      <a:solidFill>
                        <a:srgbClr val="CADCFC"/>
                      </a:solidFill>
                      <a:prstDash val="solid"/>
                      <a:round/>
                      <a:headEnd type="none" w="med" len="med"/>
                      <a:tailEnd type="none" w="med" len="med"/>
                    </a:lnL>
                    <a:lnR w="9525" cap="flat" cmpd="sng" algn="ctr">
                      <a:solidFill>
                        <a:srgbClr val="CADCFC"/>
                      </a:solidFill>
                      <a:prstDash val="solid"/>
                      <a:round/>
                      <a:headEnd type="none" w="med" len="med"/>
                      <a:tailEnd type="none" w="med" len="med"/>
                    </a:lnR>
                    <a:lnT w="9525" cap="flat" cmpd="sng" algn="ctr">
                      <a:solidFill>
                        <a:srgbClr val="CADCFC"/>
                      </a:solidFill>
                      <a:prstDash val="solid"/>
                      <a:round/>
                      <a:headEnd type="none" w="med" len="med"/>
                      <a:tailEnd type="none" w="med" len="med"/>
                    </a:lnT>
                    <a:lnB w="9525" cap="flat" cmpd="sng" algn="ctr">
                      <a:solidFill>
                        <a:srgbClr val="CADCFC"/>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1F2937"/>
                          </a:solidFill>
                          <a:latin typeface="Calibri" pitchFamily="34" charset="0"/>
                          <a:ea typeface="Calibri" pitchFamily="34" charset="-122"/>
                          <a:cs typeface="Calibri" pitchFamily="34" charset="-120"/>
                        </a:rPr>
                        <a:t>Requires more Git understanding</a:t>
                      </a:r>
                      <a:endParaRPr lang="en-US" sz="1250" dirty="0">
                        <a:latin typeface="Calibri" charset="0"/>
                        <a:ea typeface="Calibri" charset="0"/>
                        <a:cs typeface="Calibri" charset="0"/>
                      </a:endParaRPr>
                    </a:p>
                  </a:txBody>
                  <a:tcPr marL="91440" marR="91440" marT="45720" marB="45720" anchor="ctr">
                    <a:lnL w="9525" cap="flat" cmpd="sng" algn="ctr">
                      <a:solidFill>
                        <a:srgbClr val="CADCFC"/>
                      </a:solidFill>
                      <a:prstDash val="solid"/>
                      <a:round/>
                      <a:headEnd type="none" w="med" len="med"/>
                      <a:tailEnd type="none" w="med" len="med"/>
                    </a:lnL>
                    <a:lnR w="9525" cap="flat" cmpd="sng" algn="ctr">
                      <a:solidFill>
                        <a:srgbClr val="CADCFC"/>
                      </a:solidFill>
                      <a:prstDash val="solid"/>
                      <a:round/>
                      <a:headEnd type="none" w="med" len="med"/>
                      <a:tailEnd type="none" w="med" len="med"/>
                    </a:lnR>
                    <a:lnT w="9525" cap="flat" cmpd="sng" algn="ctr">
                      <a:solidFill>
                        <a:srgbClr val="CADCFC"/>
                      </a:solidFill>
                      <a:prstDash val="solid"/>
                      <a:round/>
                      <a:headEnd type="none" w="med" len="med"/>
                      <a:tailEnd type="none" w="med" len="med"/>
                    </a:lnT>
                    <a:lnB w="9525" cap="flat" cmpd="sng" algn="ctr">
                      <a:solidFill>
                        <a:srgbClr val="CADCFC"/>
                      </a:solidFill>
                      <a:prstDash val="solid"/>
                      <a:round/>
                      <a:headEnd type="none" w="med" len="med"/>
                      <a:tailEnd type="none" w="med" len="med"/>
                    </a:lnB>
                    <a:solidFill>
                      <a:srgbClr val="FFFFFF"/>
                    </a:solidFill>
                  </a:tcPr>
                </a:tc>
              </a:tr>
              <a:tr h="658368">
                <a:tc>
                  <a:txBody>
                    <a:bodyPr/>
                    <a:lstStyle/>
                    <a:p>
                      <a:pPr algn="l" indent="0" marL="0">
                        <a:buNone/>
                      </a:pPr>
                      <a:r>
                        <a:rPr lang="en-US" sz="1250" b="1" dirty="0">
                          <a:solidFill>
                            <a:srgbClr val="1E3A8A"/>
                          </a:solidFill>
                          <a:latin typeface="Calibri" pitchFamily="34" charset="0"/>
                          <a:ea typeface="Calibri" pitchFamily="34" charset="-122"/>
                          <a:cs typeface="Calibri" pitchFamily="34" charset="-120"/>
                        </a:rPr>
                        <a:t>Risk level</a:t>
                      </a:r>
                      <a:endParaRPr lang="en-US" sz="1250" dirty="0">
                        <a:latin typeface="Calibri" charset="0"/>
                        <a:ea typeface="Calibri" charset="0"/>
                        <a:cs typeface="Calibri" charset="0"/>
                      </a:endParaRPr>
                    </a:p>
                  </a:txBody>
                  <a:tcPr marL="91440" marR="91440" marT="45720" marB="45720" anchor="ctr">
                    <a:lnL w="9525" cap="flat" cmpd="sng" algn="ctr">
                      <a:solidFill>
                        <a:srgbClr val="CADCFC"/>
                      </a:solidFill>
                      <a:prstDash val="solid"/>
                      <a:round/>
                      <a:headEnd type="none" w="med" len="med"/>
                      <a:tailEnd type="none" w="med" len="med"/>
                    </a:lnL>
                    <a:lnR w="9525" cap="flat" cmpd="sng" algn="ctr">
                      <a:solidFill>
                        <a:srgbClr val="CADCFC"/>
                      </a:solidFill>
                      <a:prstDash val="solid"/>
                      <a:round/>
                      <a:headEnd type="none" w="med" len="med"/>
                      <a:tailEnd type="none" w="med" len="med"/>
                    </a:lnR>
                    <a:lnT w="9525" cap="flat" cmpd="sng" algn="ctr">
                      <a:solidFill>
                        <a:srgbClr val="CADCFC"/>
                      </a:solidFill>
                      <a:prstDash val="solid"/>
                      <a:round/>
                      <a:headEnd type="none" w="med" len="med"/>
                      <a:tailEnd type="none" w="med" len="med"/>
                    </a:lnT>
                    <a:lnB w="9525" cap="flat" cmpd="sng" algn="ctr">
                      <a:solidFill>
                        <a:srgbClr val="CADCFC"/>
                      </a:solidFill>
                      <a:prstDash val="solid"/>
                      <a:round/>
                      <a:headEnd type="none" w="med" len="med"/>
                      <a:tailEnd type="none" w="med" len="med"/>
                    </a:lnB>
                    <a:solidFill>
                      <a:srgbClr val="F7FAFF"/>
                    </a:solidFill>
                  </a:tcPr>
                </a:tc>
                <a:tc>
                  <a:txBody>
                    <a:bodyPr/>
                    <a:lstStyle/>
                    <a:p>
                      <a:pPr algn="ctr" indent="0" marL="0">
                        <a:buNone/>
                      </a:pPr>
                      <a:r>
                        <a:rPr lang="en-US" sz="1250" dirty="0">
                          <a:solidFill>
                            <a:srgbClr val="1F2937"/>
                          </a:solidFill>
                          <a:latin typeface="Calibri" pitchFamily="34" charset="0"/>
                          <a:ea typeface="Calibri" pitchFamily="34" charset="-122"/>
                          <a:cs typeface="Calibri" pitchFamily="34" charset="-120"/>
                        </a:rPr>
                        <a:t>Low risk</a:t>
                      </a:r>
                      <a:endParaRPr lang="en-US" sz="1250" dirty="0">
                        <a:latin typeface="Calibri" charset="0"/>
                        <a:ea typeface="Calibri" charset="0"/>
                        <a:cs typeface="Calibri" charset="0"/>
                      </a:endParaRPr>
                    </a:p>
                  </a:txBody>
                  <a:tcPr marL="91440" marR="91440" marT="45720" marB="45720" anchor="ctr">
                    <a:lnL w="9525" cap="flat" cmpd="sng" algn="ctr">
                      <a:solidFill>
                        <a:srgbClr val="CADCFC"/>
                      </a:solidFill>
                      <a:prstDash val="solid"/>
                      <a:round/>
                      <a:headEnd type="none" w="med" len="med"/>
                      <a:tailEnd type="none" w="med" len="med"/>
                    </a:lnL>
                    <a:lnR w="9525" cap="flat" cmpd="sng" algn="ctr">
                      <a:solidFill>
                        <a:srgbClr val="CADCFC"/>
                      </a:solidFill>
                      <a:prstDash val="solid"/>
                      <a:round/>
                      <a:headEnd type="none" w="med" len="med"/>
                      <a:tailEnd type="none" w="med" len="med"/>
                    </a:lnR>
                    <a:lnT w="9525" cap="flat" cmpd="sng" algn="ctr">
                      <a:solidFill>
                        <a:srgbClr val="CADCFC"/>
                      </a:solidFill>
                      <a:prstDash val="solid"/>
                      <a:round/>
                      <a:headEnd type="none" w="med" len="med"/>
                      <a:tailEnd type="none" w="med" len="med"/>
                    </a:lnT>
                    <a:lnB w="9525" cap="flat" cmpd="sng" algn="ctr">
                      <a:solidFill>
                        <a:srgbClr val="CADCFC"/>
                      </a:solidFill>
                      <a:prstDash val="solid"/>
                      <a:round/>
                      <a:headEnd type="none" w="med" len="med"/>
                      <a:tailEnd type="none" w="med" len="med"/>
                    </a:lnB>
                    <a:solidFill>
                      <a:srgbClr val="F7FAFF"/>
                    </a:solidFill>
                  </a:tcPr>
                </a:tc>
                <a:tc>
                  <a:txBody>
                    <a:bodyPr/>
                    <a:lstStyle/>
                    <a:p>
                      <a:pPr algn="ctr" indent="0" marL="0">
                        <a:buNone/>
                      </a:pPr>
                      <a:r>
                        <a:rPr lang="en-US" sz="1250" dirty="0">
                          <a:solidFill>
                            <a:srgbClr val="1F2937"/>
                          </a:solidFill>
                          <a:latin typeface="Calibri" pitchFamily="34" charset="0"/>
                          <a:ea typeface="Calibri" pitchFamily="34" charset="-122"/>
                          <a:cs typeface="Calibri" pitchFamily="34" charset="-120"/>
                        </a:rPr>
                        <a:t>Higher risk (history rewrite)</a:t>
                      </a:r>
                      <a:endParaRPr lang="en-US" sz="1250" dirty="0">
                        <a:latin typeface="Calibri" charset="0"/>
                        <a:ea typeface="Calibri" charset="0"/>
                        <a:cs typeface="Calibri" charset="0"/>
                      </a:endParaRPr>
                    </a:p>
                  </a:txBody>
                  <a:tcPr marL="91440" marR="91440" marT="45720" marB="45720" anchor="ctr">
                    <a:lnL w="9525" cap="flat" cmpd="sng" algn="ctr">
                      <a:solidFill>
                        <a:srgbClr val="CADCFC"/>
                      </a:solidFill>
                      <a:prstDash val="solid"/>
                      <a:round/>
                      <a:headEnd type="none" w="med" len="med"/>
                      <a:tailEnd type="none" w="med" len="med"/>
                    </a:lnL>
                    <a:lnR w="9525" cap="flat" cmpd="sng" algn="ctr">
                      <a:solidFill>
                        <a:srgbClr val="CADCFC"/>
                      </a:solidFill>
                      <a:prstDash val="solid"/>
                      <a:round/>
                      <a:headEnd type="none" w="med" len="med"/>
                      <a:tailEnd type="none" w="med" len="med"/>
                    </a:lnR>
                    <a:lnT w="9525" cap="flat" cmpd="sng" algn="ctr">
                      <a:solidFill>
                        <a:srgbClr val="CADCFC"/>
                      </a:solidFill>
                      <a:prstDash val="solid"/>
                      <a:round/>
                      <a:headEnd type="none" w="med" len="med"/>
                      <a:tailEnd type="none" w="med" len="med"/>
                    </a:lnT>
                    <a:lnB w="9525" cap="flat" cmpd="sng" algn="ctr">
                      <a:solidFill>
                        <a:srgbClr val="CADCFC"/>
                      </a:solidFill>
                      <a:prstDash val="solid"/>
                      <a:round/>
                      <a:headEnd type="none" w="med" len="med"/>
                      <a:tailEnd type="none" w="med" len="med"/>
                    </a:lnB>
                    <a:solidFill>
                      <a:srgbClr val="F7FAFF"/>
                    </a:solidFill>
                  </a:tcPr>
                </a:tc>
              </a:tr>
            </a:tbl>
          </a:graphicData>
        </a:graphic>
      </p:graphicFrame>
      <p:sp>
        <p:nvSpPr>
          <p:cNvPr id="6" name="Text 3"/>
          <p:cNvSpPr/>
          <p:nvPr/>
        </p:nvSpPr>
        <p:spPr>
          <a:xfrm>
            <a:off x="457200" y="6492240"/>
            <a:ext cx="4572000" cy="27432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Merge vs Rebase in Git</a:t>
            </a:r>
            <a:endParaRPr lang="en-US" sz="900" dirty="0"/>
          </a:p>
        </p:txBody>
      </p:sp>
      <p:sp>
        <p:nvSpPr>
          <p:cNvPr id="7" name="Text 4"/>
          <p:cNvSpPr/>
          <p:nvPr/>
        </p:nvSpPr>
        <p:spPr>
          <a:xfrm>
            <a:off x="11277295" y="6492240"/>
            <a:ext cx="457200" cy="274320"/>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8686800" cy="640080"/>
          </a:xfrm>
          <a:prstGeom prst="rect">
            <a:avLst/>
          </a:prstGeom>
          <a:noFill/>
          <a:ln/>
        </p:spPr>
        <p:txBody>
          <a:bodyPr wrap="square" rtlCol="0" anchor="ctr"/>
          <a:lstStyle/>
          <a:p>
            <a:pPr indent="0" marL="0">
              <a:buNone/>
            </a:pPr>
            <a:r>
              <a:rPr lang="en-US" sz="2800" b="1" dirty="0">
                <a:solidFill>
                  <a:srgbClr val="1E3A8A"/>
                </a:solidFill>
                <a:latin typeface="Calibri" pitchFamily="34" charset="0"/>
                <a:ea typeface="Calibri" pitchFamily="34" charset="-122"/>
                <a:cs typeface="Calibri" pitchFamily="34" charset="-120"/>
              </a:rPr>
              <a:t>Advantages &amp; Disadvantages</a:t>
            </a:r>
            <a:endParaRPr lang="en-US" sz="2800" dirty="0"/>
          </a:p>
        </p:txBody>
      </p:sp>
      <p:sp>
        <p:nvSpPr>
          <p:cNvPr id="3" name="Shape 1"/>
          <p:cNvSpPr/>
          <p:nvPr/>
        </p:nvSpPr>
        <p:spPr>
          <a:xfrm>
            <a:off x="10058400" y="502920"/>
            <a:ext cx="1554480" cy="292608"/>
          </a:xfrm>
          <a:prstGeom prst="roundRect">
            <a:avLst>
              <a:gd name="adj" fmla="val 50000"/>
            </a:avLst>
          </a:prstGeom>
          <a:solidFill>
            <a:srgbClr val="F05133"/>
          </a:solidFill>
          <a:ln/>
        </p:spPr>
      </p:sp>
      <p:sp>
        <p:nvSpPr>
          <p:cNvPr id="4" name="Text 2"/>
          <p:cNvSpPr/>
          <p:nvPr/>
        </p:nvSpPr>
        <p:spPr>
          <a:xfrm>
            <a:off x="10058400" y="502920"/>
            <a:ext cx="1554480" cy="292608"/>
          </a:xfrm>
          <a:prstGeom prst="rect">
            <a:avLst/>
          </a:prstGeom>
          <a:noFill/>
          <a:ln/>
        </p:spPr>
        <p:txBody>
          <a:bodyPr wrap="square"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TRADE-OFFS</a:t>
            </a:r>
            <a:endParaRPr lang="en-US" sz="1050" dirty="0"/>
          </a:p>
        </p:txBody>
      </p:sp>
      <p:sp>
        <p:nvSpPr>
          <p:cNvPr id="5" name="Shape 3"/>
          <p:cNvSpPr/>
          <p:nvPr/>
        </p:nvSpPr>
        <p:spPr>
          <a:xfrm>
            <a:off x="502920" y="1417320"/>
            <a:ext cx="5486400" cy="3566160"/>
          </a:xfrm>
          <a:prstGeom prst="roundRect">
            <a:avLst>
              <a:gd name="adj" fmla="val 2308"/>
            </a:avLst>
          </a:prstGeom>
          <a:solidFill>
            <a:srgbClr val="F7FAFF"/>
          </a:solidFill>
          <a:ln w="12700">
            <a:solidFill>
              <a:srgbClr val="CADCFC"/>
            </a:solidFill>
            <a:prstDash val="solid"/>
          </a:ln>
        </p:spPr>
      </p:sp>
      <p:sp>
        <p:nvSpPr>
          <p:cNvPr id="6" name="Text 4"/>
          <p:cNvSpPr/>
          <p:nvPr/>
        </p:nvSpPr>
        <p:spPr>
          <a:xfrm>
            <a:off x="731520" y="1581912"/>
            <a:ext cx="5029200" cy="365760"/>
          </a:xfrm>
          <a:prstGeom prst="rect">
            <a:avLst/>
          </a:prstGeom>
          <a:noFill/>
          <a:ln/>
        </p:spPr>
        <p:txBody>
          <a:bodyPr wrap="square" rtlCol="0" anchor="ctr"/>
          <a:lstStyle/>
          <a:p>
            <a:pPr indent="0" marL="0">
              <a:buNone/>
            </a:pPr>
            <a:r>
              <a:rPr lang="en-US" sz="1500" b="1" dirty="0">
                <a:solidFill>
                  <a:srgbClr val="1E3A8A"/>
                </a:solidFill>
                <a:latin typeface="Calibri" pitchFamily="34" charset="0"/>
                <a:ea typeface="Calibri" pitchFamily="34" charset="-122"/>
                <a:cs typeface="Calibri" pitchFamily="34" charset="-120"/>
              </a:rPr>
              <a:t>Merge</a:t>
            </a:r>
            <a:endParaRPr lang="en-US" sz="1500" dirty="0"/>
          </a:p>
        </p:txBody>
      </p:sp>
      <p:sp>
        <p:nvSpPr>
          <p:cNvPr id="7" name="Shape 5"/>
          <p:cNvSpPr/>
          <p:nvPr/>
        </p:nvSpPr>
        <p:spPr>
          <a:xfrm>
            <a:off x="731520" y="2039112"/>
            <a:ext cx="237744" cy="237744"/>
          </a:xfrm>
          <a:prstGeom prst="ellipse">
            <a:avLst/>
          </a:prstGeom>
          <a:solidFill>
            <a:srgbClr val="1E8E5A"/>
          </a:solidFill>
          <a:ln/>
        </p:spPr>
      </p:sp>
      <p:sp>
        <p:nvSpPr>
          <p:cNvPr id="8" name="Text 6"/>
          <p:cNvSpPr/>
          <p:nvPr/>
        </p:nvSpPr>
        <p:spPr>
          <a:xfrm>
            <a:off x="731520" y="2025396"/>
            <a:ext cx="237744" cy="237744"/>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t>
            </a:r>
            <a:endParaRPr lang="en-US" sz="1200" dirty="0"/>
          </a:p>
        </p:txBody>
      </p:sp>
      <p:sp>
        <p:nvSpPr>
          <p:cNvPr id="9" name="Text 7"/>
          <p:cNvSpPr/>
          <p:nvPr/>
        </p:nvSpPr>
        <p:spPr>
          <a:xfrm>
            <a:off x="1097280" y="1984248"/>
            <a:ext cx="4617720" cy="457200"/>
          </a:xfrm>
          <a:prstGeom prst="rect">
            <a:avLst/>
          </a:prstGeom>
          <a:noFill/>
          <a:ln/>
        </p:spPr>
        <p:txBody>
          <a:bodyPr wrap="square" rtlCol="0" anchor="t"/>
          <a:lstStyle/>
          <a:p>
            <a:pPr indent="0" marL="0">
              <a:lnSpc>
                <a:spcPct val="105000"/>
              </a:lnSpc>
              <a:buNone/>
            </a:pPr>
            <a:r>
              <a:rPr lang="en-US" sz="1250" dirty="0">
                <a:solidFill>
                  <a:srgbClr val="1F2937"/>
                </a:solidFill>
                <a:latin typeface="Calibri" pitchFamily="34" charset="0"/>
                <a:ea typeface="Calibri" pitchFamily="34" charset="-122"/>
                <a:cs typeface="Calibri" pitchFamily="34" charset="-120"/>
              </a:rPr>
              <a:t>Preserves full, accurate history</a:t>
            </a:r>
            <a:endParaRPr lang="en-US" sz="1250" dirty="0"/>
          </a:p>
        </p:txBody>
      </p:sp>
      <p:sp>
        <p:nvSpPr>
          <p:cNvPr id="10" name="Shape 8"/>
          <p:cNvSpPr/>
          <p:nvPr/>
        </p:nvSpPr>
        <p:spPr>
          <a:xfrm>
            <a:off x="731520" y="2606040"/>
            <a:ext cx="237744" cy="237744"/>
          </a:xfrm>
          <a:prstGeom prst="ellipse">
            <a:avLst/>
          </a:prstGeom>
          <a:solidFill>
            <a:srgbClr val="1E8E5A"/>
          </a:solidFill>
          <a:ln/>
        </p:spPr>
      </p:sp>
      <p:sp>
        <p:nvSpPr>
          <p:cNvPr id="11" name="Text 9"/>
          <p:cNvSpPr/>
          <p:nvPr/>
        </p:nvSpPr>
        <p:spPr>
          <a:xfrm>
            <a:off x="731520" y="2592324"/>
            <a:ext cx="237744" cy="237744"/>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t>
            </a:r>
            <a:endParaRPr lang="en-US" sz="1200" dirty="0"/>
          </a:p>
        </p:txBody>
      </p:sp>
      <p:sp>
        <p:nvSpPr>
          <p:cNvPr id="12" name="Text 10"/>
          <p:cNvSpPr/>
          <p:nvPr/>
        </p:nvSpPr>
        <p:spPr>
          <a:xfrm>
            <a:off x="1097280" y="2551176"/>
            <a:ext cx="4617720" cy="457200"/>
          </a:xfrm>
          <a:prstGeom prst="rect">
            <a:avLst/>
          </a:prstGeom>
          <a:noFill/>
          <a:ln/>
        </p:spPr>
        <p:txBody>
          <a:bodyPr wrap="square" rtlCol="0" anchor="t"/>
          <a:lstStyle/>
          <a:p>
            <a:pPr indent="0" marL="0">
              <a:lnSpc>
                <a:spcPct val="105000"/>
              </a:lnSpc>
              <a:buNone/>
            </a:pPr>
            <a:r>
              <a:rPr lang="en-US" sz="1250" dirty="0">
                <a:solidFill>
                  <a:srgbClr val="1F2937"/>
                </a:solidFill>
                <a:latin typeface="Calibri" pitchFamily="34" charset="0"/>
                <a:ea typeface="Calibri" pitchFamily="34" charset="-122"/>
                <a:cs typeface="Calibri" pitchFamily="34" charset="-120"/>
              </a:rPr>
              <a:t>Safe for shared/public branches</a:t>
            </a:r>
            <a:endParaRPr lang="en-US" sz="1250" dirty="0"/>
          </a:p>
        </p:txBody>
      </p:sp>
      <p:sp>
        <p:nvSpPr>
          <p:cNvPr id="13" name="Shape 11"/>
          <p:cNvSpPr/>
          <p:nvPr/>
        </p:nvSpPr>
        <p:spPr>
          <a:xfrm>
            <a:off x="731520" y="3172968"/>
            <a:ext cx="237744" cy="237744"/>
          </a:xfrm>
          <a:prstGeom prst="ellipse">
            <a:avLst/>
          </a:prstGeom>
          <a:solidFill>
            <a:srgbClr val="C0392B"/>
          </a:solidFill>
          <a:ln/>
        </p:spPr>
      </p:sp>
      <p:sp>
        <p:nvSpPr>
          <p:cNvPr id="14" name="Text 12"/>
          <p:cNvSpPr/>
          <p:nvPr/>
        </p:nvSpPr>
        <p:spPr>
          <a:xfrm>
            <a:off x="731520" y="3159252"/>
            <a:ext cx="237744" cy="237744"/>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t>
            </a:r>
            <a:endParaRPr lang="en-US" sz="1200" dirty="0"/>
          </a:p>
        </p:txBody>
      </p:sp>
      <p:sp>
        <p:nvSpPr>
          <p:cNvPr id="15" name="Text 13"/>
          <p:cNvSpPr/>
          <p:nvPr/>
        </p:nvSpPr>
        <p:spPr>
          <a:xfrm>
            <a:off x="1097280" y="3118104"/>
            <a:ext cx="4617720" cy="457200"/>
          </a:xfrm>
          <a:prstGeom prst="rect">
            <a:avLst/>
          </a:prstGeom>
          <a:noFill/>
          <a:ln/>
        </p:spPr>
        <p:txBody>
          <a:bodyPr wrap="square" rtlCol="0" anchor="t"/>
          <a:lstStyle/>
          <a:p>
            <a:pPr indent="0" marL="0">
              <a:lnSpc>
                <a:spcPct val="105000"/>
              </a:lnSpc>
              <a:buNone/>
            </a:pPr>
            <a:r>
              <a:rPr lang="en-US" sz="1250" dirty="0">
                <a:solidFill>
                  <a:srgbClr val="1F2937"/>
                </a:solidFill>
                <a:latin typeface="Calibri" pitchFamily="34" charset="0"/>
                <a:ea typeface="Calibri" pitchFamily="34" charset="-122"/>
                <a:cs typeface="Calibri" pitchFamily="34" charset="-120"/>
              </a:rPr>
              <a:t>Commit log can get cluttered</a:t>
            </a:r>
            <a:endParaRPr lang="en-US" sz="1250" dirty="0"/>
          </a:p>
        </p:txBody>
      </p:sp>
      <p:sp>
        <p:nvSpPr>
          <p:cNvPr id="16" name="Shape 14"/>
          <p:cNvSpPr/>
          <p:nvPr/>
        </p:nvSpPr>
        <p:spPr>
          <a:xfrm>
            <a:off x="731520" y="3739896"/>
            <a:ext cx="237744" cy="237744"/>
          </a:xfrm>
          <a:prstGeom prst="ellipse">
            <a:avLst/>
          </a:prstGeom>
          <a:solidFill>
            <a:srgbClr val="C0392B"/>
          </a:solidFill>
          <a:ln/>
        </p:spPr>
      </p:sp>
      <p:sp>
        <p:nvSpPr>
          <p:cNvPr id="17" name="Text 15"/>
          <p:cNvSpPr/>
          <p:nvPr/>
        </p:nvSpPr>
        <p:spPr>
          <a:xfrm>
            <a:off x="731520" y="3726180"/>
            <a:ext cx="237744" cy="237744"/>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t>
            </a:r>
            <a:endParaRPr lang="en-US" sz="1200" dirty="0"/>
          </a:p>
        </p:txBody>
      </p:sp>
      <p:sp>
        <p:nvSpPr>
          <p:cNvPr id="18" name="Text 16"/>
          <p:cNvSpPr/>
          <p:nvPr/>
        </p:nvSpPr>
        <p:spPr>
          <a:xfrm>
            <a:off x="1097280" y="3685032"/>
            <a:ext cx="4617720" cy="457200"/>
          </a:xfrm>
          <a:prstGeom prst="rect">
            <a:avLst/>
          </a:prstGeom>
          <a:noFill/>
          <a:ln/>
        </p:spPr>
        <p:txBody>
          <a:bodyPr wrap="square" rtlCol="0" anchor="t"/>
          <a:lstStyle/>
          <a:p>
            <a:pPr indent="0" marL="0">
              <a:lnSpc>
                <a:spcPct val="105000"/>
              </a:lnSpc>
              <a:buNone/>
            </a:pPr>
            <a:r>
              <a:rPr lang="en-US" sz="1250" dirty="0">
                <a:solidFill>
                  <a:srgbClr val="1F2937"/>
                </a:solidFill>
                <a:latin typeface="Calibri" pitchFamily="34" charset="0"/>
                <a:ea typeface="Calibri" pitchFamily="34" charset="-122"/>
                <a:cs typeface="Calibri" pitchFamily="34" charset="-120"/>
              </a:rPr>
              <a:t>Extra merge commits add noise</a:t>
            </a:r>
            <a:endParaRPr lang="en-US" sz="1250" dirty="0"/>
          </a:p>
        </p:txBody>
      </p:sp>
      <p:sp>
        <p:nvSpPr>
          <p:cNvPr id="19" name="Shape 17"/>
          <p:cNvSpPr/>
          <p:nvPr/>
        </p:nvSpPr>
        <p:spPr>
          <a:xfrm>
            <a:off x="6172200" y="1417320"/>
            <a:ext cx="5486400" cy="3566160"/>
          </a:xfrm>
          <a:prstGeom prst="roundRect">
            <a:avLst>
              <a:gd name="adj" fmla="val 2308"/>
            </a:avLst>
          </a:prstGeom>
          <a:solidFill>
            <a:srgbClr val="F7FAFF"/>
          </a:solidFill>
          <a:ln w="12700">
            <a:solidFill>
              <a:srgbClr val="CADCFC"/>
            </a:solidFill>
            <a:prstDash val="solid"/>
          </a:ln>
        </p:spPr>
      </p:sp>
      <p:sp>
        <p:nvSpPr>
          <p:cNvPr id="20" name="Text 18"/>
          <p:cNvSpPr/>
          <p:nvPr/>
        </p:nvSpPr>
        <p:spPr>
          <a:xfrm>
            <a:off x="6400800" y="1581912"/>
            <a:ext cx="5029200" cy="365760"/>
          </a:xfrm>
          <a:prstGeom prst="rect">
            <a:avLst/>
          </a:prstGeom>
          <a:noFill/>
          <a:ln/>
        </p:spPr>
        <p:txBody>
          <a:bodyPr wrap="square" rtlCol="0" anchor="ctr"/>
          <a:lstStyle/>
          <a:p>
            <a:pPr indent="0" marL="0">
              <a:buNone/>
            </a:pPr>
            <a:r>
              <a:rPr lang="en-US" sz="1500" b="1" dirty="0">
                <a:solidFill>
                  <a:srgbClr val="F05133"/>
                </a:solidFill>
                <a:latin typeface="Calibri" pitchFamily="34" charset="0"/>
                <a:ea typeface="Calibri" pitchFamily="34" charset="-122"/>
                <a:cs typeface="Calibri" pitchFamily="34" charset="-120"/>
              </a:rPr>
              <a:t>Rebase</a:t>
            </a:r>
            <a:endParaRPr lang="en-US" sz="1500" dirty="0"/>
          </a:p>
        </p:txBody>
      </p:sp>
      <p:sp>
        <p:nvSpPr>
          <p:cNvPr id="21" name="Shape 19"/>
          <p:cNvSpPr/>
          <p:nvPr/>
        </p:nvSpPr>
        <p:spPr>
          <a:xfrm>
            <a:off x="6400800" y="2039112"/>
            <a:ext cx="237744" cy="237744"/>
          </a:xfrm>
          <a:prstGeom prst="ellipse">
            <a:avLst/>
          </a:prstGeom>
          <a:solidFill>
            <a:srgbClr val="1E8E5A"/>
          </a:solidFill>
          <a:ln/>
        </p:spPr>
      </p:sp>
      <p:sp>
        <p:nvSpPr>
          <p:cNvPr id="22" name="Text 20"/>
          <p:cNvSpPr/>
          <p:nvPr/>
        </p:nvSpPr>
        <p:spPr>
          <a:xfrm>
            <a:off x="6400800" y="2025396"/>
            <a:ext cx="237744" cy="237744"/>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t>
            </a:r>
            <a:endParaRPr lang="en-US" sz="1200" dirty="0"/>
          </a:p>
        </p:txBody>
      </p:sp>
      <p:sp>
        <p:nvSpPr>
          <p:cNvPr id="23" name="Text 21"/>
          <p:cNvSpPr/>
          <p:nvPr/>
        </p:nvSpPr>
        <p:spPr>
          <a:xfrm>
            <a:off x="6766560" y="1984248"/>
            <a:ext cx="4617720" cy="457200"/>
          </a:xfrm>
          <a:prstGeom prst="rect">
            <a:avLst/>
          </a:prstGeom>
          <a:noFill/>
          <a:ln/>
        </p:spPr>
        <p:txBody>
          <a:bodyPr wrap="square" rtlCol="0" anchor="t"/>
          <a:lstStyle/>
          <a:p>
            <a:pPr indent="0" marL="0">
              <a:lnSpc>
                <a:spcPct val="105000"/>
              </a:lnSpc>
              <a:buNone/>
            </a:pPr>
            <a:r>
              <a:rPr lang="en-US" sz="1250" dirty="0">
                <a:solidFill>
                  <a:srgbClr val="1F2937"/>
                </a:solidFill>
                <a:latin typeface="Calibri" pitchFamily="34" charset="0"/>
                <a:ea typeface="Calibri" pitchFamily="34" charset="-122"/>
                <a:cs typeface="Calibri" pitchFamily="34" charset="-120"/>
              </a:rPr>
              <a:t>Clean, easy-to-read linear log</a:t>
            </a:r>
            <a:endParaRPr lang="en-US" sz="1250" dirty="0"/>
          </a:p>
        </p:txBody>
      </p:sp>
      <p:sp>
        <p:nvSpPr>
          <p:cNvPr id="24" name="Shape 22"/>
          <p:cNvSpPr/>
          <p:nvPr/>
        </p:nvSpPr>
        <p:spPr>
          <a:xfrm>
            <a:off x="6400800" y="2606040"/>
            <a:ext cx="237744" cy="237744"/>
          </a:xfrm>
          <a:prstGeom prst="ellipse">
            <a:avLst/>
          </a:prstGeom>
          <a:solidFill>
            <a:srgbClr val="1E8E5A"/>
          </a:solidFill>
          <a:ln/>
        </p:spPr>
      </p:sp>
      <p:sp>
        <p:nvSpPr>
          <p:cNvPr id="25" name="Text 23"/>
          <p:cNvSpPr/>
          <p:nvPr/>
        </p:nvSpPr>
        <p:spPr>
          <a:xfrm>
            <a:off x="6400800" y="2592324"/>
            <a:ext cx="237744" cy="237744"/>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t>
            </a:r>
            <a:endParaRPr lang="en-US" sz="1200" dirty="0"/>
          </a:p>
        </p:txBody>
      </p:sp>
      <p:sp>
        <p:nvSpPr>
          <p:cNvPr id="26" name="Text 24"/>
          <p:cNvSpPr/>
          <p:nvPr/>
        </p:nvSpPr>
        <p:spPr>
          <a:xfrm>
            <a:off x="6766560" y="2551176"/>
            <a:ext cx="4617720" cy="457200"/>
          </a:xfrm>
          <a:prstGeom prst="rect">
            <a:avLst/>
          </a:prstGeom>
          <a:noFill/>
          <a:ln/>
        </p:spPr>
        <p:txBody>
          <a:bodyPr wrap="square" rtlCol="0" anchor="t"/>
          <a:lstStyle/>
          <a:p>
            <a:pPr indent="0" marL="0">
              <a:lnSpc>
                <a:spcPct val="105000"/>
              </a:lnSpc>
              <a:buNone/>
            </a:pPr>
            <a:r>
              <a:rPr lang="en-US" sz="1250" dirty="0">
                <a:solidFill>
                  <a:srgbClr val="1F2937"/>
                </a:solidFill>
                <a:latin typeface="Calibri" pitchFamily="34" charset="0"/>
                <a:ea typeface="Calibri" pitchFamily="34" charset="-122"/>
                <a:cs typeface="Calibri" pitchFamily="34" charset="-120"/>
              </a:rPr>
              <a:t>Simplifies future bisecting/review</a:t>
            </a:r>
            <a:endParaRPr lang="en-US" sz="1250" dirty="0"/>
          </a:p>
        </p:txBody>
      </p:sp>
      <p:sp>
        <p:nvSpPr>
          <p:cNvPr id="27" name="Shape 25"/>
          <p:cNvSpPr/>
          <p:nvPr/>
        </p:nvSpPr>
        <p:spPr>
          <a:xfrm>
            <a:off x="6400800" y="3172968"/>
            <a:ext cx="237744" cy="237744"/>
          </a:xfrm>
          <a:prstGeom prst="ellipse">
            <a:avLst/>
          </a:prstGeom>
          <a:solidFill>
            <a:srgbClr val="C0392B"/>
          </a:solidFill>
          <a:ln/>
        </p:spPr>
      </p:sp>
      <p:sp>
        <p:nvSpPr>
          <p:cNvPr id="28" name="Text 26"/>
          <p:cNvSpPr/>
          <p:nvPr/>
        </p:nvSpPr>
        <p:spPr>
          <a:xfrm>
            <a:off x="6400800" y="3159252"/>
            <a:ext cx="237744" cy="237744"/>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t>
            </a:r>
            <a:endParaRPr lang="en-US" sz="1200" dirty="0"/>
          </a:p>
        </p:txBody>
      </p:sp>
      <p:sp>
        <p:nvSpPr>
          <p:cNvPr id="29" name="Text 27"/>
          <p:cNvSpPr/>
          <p:nvPr/>
        </p:nvSpPr>
        <p:spPr>
          <a:xfrm>
            <a:off x="6766560" y="3118104"/>
            <a:ext cx="4617720" cy="457200"/>
          </a:xfrm>
          <a:prstGeom prst="rect">
            <a:avLst/>
          </a:prstGeom>
          <a:noFill/>
          <a:ln/>
        </p:spPr>
        <p:txBody>
          <a:bodyPr wrap="square" rtlCol="0" anchor="t"/>
          <a:lstStyle/>
          <a:p>
            <a:pPr indent="0" marL="0">
              <a:lnSpc>
                <a:spcPct val="105000"/>
              </a:lnSpc>
              <a:buNone/>
            </a:pPr>
            <a:r>
              <a:rPr lang="en-US" sz="1250" dirty="0">
                <a:solidFill>
                  <a:srgbClr val="1F2937"/>
                </a:solidFill>
                <a:latin typeface="Calibri" pitchFamily="34" charset="0"/>
                <a:ea typeface="Calibri" pitchFamily="34" charset="-122"/>
                <a:cs typeface="Calibri" pitchFamily="34" charset="-120"/>
              </a:rPr>
              <a:t>Rewrites commit hashes</a:t>
            </a:r>
            <a:endParaRPr lang="en-US" sz="1250" dirty="0"/>
          </a:p>
        </p:txBody>
      </p:sp>
      <p:sp>
        <p:nvSpPr>
          <p:cNvPr id="30" name="Shape 28"/>
          <p:cNvSpPr/>
          <p:nvPr/>
        </p:nvSpPr>
        <p:spPr>
          <a:xfrm>
            <a:off x="6400800" y="3739896"/>
            <a:ext cx="237744" cy="237744"/>
          </a:xfrm>
          <a:prstGeom prst="ellipse">
            <a:avLst/>
          </a:prstGeom>
          <a:solidFill>
            <a:srgbClr val="C0392B"/>
          </a:solidFill>
          <a:ln/>
        </p:spPr>
      </p:sp>
      <p:sp>
        <p:nvSpPr>
          <p:cNvPr id="31" name="Text 29"/>
          <p:cNvSpPr/>
          <p:nvPr/>
        </p:nvSpPr>
        <p:spPr>
          <a:xfrm>
            <a:off x="6400800" y="3726180"/>
            <a:ext cx="237744" cy="237744"/>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t>
            </a:r>
            <a:endParaRPr lang="en-US" sz="1200" dirty="0"/>
          </a:p>
        </p:txBody>
      </p:sp>
      <p:sp>
        <p:nvSpPr>
          <p:cNvPr id="32" name="Text 30"/>
          <p:cNvSpPr/>
          <p:nvPr/>
        </p:nvSpPr>
        <p:spPr>
          <a:xfrm>
            <a:off x="6766560" y="3685032"/>
            <a:ext cx="4617720" cy="457200"/>
          </a:xfrm>
          <a:prstGeom prst="rect">
            <a:avLst/>
          </a:prstGeom>
          <a:noFill/>
          <a:ln/>
        </p:spPr>
        <p:txBody>
          <a:bodyPr wrap="square" rtlCol="0" anchor="t"/>
          <a:lstStyle/>
          <a:p>
            <a:pPr indent="0" marL="0">
              <a:lnSpc>
                <a:spcPct val="105000"/>
              </a:lnSpc>
              <a:buNone/>
            </a:pPr>
            <a:r>
              <a:rPr lang="en-US" sz="1250" dirty="0">
                <a:solidFill>
                  <a:srgbClr val="1F2937"/>
                </a:solidFill>
                <a:latin typeface="Calibri" pitchFamily="34" charset="0"/>
                <a:ea typeface="Calibri" pitchFamily="34" charset="-122"/>
                <a:cs typeface="Calibri" pitchFamily="34" charset="-120"/>
              </a:rPr>
              <a:t>Risky on shared branches</a:t>
            </a:r>
            <a:endParaRPr lang="en-US" sz="1250" dirty="0"/>
          </a:p>
        </p:txBody>
      </p:sp>
      <p:sp>
        <p:nvSpPr>
          <p:cNvPr id="33" name="Text 31"/>
          <p:cNvSpPr/>
          <p:nvPr/>
        </p:nvSpPr>
        <p:spPr>
          <a:xfrm>
            <a:off x="457200" y="6492240"/>
            <a:ext cx="4572000" cy="27432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Merge vs Rebase in Git</a:t>
            </a:r>
            <a:endParaRPr lang="en-US" sz="900" dirty="0"/>
          </a:p>
        </p:txBody>
      </p:sp>
      <p:sp>
        <p:nvSpPr>
          <p:cNvPr id="34" name="Text 32"/>
          <p:cNvSpPr/>
          <p:nvPr/>
        </p:nvSpPr>
        <p:spPr>
          <a:xfrm>
            <a:off x="11277295" y="6492240"/>
            <a:ext cx="457200" cy="274320"/>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457200"/>
            <a:ext cx="8961120" cy="640080"/>
          </a:xfrm>
          <a:prstGeom prst="rect">
            <a:avLst/>
          </a:prstGeom>
          <a:noFill/>
          <a:ln/>
        </p:spPr>
        <p:txBody>
          <a:bodyPr wrap="square" rtlCol="0" anchor="ctr"/>
          <a:lstStyle/>
          <a:p>
            <a:pPr indent="0" marL="0">
              <a:buNone/>
            </a:pPr>
            <a:r>
              <a:rPr lang="en-US" sz="2800" b="1" dirty="0">
                <a:solidFill>
                  <a:srgbClr val="1E3A8A"/>
                </a:solidFill>
                <a:latin typeface="Calibri" pitchFamily="34" charset="0"/>
                <a:ea typeface="Calibri" pitchFamily="34" charset="-122"/>
                <a:cs typeface="Calibri" pitchFamily="34" charset="-120"/>
              </a:rPr>
              <a:t>When to Use Merge vs Rebase</a:t>
            </a:r>
            <a:endParaRPr lang="en-US" sz="2800" dirty="0"/>
          </a:p>
        </p:txBody>
      </p:sp>
      <p:sp>
        <p:nvSpPr>
          <p:cNvPr id="3" name="Shape 1"/>
          <p:cNvSpPr/>
          <p:nvPr/>
        </p:nvSpPr>
        <p:spPr>
          <a:xfrm>
            <a:off x="10149840" y="502920"/>
            <a:ext cx="1554480" cy="292608"/>
          </a:xfrm>
          <a:prstGeom prst="roundRect">
            <a:avLst>
              <a:gd name="adj" fmla="val 50000"/>
            </a:avLst>
          </a:prstGeom>
          <a:solidFill>
            <a:srgbClr val="1E3A8A"/>
          </a:solidFill>
          <a:ln/>
        </p:spPr>
      </p:sp>
      <p:sp>
        <p:nvSpPr>
          <p:cNvPr id="4" name="Text 2"/>
          <p:cNvSpPr/>
          <p:nvPr/>
        </p:nvSpPr>
        <p:spPr>
          <a:xfrm>
            <a:off x="10149840" y="502920"/>
            <a:ext cx="1554480" cy="292608"/>
          </a:xfrm>
          <a:prstGeom prst="rect">
            <a:avLst/>
          </a:prstGeom>
          <a:noFill/>
          <a:ln/>
        </p:spPr>
        <p:txBody>
          <a:bodyPr wrap="square"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BEST PRACTICE</a:t>
            </a:r>
            <a:endParaRPr lang="en-US" sz="1050" dirty="0"/>
          </a:p>
        </p:txBody>
      </p:sp>
      <p:sp>
        <p:nvSpPr>
          <p:cNvPr id="5" name="Shape 3"/>
          <p:cNvSpPr/>
          <p:nvPr/>
        </p:nvSpPr>
        <p:spPr>
          <a:xfrm>
            <a:off x="594360" y="1508760"/>
            <a:ext cx="502920" cy="502920"/>
          </a:xfrm>
          <a:prstGeom prst="ellipse">
            <a:avLst/>
          </a:prstGeom>
          <a:solidFill>
            <a:srgbClr val="1E3A8A"/>
          </a:solidFill>
          <a:ln/>
        </p:spPr>
      </p:sp>
      <p:sp>
        <p:nvSpPr>
          <p:cNvPr id="6" name="Text 4"/>
          <p:cNvSpPr/>
          <p:nvPr/>
        </p:nvSpPr>
        <p:spPr>
          <a:xfrm>
            <a:off x="594360" y="1499616"/>
            <a:ext cx="502920" cy="502920"/>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7" name="Text 5"/>
          <p:cNvSpPr/>
          <p:nvPr/>
        </p:nvSpPr>
        <p:spPr>
          <a:xfrm>
            <a:off x="1325880" y="1481328"/>
            <a:ext cx="9875520" cy="365760"/>
          </a:xfrm>
          <a:prstGeom prst="rect">
            <a:avLst/>
          </a:prstGeom>
          <a:noFill/>
          <a:ln/>
        </p:spPr>
        <p:txBody>
          <a:bodyPr wrap="square" rtlCol="0" anchor="ctr"/>
          <a:lstStyle/>
          <a:p>
            <a:pPr indent="0" marL="0">
              <a:buNone/>
            </a:pPr>
            <a:r>
              <a:rPr lang="en-US" sz="1550" b="1" dirty="0">
                <a:solidFill>
                  <a:srgbClr val="1E3A8A"/>
                </a:solidFill>
                <a:latin typeface="Calibri" pitchFamily="34" charset="0"/>
                <a:ea typeface="Calibri" pitchFamily="34" charset="-122"/>
                <a:cs typeface="Calibri" pitchFamily="34" charset="-120"/>
              </a:rPr>
              <a:t>Real-world example: releasing a feature</a:t>
            </a:r>
            <a:endParaRPr lang="en-US" sz="1550" dirty="0"/>
          </a:p>
        </p:txBody>
      </p:sp>
      <p:sp>
        <p:nvSpPr>
          <p:cNvPr id="8" name="Text 6"/>
          <p:cNvSpPr/>
          <p:nvPr/>
        </p:nvSpPr>
        <p:spPr>
          <a:xfrm>
            <a:off x="1325880" y="1837944"/>
            <a:ext cx="9966960" cy="594360"/>
          </a:xfrm>
          <a:prstGeom prst="rect">
            <a:avLst/>
          </a:prstGeom>
          <a:noFill/>
          <a:ln/>
        </p:spPr>
        <p:txBody>
          <a:bodyPr wrap="square" rtlCol="0" anchor="t"/>
          <a:lstStyle/>
          <a:p>
            <a:pPr indent="0" marL="0">
              <a:lnSpc>
                <a:spcPct val="115000"/>
              </a:lnSpc>
              <a:buNone/>
            </a:pPr>
            <a:r>
              <a:rPr lang="en-US" sz="1300" dirty="0">
                <a:solidFill>
                  <a:srgbClr val="1F2937"/>
                </a:solidFill>
                <a:latin typeface="Calibri" pitchFamily="34" charset="0"/>
                <a:ea typeface="Calibri" pitchFamily="34" charset="-122"/>
                <a:cs typeface="Calibri" pitchFamily="34" charset="-120"/>
              </a:rPr>
              <a:t>Merge a completed feature branch into main so the release history clearly shows when and how it joined — useful for audits and rollbacks.</a:t>
            </a:r>
            <a:endParaRPr lang="en-US" sz="1300" dirty="0"/>
          </a:p>
        </p:txBody>
      </p:sp>
      <p:sp>
        <p:nvSpPr>
          <p:cNvPr id="9" name="Shape 7"/>
          <p:cNvSpPr/>
          <p:nvPr/>
        </p:nvSpPr>
        <p:spPr>
          <a:xfrm>
            <a:off x="594360" y="2606040"/>
            <a:ext cx="502920" cy="502920"/>
          </a:xfrm>
          <a:prstGeom prst="ellipse">
            <a:avLst/>
          </a:prstGeom>
          <a:solidFill>
            <a:srgbClr val="F05133"/>
          </a:solidFill>
          <a:ln/>
        </p:spPr>
      </p:sp>
      <p:sp>
        <p:nvSpPr>
          <p:cNvPr id="10" name="Text 8"/>
          <p:cNvSpPr/>
          <p:nvPr/>
        </p:nvSpPr>
        <p:spPr>
          <a:xfrm>
            <a:off x="594360" y="2596896"/>
            <a:ext cx="502920" cy="502920"/>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1" name="Text 9"/>
          <p:cNvSpPr/>
          <p:nvPr/>
        </p:nvSpPr>
        <p:spPr>
          <a:xfrm>
            <a:off x="1325880" y="2578608"/>
            <a:ext cx="9875520" cy="365760"/>
          </a:xfrm>
          <a:prstGeom prst="rect">
            <a:avLst/>
          </a:prstGeom>
          <a:noFill/>
          <a:ln/>
        </p:spPr>
        <p:txBody>
          <a:bodyPr wrap="square" rtlCol="0" anchor="ctr"/>
          <a:lstStyle/>
          <a:p>
            <a:pPr indent="0" marL="0">
              <a:buNone/>
            </a:pPr>
            <a:r>
              <a:rPr lang="en-US" sz="1550" b="1" dirty="0">
                <a:solidFill>
                  <a:srgbClr val="1E3A8A"/>
                </a:solidFill>
                <a:latin typeface="Calibri" pitchFamily="34" charset="0"/>
                <a:ea typeface="Calibri" pitchFamily="34" charset="-122"/>
                <a:cs typeface="Calibri" pitchFamily="34" charset="-120"/>
              </a:rPr>
              <a:t>Real-world example: updating a local branch</a:t>
            </a:r>
            <a:endParaRPr lang="en-US" sz="1550" dirty="0"/>
          </a:p>
        </p:txBody>
      </p:sp>
      <p:sp>
        <p:nvSpPr>
          <p:cNvPr id="12" name="Text 10"/>
          <p:cNvSpPr/>
          <p:nvPr/>
        </p:nvSpPr>
        <p:spPr>
          <a:xfrm>
            <a:off x="1325880" y="2935224"/>
            <a:ext cx="9966960" cy="594360"/>
          </a:xfrm>
          <a:prstGeom prst="rect">
            <a:avLst/>
          </a:prstGeom>
          <a:noFill/>
          <a:ln/>
        </p:spPr>
        <p:txBody>
          <a:bodyPr wrap="square" rtlCol="0" anchor="t"/>
          <a:lstStyle/>
          <a:p>
            <a:pPr indent="0" marL="0">
              <a:lnSpc>
                <a:spcPct val="115000"/>
              </a:lnSpc>
              <a:buNone/>
            </a:pPr>
            <a:r>
              <a:rPr lang="en-US" sz="1300" dirty="0">
                <a:solidFill>
                  <a:srgbClr val="1F2937"/>
                </a:solidFill>
                <a:latin typeface="Calibri" pitchFamily="34" charset="0"/>
                <a:ea typeface="Calibri" pitchFamily="34" charset="-122"/>
                <a:cs typeface="Calibri" pitchFamily="34" charset="-120"/>
              </a:rPr>
              <a:t>Rebase your in-progress feature branch onto the latest main to pick up teammates' changes, keeping your future merge simple and conflict-light.</a:t>
            </a:r>
            <a:endParaRPr lang="en-US" sz="1300" dirty="0"/>
          </a:p>
        </p:txBody>
      </p:sp>
      <p:sp>
        <p:nvSpPr>
          <p:cNvPr id="13" name="Shape 11"/>
          <p:cNvSpPr/>
          <p:nvPr/>
        </p:nvSpPr>
        <p:spPr>
          <a:xfrm>
            <a:off x="594360" y="3703320"/>
            <a:ext cx="502920" cy="502920"/>
          </a:xfrm>
          <a:prstGeom prst="ellipse">
            <a:avLst/>
          </a:prstGeom>
          <a:solidFill>
            <a:srgbClr val="1E3A8A"/>
          </a:solidFill>
          <a:ln/>
        </p:spPr>
      </p:sp>
      <p:sp>
        <p:nvSpPr>
          <p:cNvPr id="14" name="Text 12"/>
          <p:cNvSpPr/>
          <p:nvPr/>
        </p:nvSpPr>
        <p:spPr>
          <a:xfrm>
            <a:off x="594360" y="3694176"/>
            <a:ext cx="502920" cy="502920"/>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5" name="Text 13"/>
          <p:cNvSpPr/>
          <p:nvPr/>
        </p:nvSpPr>
        <p:spPr>
          <a:xfrm>
            <a:off x="1325880" y="3675888"/>
            <a:ext cx="9875520" cy="365760"/>
          </a:xfrm>
          <a:prstGeom prst="rect">
            <a:avLst/>
          </a:prstGeom>
          <a:noFill/>
          <a:ln/>
        </p:spPr>
        <p:txBody>
          <a:bodyPr wrap="square" rtlCol="0" anchor="ctr"/>
          <a:lstStyle/>
          <a:p>
            <a:pPr indent="0" marL="0">
              <a:buNone/>
            </a:pPr>
            <a:r>
              <a:rPr lang="en-US" sz="1550" b="1" dirty="0">
                <a:solidFill>
                  <a:srgbClr val="1E3A8A"/>
                </a:solidFill>
                <a:latin typeface="Calibri" pitchFamily="34" charset="0"/>
                <a:ea typeface="Calibri" pitchFamily="34" charset="-122"/>
                <a:cs typeface="Calibri" pitchFamily="34" charset="-120"/>
              </a:rPr>
              <a:t>Team collaboration rule of thumb</a:t>
            </a:r>
            <a:endParaRPr lang="en-US" sz="1550" dirty="0"/>
          </a:p>
        </p:txBody>
      </p:sp>
      <p:sp>
        <p:nvSpPr>
          <p:cNvPr id="16" name="Text 14"/>
          <p:cNvSpPr/>
          <p:nvPr/>
        </p:nvSpPr>
        <p:spPr>
          <a:xfrm>
            <a:off x="1325880" y="4032504"/>
            <a:ext cx="9966960" cy="594360"/>
          </a:xfrm>
          <a:prstGeom prst="rect">
            <a:avLst/>
          </a:prstGeom>
          <a:noFill/>
          <a:ln/>
        </p:spPr>
        <p:txBody>
          <a:bodyPr wrap="square" rtlCol="0" anchor="t"/>
          <a:lstStyle/>
          <a:p>
            <a:pPr indent="0" marL="0">
              <a:lnSpc>
                <a:spcPct val="115000"/>
              </a:lnSpc>
              <a:buNone/>
            </a:pPr>
            <a:r>
              <a:rPr lang="en-US" sz="1300" dirty="0">
                <a:solidFill>
                  <a:srgbClr val="1F2937"/>
                </a:solidFill>
                <a:latin typeface="Calibri" pitchFamily="34" charset="0"/>
                <a:ea typeface="Calibri" pitchFamily="34" charset="-122"/>
                <a:cs typeface="Calibri" pitchFamily="34" charset="-120"/>
              </a:rPr>
              <a:t>Prefer merge on shared/public branches; reserve rebase for commits that only exist on your own local machine.</a:t>
            </a:r>
            <a:endParaRPr lang="en-US" sz="1300" dirty="0"/>
          </a:p>
        </p:txBody>
      </p:sp>
      <p:sp>
        <p:nvSpPr>
          <p:cNvPr id="17" name="Shape 15"/>
          <p:cNvSpPr/>
          <p:nvPr/>
        </p:nvSpPr>
        <p:spPr>
          <a:xfrm>
            <a:off x="594360" y="4800600"/>
            <a:ext cx="502920" cy="502920"/>
          </a:xfrm>
          <a:prstGeom prst="ellipse">
            <a:avLst/>
          </a:prstGeom>
          <a:solidFill>
            <a:srgbClr val="C0392B"/>
          </a:solidFill>
          <a:ln/>
        </p:spPr>
      </p:sp>
      <p:sp>
        <p:nvSpPr>
          <p:cNvPr id="18" name="Text 16"/>
          <p:cNvSpPr/>
          <p:nvPr/>
        </p:nvSpPr>
        <p:spPr>
          <a:xfrm>
            <a:off x="594360" y="4791456"/>
            <a:ext cx="502920" cy="502920"/>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9" name="Text 17"/>
          <p:cNvSpPr/>
          <p:nvPr/>
        </p:nvSpPr>
        <p:spPr>
          <a:xfrm>
            <a:off x="1325880" y="4773168"/>
            <a:ext cx="9875520" cy="365760"/>
          </a:xfrm>
          <a:prstGeom prst="rect">
            <a:avLst/>
          </a:prstGeom>
          <a:noFill/>
          <a:ln/>
        </p:spPr>
        <p:txBody>
          <a:bodyPr wrap="square" rtlCol="0" anchor="ctr"/>
          <a:lstStyle/>
          <a:p>
            <a:pPr indent="0" marL="0">
              <a:buNone/>
            </a:pPr>
            <a:r>
              <a:rPr lang="en-US" sz="1550" b="1" dirty="0">
                <a:solidFill>
                  <a:srgbClr val="1E3A8A"/>
                </a:solidFill>
                <a:latin typeface="Calibri" pitchFamily="34" charset="0"/>
                <a:ea typeface="Calibri" pitchFamily="34" charset="-122"/>
                <a:cs typeface="Calibri" pitchFamily="34" charset="-120"/>
              </a:rPr>
              <a:t>Common mistake to avoid</a:t>
            </a:r>
            <a:endParaRPr lang="en-US" sz="1550" dirty="0"/>
          </a:p>
        </p:txBody>
      </p:sp>
      <p:sp>
        <p:nvSpPr>
          <p:cNvPr id="20" name="Text 18"/>
          <p:cNvSpPr/>
          <p:nvPr/>
        </p:nvSpPr>
        <p:spPr>
          <a:xfrm>
            <a:off x="1325880" y="5129784"/>
            <a:ext cx="9966960" cy="594360"/>
          </a:xfrm>
          <a:prstGeom prst="rect">
            <a:avLst/>
          </a:prstGeom>
          <a:noFill/>
          <a:ln/>
        </p:spPr>
        <p:txBody>
          <a:bodyPr wrap="square" rtlCol="0" anchor="t"/>
          <a:lstStyle/>
          <a:p>
            <a:pPr indent="0" marL="0">
              <a:lnSpc>
                <a:spcPct val="115000"/>
              </a:lnSpc>
              <a:buNone/>
            </a:pPr>
            <a:r>
              <a:rPr lang="en-US" sz="1300" dirty="0">
                <a:solidFill>
                  <a:srgbClr val="1F2937"/>
                </a:solidFill>
                <a:latin typeface="Calibri" pitchFamily="34" charset="0"/>
                <a:ea typeface="Calibri" pitchFamily="34" charset="-122"/>
                <a:cs typeface="Calibri" pitchFamily="34" charset="-120"/>
              </a:rPr>
              <a:t>Never rebase a branch that others have already pulled — it rewrites shared history and breaks teammates' clones and pull requests.</a:t>
            </a:r>
            <a:endParaRPr lang="en-US" sz="1300" dirty="0"/>
          </a:p>
        </p:txBody>
      </p:sp>
      <p:sp>
        <p:nvSpPr>
          <p:cNvPr id="21" name="Text 19"/>
          <p:cNvSpPr/>
          <p:nvPr/>
        </p:nvSpPr>
        <p:spPr>
          <a:xfrm>
            <a:off x="457200" y="6492240"/>
            <a:ext cx="4572000" cy="27432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Merge vs Rebase in Git</a:t>
            </a:r>
            <a:endParaRPr lang="en-US" sz="900" dirty="0"/>
          </a:p>
        </p:txBody>
      </p:sp>
      <p:sp>
        <p:nvSpPr>
          <p:cNvPr id="22" name="Text 20"/>
          <p:cNvSpPr/>
          <p:nvPr/>
        </p:nvSpPr>
        <p:spPr>
          <a:xfrm>
            <a:off x="11277295" y="6492240"/>
            <a:ext cx="457200" cy="274320"/>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E3A8A"/>
        </a:solidFill>
      </p:bgPr>
    </p:bg>
    <p:spTree>
      <p:nvGrpSpPr>
        <p:cNvPr id="1" name=""/>
        <p:cNvGrpSpPr/>
        <p:nvPr/>
      </p:nvGrpSpPr>
      <p:grpSpPr>
        <a:xfrm>
          <a:off x="0" y="0"/>
          <a:ext cx="0" cy="0"/>
          <a:chOff x="0" y="0"/>
          <a:chExt cx="0" cy="0"/>
        </a:xfrm>
      </p:grpSpPr>
      <p:sp>
        <p:nvSpPr>
          <p:cNvPr id="2" name="Text 0"/>
          <p:cNvSpPr/>
          <p:nvPr/>
        </p:nvSpPr>
        <p:spPr>
          <a:xfrm>
            <a:off x="640080" y="594360"/>
            <a:ext cx="8229600" cy="731520"/>
          </a:xfrm>
          <a:prstGeom prst="rect">
            <a:avLst/>
          </a:prstGeom>
          <a:noFill/>
          <a:ln/>
        </p:spPr>
        <p:txBody>
          <a:bodyPr wrap="square" rtlCol="0" anchor="ctr"/>
          <a:lstStyle/>
          <a:p>
            <a:pPr indent="0" marL="0">
              <a:buNone/>
            </a:pPr>
            <a:r>
              <a:rPr lang="en-US" sz="3400" b="1" dirty="0">
                <a:solidFill>
                  <a:srgbClr val="FFFFFF"/>
                </a:solidFill>
                <a:latin typeface="Calibri" pitchFamily="34" charset="0"/>
                <a:ea typeface="Calibri" pitchFamily="34" charset="-122"/>
                <a:cs typeface="Calibri" pitchFamily="34" charset="-120"/>
              </a:rPr>
              <a:t>Key Takeaways</a:t>
            </a:r>
            <a:endParaRPr lang="en-US" sz="3400" dirty="0"/>
          </a:p>
        </p:txBody>
      </p:sp>
      <p:sp>
        <p:nvSpPr>
          <p:cNvPr id="3" name="Shape 1"/>
          <p:cNvSpPr/>
          <p:nvPr/>
        </p:nvSpPr>
        <p:spPr>
          <a:xfrm>
            <a:off x="640080" y="1691640"/>
            <a:ext cx="128016" cy="822960"/>
          </a:xfrm>
          <a:prstGeom prst="roundRect">
            <a:avLst/>
          </a:prstGeom>
          <a:solidFill>
            <a:srgbClr val="EAF2FF"/>
          </a:solidFill>
          <a:ln/>
        </p:spPr>
      </p:sp>
      <p:sp>
        <p:nvSpPr>
          <p:cNvPr id="4" name="Text 2"/>
          <p:cNvSpPr/>
          <p:nvPr/>
        </p:nvSpPr>
        <p:spPr>
          <a:xfrm>
            <a:off x="960120" y="1655064"/>
            <a:ext cx="9875520" cy="365760"/>
          </a:xfrm>
          <a:prstGeom prst="rect">
            <a:avLst/>
          </a:prstGeom>
          <a:noFill/>
          <a:ln/>
        </p:spPr>
        <p:txBody>
          <a:bodyPr wrap="square"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Merge — preserves history &amp; team collaboration</a:t>
            </a:r>
            <a:endParaRPr lang="en-US" sz="1600" dirty="0"/>
          </a:p>
        </p:txBody>
      </p:sp>
      <p:sp>
        <p:nvSpPr>
          <p:cNvPr id="5" name="Text 3"/>
          <p:cNvSpPr/>
          <p:nvPr/>
        </p:nvSpPr>
        <p:spPr>
          <a:xfrm>
            <a:off x="960120" y="2011680"/>
            <a:ext cx="10058400" cy="502920"/>
          </a:xfrm>
          <a:prstGeom prst="rect">
            <a:avLst/>
          </a:prstGeom>
          <a:noFill/>
          <a:ln/>
        </p:spPr>
        <p:txBody>
          <a:bodyPr wrap="square" rtlCol="0" anchor="t"/>
          <a:lstStyle/>
          <a:p>
            <a:pPr indent="0" marL="0">
              <a:lnSpc>
                <a:spcPct val="115000"/>
              </a:lnSpc>
              <a:buNone/>
            </a:pPr>
            <a:r>
              <a:rPr lang="en-US" sz="1300" dirty="0">
                <a:solidFill>
                  <a:srgbClr val="CADCFC"/>
                </a:solidFill>
                <a:latin typeface="Calibri" pitchFamily="34" charset="0"/>
                <a:ea typeface="Calibri" pitchFamily="34" charset="-122"/>
                <a:cs typeface="Calibri" pitchFamily="34" charset="-120"/>
              </a:rPr>
              <a:t>Use it to safely combine shared branches while keeping a complete, honest record.</a:t>
            </a:r>
            <a:endParaRPr lang="en-US" sz="1300" dirty="0"/>
          </a:p>
        </p:txBody>
      </p:sp>
      <p:sp>
        <p:nvSpPr>
          <p:cNvPr id="6" name="Shape 4"/>
          <p:cNvSpPr/>
          <p:nvPr/>
        </p:nvSpPr>
        <p:spPr>
          <a:xfrm>
            <a:off x="640080" y="2788920"/>
            <a:ext cx="128016" cy="822960"/>
          </a:xfrm>
          <a:prstGeom prst="roundRect">
            <a:avLst/>
          </a:prstGeom>
          <a:solidFill>
            <a:srgbClr val="F05133"/>
          </a:solidFill>
          <a:ln/>
        </p:spPr>
      </p:sp>
      <p:sp>
        <p:nvSpPr>
          <p:cNvPr id="7" name="Text 5"/>
          <p:cNvSpPr/>
          <p:nvPr/>
        </p:nvSpPr>
        <p:spPr>
          <a:xfrm>
            <a:off x="960120" y="2752344"/>
            <a:ext cx="9875520" cy="365760"/>
          </a:xfrm>
          <a:prstGeom prst="rect">
            <a:avLst/>
          </a:prstGeom>
          <a:noFill/>
          <a:ln/>
        </p:spPr>
        <p:txBody>
          <a:bodyPr wrap="square"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Rebase — cleaner, linear commit history</a:t>
            </a:r>
            <a:endParaRPr lang="en-US" sz="1600" dirty="0"/>
          </a:p>
        </p:txBody>
      </p:sp>
      <p:sp>
        <p:nvSpPr>
          <p:cNvPr id="8" name="Text 6"/>
          <p:cNvSpPr/>
          <p:nvPr/>
        </p:nvSpPr>
        <p:spPr>
          <a:xfrm>
            <a:off x="960120" y="3108960"/>
            <a:ext cx="10058400" cy="502920"/>
          </a:xfrm>
          <a:prstGeom prst="rect">
            <a:avLst/>
          </a:prstGeom>
          <a:noFill/>
          <a:ln/>
        </p:spPr>
        <p:txBody>
          <a:bodyPr wrap="square" rtlCol="0" anchor="t"/>
          <a:lstStyle/>
          <a:p>
            <a:pPr indent="0" marL="0">
              <a:lnSpc>
                <a:spcPct val="115000"/>
              </a:lnSpc>
              <a:buNone/>
            </a:pPr>
            <a:r>
              <a:rPr lang="en-US" sz="1300" dirty="0">
                <a:solidFill>
                  <a:srgbClr val="CADCFC"/>
                </a:solidFill>
                <a:latin typeface="Calibri" pitchFamily="34" charset="0"/>
                <a:ea typeface="Calibri" pitchFamily="34" charset="-122"/>
                <a:cs typeface="Calibri" pitchFamily="34" charset="-120"/>
              </a:rPr>
              <a:t>Use it to tidy up your own local commits before sharing or merging them.</a:t>
            </a:r>
            <a:endParaRPr lang="en-US" sz="1300" dirty="0"/>
          </a:p>
        </p:txBody>
      </p:sp>
      <p:sp>
        <p:nvSpPr>
          <p:cNvPr id="9" name="Shape 7"/>
          <p:cNvSpPr/>
          <p:nvPr/>
        </p:nvSpPr>
        <p:spPr>
          <a:xfrm>
            <a:off x="640080" y="3886200"/>
            <a:ext cx="128016" cy="822960"/>
          </a:xfrm>
          <a:prstGeom prst="roundRect">
            <a:avLst/>
          </a:prstGeom>
          <a:solidFill>
            <a:srgbClr val="EAF2FF"/>
          </a:solidFill>
          <a:ln/>
        </p:spPr>
      </p:sp>
      <p:sp>
        <p:nvSpPr>
          <p:cNvPr id="10" name="Text 8"/>
          <p:cNvSpPr/>
          <p:nvPr/>
        </p:nvSpPr>
        <p:spPr>
          <a:xfrm>
            <a:off x="960120" y="3849624"/>
            <a:ext cx="9875520" cy="365760"/>
          </a:xfrm>
          <a:prstGeom prst="rect">
            <a:avLst/>
          </a:prstGeom>
          <a:noFill/>
          <a:ln/>
        </p:spPr>
        <p:txBody>
          <a:bodyPr wrap="square"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Both integrate changes — they just tell the story differently</a:t>
            </a:r>
            <a:endParaRPr lang="en-US" sz="1600" dirty="0"/>
          </a:p>
        </p:txBody>
      </p:sp>
      <p:sp>
        <p:nvSpPr>
          <p:cNvPr id="11" name="Text 9"/>
          <p:cNvSpPr/>
          <p:nvPr/>
        </p:nvSpPr>
        <p:spPr>
          <a:xfrm>
            <a:off x="960120" y="4206240"/>
            <a:ext cx="10058400" cy="502920"/>
          </a:xfrm>
          <a:prstGeom prst="rect">
            <a:avLst/>
          </a:prstGeom>
          <a:noFill/>
          <a:ln/>
        </p:spPr>
        <p:txBody>
          <a:bodyPr wrap="square" rtlCol="0" anchor="t"/>
          <a:lstStyle/>
          <a:p>
            <a:pPr indent="0" marL="0">
              <a:lnSpc>
                <a:spcPct val="115000"/>
              </a:lnSpc>
              <a:buNone/>
            </a:pPr>
            <a:r>
              <a:rPr lang="en-US" sz="1300" dirty="0">
                <a:solidFill>
                  <a:srgbClr val="CADCFC"/>
                </a:solidFill>
                <a:latin typeface="Calibri" pitchFamily="34" charset="0"/>
                <a:ea typeface="Calibri" pitchFamily="34" charset="-122"/>
                <a:cs typeface="Calibri" pitchFamily="34" charset="-120"/>
              </a:rPr>
              <a:t>Merge keeps the branching; rebase flattens it into one line.</a:t>
            </a:r>
            <a:endParaRPr lang="en-US" sz="1300" dirty="0"/>
          </a:p>
        </p:txBody>
      </p:sp>
      <p:sp>
        <p:nvSpPr>
          <p:cNvPr id="12" name="Shape 10"/>
          <p:cNvSpPr/>
          <p:nvPr/>
        </p:nvSpPr>
        <p:spPr>
          <a:xfrm>
            <a:off x="640080" y="4892040"/>
            <a:ext cx="10881360" cy="1280160"/>
          </a:xfrm>
          <a:prstGeom prst="roundRect">
            <a:avLst>
              <a:gd name="adj" fmla="val 7143"/>
            </a:avLst>
          </a:prstGeom>
          <a:solidFill>
            <a:srgbClr val="16295F"/>
          </a:solidFill>
          <a:ln w="12700">
            <a:solidFill>
              <a:srgbClr val="CADCFC"/>
            </a:solidFill>
            <a:prstDash val="solid"/>
          </a:ln>
        </p:spPr>
      </p:sp>
      <p:sp>
        <p:nvSpPr>
          <p:cNvPr id="13" name="Text 11"/>
          <p:cNvSpPr/>
          <p:nvPr/>
        </p:nvSpPr>
        <p:spPr>
          <a:xfrm>
            <a:off x="914400" y="5029200"/>
            <a:ext cx="10332720" cy="1005840"/>
          </a:xfrm>
          <a:prstGeom prst="rect">
            <a:avLst/>
          </a:prstGeom>
          <a:noFill/>
          <a:ln/>
        </p:spPr>
        <p:txBody>
          <a:bodyPr wrap="square" rtlCol="0" anchor="ctr"/>
          <a:lstStyle/>
          <a:p>
            <a:pPr indent="0" marL="0">
              <a:lnSpc>
                <a:spcPct val="120000"/>
              </a:lnSpc>
              <a:buNone/>
            </a:pPr>
            <a:r>
              <a:rPr lang="en-US" sz="1450" b="1" dirty="0">
                <a:solidFill>
                  <a:srgbClr val="F05133"/>
                </a:solidFill>
                <a:latin typeface="Calibri" pitchFamily="34" charset="0"/>
                <a:ea typeface="Calibri" pitchFamily="34" charset="-122"/>
                <a:cs typeface="Calibri" pitchFamily="34" charset="-120"/>
              </a:rPr>
              <a:t>Final recommendation:  </a:t>
            </a:r>
            <a:pPr indent="0" marL="0">
              <a:lnSpc>
                <a:spcPct val="120000"/>
              </a:lnSpc>
              <a:buNone/>
            </a:pPr>
            <a:r>
              <a:rPr lang="en-US" sz="1450" dirty="0">
                <a:solidFill>
                  <a:srgbClr val="FFFFFF"/>
                </a:solidFill>
                <a:latin typeface="Calibri" pitchFamily="34" charset="0"/>
                <a:ea typeface="Calibri" pitchFamily="34" charset="-122"/>
                <a:cs typeface="Calibri" pitchFamily="34" charset="-120"/>
              </a:rPr>
              <a:t>Merge for shared branches, rebase for your own local cleanup — and never rebase history others already have.</a:t>
            </a:r>
            <a:endParaRPr lang="en-US" sz="1450" dirty="0"/>
          </a:p>
        </p:txBody>
      </p:sp>
      <p:sp>
        <p:nvSpPr>
          <p:cNvPr id="14" name="Text 12"/>
          <p:cNvSpPr/>
          <p:nvPr/>
        </p:nvSpPr>
        <p:spPr>
          <a:xfrm>
            <a:off x="457200" y="6492240"/>
            <a:ext cx="4572000" cy="274320"/>
          </a:xfrm>
          <a:prstGeom prst="rect">
            <a:avLst/>
          </a:prstGeom>
          <a:noFill/>
          <a:ln/>
        </p:spPr>
        <p:txBody>
          <a:bodyPr wrap="square" rtlCol="0" anchor="ctr"/>
          <a:lstStyle/>
          <a:p>
            <a:pPr indent="0" marL="0">
              <a:buNone/>
            </a:pPr>
            <a:r>
              <a:rPr lang="en-US" sz="900" dirty="0">
                <a:solidFill>
                  <a:srgbClr val="6B7280"/>
                </a:solidFill>
                <a:latin typeface="Calibri" pitchFamily="34" charset="0"/>
                <a:ea typeface="Calibri" pitchFamily="34" charset="-122"/>
                <a:cs typeface="Calibri" pitchFamily="34" charset="-120"/>
              </a:rPr>
              <a:t>Merge vs Rebase in Git</a:t>
            </a:r>
            <a:endParaRPr lang="en-US" sz="900" dirty="0"/>
          </a:p>
        </p:txBody>
      </p:sp>
      <p:sp>
        <p:nvSpPr>
          <p:cNvPr id="15" name="Text 13"/>
          <p:cNvSpPr/>
          <p:nvPr/>
        </p:nvSpPr>
        <p:spPr>
          <a:xfrm>
            <a:off x="11277295" y="6492240"/>
            <a:ext cx="457200" cy="274320"/>
          </a:xfrm>
          <a:prstGeom prst="rect">
            <a:avLst/>
          </a:prstGeom>
          <a:noFill/>
          <a:ln/>
        </p:spPr>
        <p:txBody>
          <a:bodyPr wrap="square"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2026-08-03T07:38:00Z</dcterms:created>
  <dcterms:modified xsi:type="dcterms:W3CDTF">2026-08-03T07:38:00Z</dcterms:modified>
</cp:coreProperties>
</file>