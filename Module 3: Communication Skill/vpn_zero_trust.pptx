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501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I'll be presenting on VPN vs Zero Trust Security — Understanding Modern Secure Access. As organizations shift to remote work and cloud services, the way we secure access to corporate resources is changing fast. For decades, VPNs were the standard way to let remote users into a company network. But a newer model, Zero Trust, is quickly becoming the modern standard, especially for cloud-first and hybrid environments. In the next ten minutes, I'll walk through how each model works, their strengths and weaknesses, and a direct comparison so you leave with a clear picture of why the industry is moving toward Zero Trust.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VPN, or Virtual Private Network, since it's the model most of you have probably already used to connect to a school or company network. A VPN works by creating an encrypted tunnel between your device and the organization's network — think of it like a secure, private tube running through the public internet. Once that tunnel is established, your device behaves as if it's physically plugged into the office network. The four key features to remember are: the traffic is encrypted end to end, it enables remote access from anywhere, it typically relies on a single authentication step — usually a username and password — and once you're authenticated, you get broad access to the internal network. On the right, you can see the simple workflow: the remote user connects through the encrypted tunnel, and lands inside the corporate network.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behind a VPN in a bit more depth. The flow is simple: a user's device connects through an encrypted VPN tunnel, and that tunnel terminates at the corporate network. Notice the key word here is network-centric — the security decision is made once, at the point of entry. VPNs are trust-after-authentication systems: once you prove who you are, you're trusted for broad access to the network, not just to one application. This is typically managed through a centralized VPN gateway that all remote traffic passes through. In practice, this model is commonly used for remote employees working from home, site-to-site connections between branch offices, and granting third-party vendors access to internal systems. This design worked well when most resources lived inside one network perimeter — but as we'll see next, it creates real problems.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goes wrong with this model? Five main issues. First, users typically get excessive network access — far more than their job actually requires. Second, and most critically, this creates a serious risk of lateral movement: if an attacker compromises one device or one set of credentials, they can often move freely across the internal network, as shown in the diagram on the right. Third, VPNs usually rely on a single authentication point, so one stolen password can be enough to get in. Fourth, because all traffic funnels through a central gateway, VPNs create performance bottlenecks, especially with large remote workforces. And fifth, this architecture struggles to scale to modern cloud environments where resources are spread across many providers instead of one central network. These weaknesses are exactly what led to the development of the Zero Trust model, which we'll cover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alternative: Zero Trust. Zero Trust is a security model built on one simple but powerful assumption — no user or device is trusted by default, no matter where they're connecting from, even if they're already inside the corporate network. This is often summarized in the phrase you see on screen: 'Never Trust, Always Verify.' Four ideas make this model work. Continuous authentication means identity isn't just checked once at login — it's re-verified throughout the session. Least privilege access means users only get the minimum access needed to do their specific task, not the whole network. Device verification means the system checks whether the device itself is healthy and compliant — for example, is it patched and running security software. And identity-based access control means decisions are made based on who is asking, not simply where the request is coming from. Together, these ideas shift security from 'protecting the network' to 'protecting the resource.'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Zero Trust architecture actually works, step by step. A user requests access to a specific application. That request first goes through identity verification, which checks who the user is and what device they're using. Next, a policy engine evaluates the context — things like user role, device health, location, and risk level — before making a decision in real time. Only then is access granted, and critically, it's granted to that one specific application, not the whole network. This is identity-centric rather than network-centric security. The characteristics that define it are application-level access, continuous monitoring throughout the session, device posture checks, and micro-segmentation, which breaks the network into small isolated zones so a breach in one area can't spread. The technology that implements all of this in practice is called ZTNA, or Zero Trust Network Access — think of it as the modern replacement for the traditional VPN gateway.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pulls everything together side by side. Across the board — security model, access level, authentication, lateral movement risk, scalability, device validation, user experience, and cloud readiness — Zero Trust comes out ahead. The biggest differences to highlight: VPN grants broad network access after a single login, while Zero Trust grants narrow, per-application access that's continuously re-verified. That difference alone is why lateral movement risk drops from high to low. Zero Trust is also built for how organizations actually work today — cloud services, remote teams, and third-party access — which is exactly where traditional VPNs struggle most. This is why so many organizations are actively migrating toward Zero Trust architectures.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a VPN secures network access — it's built to let trusted users into a trusted network. Zero Trust secures identity and application access — it's built around verifying who someone is and what they specifically need, every single time. That shift reduces the attack surface dramatically and provides far better support for cloud services and distributed remote work, which is where most organizations are headed. If you remember one thing from this presentation, remember the core question each model asks: a VPN asks, 'Are you inside the network?' — Zero Trust asks, 'Who are you, and should you access this application?' That distinction is the entire reason the industry is moving from VPN to Zero Trust. Thank you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16.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1.png"/><Relationship Id="rId5" Type="http://schemas.openxmlformats.org/officeDocument/2006/relationships/image" Target="../media/image23.png"/><Relationship Id="rId10" Type="http://schemas.openxmlformats.org/officeDocument/2006/relationships/image" Target="../media/image13.png"/><Relationship Id="rId4" Type="http://schemas.openxmlformats.org/officeDocument/2006/relationships/image" Target="../media/image22.png"/><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10789920" y="480060"/>
            <a:ext cx="1156716" cy="525780"/>
          </a:xfrm>
          <a:prstGeom prst="line">
            <a:avLst/>
          </a:prstGeom>
          <a:noFill/>
          <a:ln w="12700">
            <a:solidFill>
              <a:srgbClr val="3A4A8A">
                <a:alpha val="70000"/>
              </a:srgbClr>
            </a:solidFill>
            <a:prstDash val="solid"/>
          </a:ln>
        </p:spPr>
      </p:sp>
      <p:sp>
        <p:nvSpPr>
          <p:cNvPr id="3" name="Shape 1"/>
          <p:cNvSpPr/>
          <p:nvPr/>
        </p:nvSpPr>
        <p:spPr>
          <a:xfrm>
            <a:off x="11946636" y="480060"/>
            <a:ext cx="420624" cy="1156716"/>
          </a:xfrm>
          <a:prstGeom prst="line">
            <a:avLst/>
          </a:prstGeom>
          <a:noFill/>
          <a:ln w="12700">
            <a:solidFill>
              <a:srgbClr val="3A4A8A">
                <a:alpha val="70000"/>
              </a:srgbClr>
            </a:solidFill>
            <a:prstDash val="solid"/>
          </a:ln>
        </p:spPr>
      </p:sp>
      <p:sp>
        <p:nvSpPr>
          <p:cNvPr id="4" name="Shape 2"/>
          <p:cNvSpPr/>
          <p:nvPr/>
        </p:nvSpPr>
        <p:spPr>
          <a:xfrm>
            <a:off x="11210544" y="1636776"/>
            <a:ext cx="1156716" cy="525780"/>
          </a:xfrm>
          <a:prstGeom prst="line">
            <a:avLst/>
          </a:prstGeom>
          <a:noFill/>
          <a:ln w="12700">
            <a:solidFill>
              <a:srgbClr val="3A4A8A">
                <a:alpha val="70000"/>
              </a:srgbClr>
            </a:solidFill>
            <a:prstDash val="solid"/>
          </a:ln>
        </p:spPr>
      </p:sp>
      <p:sp>
        <p:nvSpPr>
          <p:cNvPr id="5" name="Shape 3"/>
          <p:cNvSpPr/>
          <p:nvPr/>
        </p:nvSpPr>
        <p:spPr>
          <a:xfrm>
            <a:off x="9843516" y="1531620"/>
            <a:ext cx="1367028" cy="630936"/>
          </a:xfrm>
          <a:prstGeom prst="line">
            <a:avLst/>
          </a:prstGeom>
          <a:noFill/>
          <a:ln w="12700">
            <a:solidFill>
              <a:srgbClr val="3A4A8A">
                <a:alpha val="70000"/>
              </a:srgbClr>
            </a:solidFill>
            <a:prstDash val="solid"/>
          </a:ln>
        </p:spPr>
      </p:sp>
      <p:sp>
        <p:nvSpPr>
          <p:cNvPr id="6" name="Shape 4"/>
          <p:cNvSpPr/>
          <p:nvPr/>
        </p:nvSpPr>
        <p:spPr>
          <a:xfrm>
            <a:off x="9843516" y="164592"/>
            <a:ext cx="420624" cy="1367028"/>
          </a:xfrm>
          <a:prstGeom prst="line">
            <a:avLst/>
          </a:prstGeom>
          <a:noFill/>
          <a:ln w="12700">
            <a:solidFill>
              <a:srgbClr val="3A4A8A">
                <a:alpha val="70000"/>
              </a:srgbClr>
            </a:solidFill>
            <a:prstDash val="solid"/>
          </a:ln>
        </p:spPr>
      </p:sp>
      <p:sp>
        <p:nvSpPr>
          <p:cNvPr id="7" name="Shape 5"/>
          <p:cNvSpPr/>
          <p:nvPr/>
        </p:nvSpPr>
        <p:spPr>
          <a:xfrm>
            <a:off x="10264140" y="164592"/>
            <a:ext cx="525780" cy="841248"/>
          </a:xfrm>
          <a:prstGeom prst="line">
            <a:avLst/>
          </a:prstGeom>
          <a:noFill/>
          <a:ln w="12700">
            <a:solidFill>
              <a:srgbClr val="3A4A8A">
                <a:alpha val="70000"/>
              </a:srgbClr>
            </a:solidFill>
            <a:prstDash val="solid"/>
          </a:ln>
        </p:spPr>
      </p:sp>
      <p:sp>
        <p:nvSpPr>
          <p:cNvPr id="8" name="Shape 6"/>
          <p:cNvSpPr/>
          <p:nvPr/>
        </p:nvSpPr>
        <p:spPr>
          <a:xfrm>
            <a:off x="10789920" y="1005840"/>
            <a:ext cx="1577340" cy="630936"/>
          </a:xfrm>
          <a:prstGeom prst="line">
            <a:avLst/>
          </a:prstGeom>
          <a:noFill/>
          <a:ln w="12700">
            <a:solidFill>
              <a:srgbClr val="3A4A8A">
                <a:alpha val="70000"/>
              </a:srgbClr>
            </a:solidFill>
            <a:prstDash val="solid"/>
          </a:ln>
        </p:spPr>
      </p:sp>
      <p:sp>
        <p:nvSpPr>
          <p:cNvPr id="9" name="Shape 7"/>
          <p:cNvSpPr/>
          <p:nvPr/>
        </p:nvSpPr>
        <p:spPr>
          <a:xfrm>
            <a:off x="10264140" y="164592"/>
            <a:ext cx="946404" cy="1997964"/>
          </a:xfrm>
          <a:prstGeom prst="line">
            <a:avLst/>
          </a:prstGeom>
          <a:noFill/>
          <a:ln w="12700">
            <a:solidFill>
              <a:srgbClr val="3A4A8A">
                <a:alpha val="70000"/>
              </a:srgbClr>
            </a:solidFill>
            <a:prstDash val="solid"/>
          </a:ln>
        </p:spPr>
      </p:sp>
      <p:sp>
        <p:nvSpPr>
          <p:cNvPr id="10" name="Shape 8"/>
          <p:cNvSpPr/>
          <p:nvPr/>
        </p:nvSpPr>
        <p:spPr>
          <a:xfrm>
            <a:off x="10716768" y="932688"/>
            <a:ext cx="146304" cy="146304"/>
          </a:xfrm>
          <a:prstGeom prst="ellipse">
            <a:avLst/>
          </a:prstGeom>
          <a:solidFill>
            <a:srgbClr val="02C39A"/>
          </a:solidFill>
          <a:ln/>
        </p:spPr>
      </p:sp>
      <p:sp>
        <p:nvSpPr>
          <p:cNvPr id="11" name="Shape 9"/>
          <p:cNvSpPr/>
          <p:nvPr/>
        </p:nvSpPr>
        <p:spPr>
          <a:xfrm>
            <a:off x="11900916" y="434340"/>
            <a:ext cx="91440" cy="91440"/>
          </a:xfrm>
          <a:prstGeom prst="ellipse">
            <a:avLst/>
          </a:prstGeom>
          <a:solidFill>
            <a:srgbClr val="CADCFC">
              <a:alpha val="60000"/>
            </a:srgbClr>
          </a:solidFill>
          <a:ln/>
        </p:spPr>
      </p:sp>
      <p:sp>
        <p:nvSpPr>
          <p:cNvPr id="12" name="Shape 10"/>
          <p:cNvSpPr/>
          <p:nvPr/>
        </p:nvSpPr>
        <p:spPr>
          <a:xfrm>
            <a:off x="12321540" y="1591056"/>
            <a:ext cx="91440" cy="91440"/>
          </a:xfrm>
          <a:prstGeom prst="ellipse">
            <a:avLst/>
          </a:prstGeom>
          <a:solidFill>
            <a:srgbClr val="CADCFC">
              <a:alpha val="60000"/>
            </a:srgbClr>
          </a:solidFill>
          <a:ln/>
        </p:spPr>
      </p:sp>
      <p:sp>
        <p:nvSpPr>
          <p:cNvPr id="13" name="Shape 11"/>
          <p:cNvSpPr/>
          <p:nvPr/>
        </p:nvSpPr>
        <p:spPr>
          <a:xfrm>
            <a:off x="11164824" y="2116836"/>
            <a:ext cx="91440" cy="91440"/>
          </a:xfrm>
          <a:prstGeom prst="ellipse">
            <a:avLst/>
          </a:prstGeom>
          <a:solidFill>
            <a:srgbClr val="CADCFC">
              <a:alpha val="60000"/>
            </a:srgbClr>
          </a:solidFill>
          <a:ln/>
        </p:spPr>
      </p:sp>
      <p:sp>
        <p:nvSpPr>
          <p:cNvPr id="14" name="Shape 12"/>
          <p:cNvSpPr/>
          <p:nvPr/>
        </p:nvSpPr>
        <p:spPr>
          <a:xfrm>
            <a:off x="9797796" y="1485900"/>
            <a:ext cx="91440" cy="91440"/>
          </a:xfrm>
          <a:prstGeom prst="ellipse">
            <a:avLst/>
          </a:prstGeom>
          <a:solidFill>
            <a:srgbClr val="CADCFC">
              <a:alpha val="60000"/>
            </a:srgbClr>
          </a:solidFill>
          <a:ln/>
        </p:spPr>
      </p:sp>
      <p:sp>
        <p:nvSpPr>
          <p:cNvPr id="15" name="Shape 13"/>
          <p:cNvSpPr/>
          <p:nvPr/>
        </p:nvSpPr>
        <p:spPr>
          <a:xfrm>
            <a:off x="10218420" y="118872"/>
            <a:ext cx="91440" cy="91440"/>
          </a:xfrm>
          <a:prstGeom prst="ellipse">
            <a:avLst/>
          </a:prstGeom>
          <a:solidFill>
            <a:srgbClr val="CADCFC">
              <a:alpha val="60000"/>
            </a:srgbClr>
          </a:solidFill>
          <a:ln/>
        </p:spPr>
      </p:sp>
      <p:sp>
        <p:nvSpPr>
          <p:cNvPr id="16" name="Shape 14"/>
          <p:cNvSpPr/>
          <p:nvPr/>
        </p:nvSpPr>
        <p:spPr>
          <a:xfrm>
            <a:off x="1188720" y="5532120"/>
            <a:ext cx="905256" cy="411480"/>
          </a:xfrm>
          <a:prstGeom prst="line">
            <a:avLst/>
          </a:prstGeom>
          <a:noFill/>
          <a:ln w="12700">
            <a:solidFill>
              <a:srgbClr val="3A4A8A">
                <a:alpha val="70000"/>
              </a:srgbClr>
            </a:solidFill>
            <a:prstDash val="solid"/>
          </a:ln>
        </p:spPr>
      </p:sp>
      <p:sp>
        <p:nvSpPr>
          <p:cNvPr id="17" name="Shape 15"/>
          <p:cNvSpPr/>
          <p:nvPr/>
        </p:nvSpPr>
        <p:spPr>
          <a:xfrm>
            <a:off x="2093976" y="5532120"/>
            <a:ext cx="329184" cy="905256"/>
          </a:xfrm>
          <a:prstGeom prst="line">
            <a:avLst/>
          </a:prstGeom>
          <a:noFill/>
          <a:ln w="12700">
            <a:solidFill>
              <a:srgbClr val="3A4A8A">
                <a:alpha val="70000"/>
              </a:srgbClr>
            </a:solidFill>
            <a:prstDash val="solid"/>
          </a:ln>
        </p:spPr>
      </p:sp>
      <p:sp>
        <p:nvSpPr>
          <p:cNvPr id="18" name="Shape 16"/>
          <p:cNvSpPr/>
          <p:nvPr/>
        </p:nvSpPr>
        <p:spPr>
          <a:xfrm>
            <a:off x="1517904" y="6437376"/>
            <a:ext cx="905256" cy="411480"/>
          </a:xfrm>
          <a:prstGeom prst="line">
            <a:avLst/>
          </a:prstGeom>
          <a:noFill/>
          <a:ln w="12700">
            <a:solidFill>
              <a:srgbClr val="3A4A8A">
                <a:alpha val="70000"/>
              </a:srgbClr>
            </a:solidFill>
            <a:prstDash val="solid"/>
          </a:ln>
        </p:spPr>
      </p:sp>
      <p:sp>
        <p:nvSpPr>
          <p:cNvPr id="19" name="Shape 17"/>
          <p:cNvSpPr/>
          <p:nvPr/>
        </p:nvSpPr>
        <p:spPr>
          <a:xfrm>
            <a:off x="448056" y="6355080"/>
            <a:ext cx="1069848" cy="493776"/>
          </a:xfrm>
          <a:prstGeom prst="line">
            <a:avLst/>
          </a:prstGeom>
          <a:noFill/>
          <a:ln w="12700">
            <a:solidFill>
              <a:srgbClr val="3A4A8A">
                <a:alpha val="70000"/>
              </a:srgbClr>
            </a:solidFill>
            <a:prstDash val="solid"/>
          </a:ln>
        </p:spPr>
      </p:sp>
      <p:sp>
        <p:nvSpPr>
          <p:cNvPr id="20" name="Shape 18"/>
          <p:cNvSpPr/>
          <p:nvPr/>
        </p:nvSpPr>
        <p:spPr>
          <a:xfrm>
            <a:off x="448056" y="5285232"/>
            <a:ext cx="329184" cy="1069848"/>
          </a:xfrm>
          <a:prstGeom prst="line">
            <a:avLst/>
          </a:prstGeom>
          <a:noFill/>
          <a:ln w="12700">
            <a:solidFill>
              <a:srgbClr val="3A4A8A">
                <a:alpha val="70000"/>
              </a:srgbClr>
            </a:solidFill>
            <a:prstDash val="solid"/>
          </a:ln>
        </p:spPr>
      </p:sp>
      <p:sp>
        <p:nvSpPr>
          <p:cNvPr id="21" name="Shape 19"/>
          <p:cNvSpPr/>
          <p:nvPr/>
        </p:nvSpPr>
        <p:spPr>
          <a:xfrm>
            <a:off x="777240" y="5285232"/>
            <a:ext cx="411480" cy="658368"/>
          </a:xfrm>
          <a:prstGeom prst="line">
            <a:avLst/>
          </a:prstGeom>
          <a:noFill/>
          <a:ln w="12700">
            <a:solidFill>
              <a:srgbClr val="3A4A8A">
                <a:alpha val="70000"/>
              </a:srgbClr>
            </a:solidFill>
            <a:prstDash val="solid"/>
          </a:ln>
        </p:spPr>
      </p:sp>
      <p:sp>
        <p:nvSpPr>
          <p:cNvPr id="22" name="Shape 20"/>
          <p:cNvSpPr/>
          <p:nvPr/>
        </p:nvSpPr>
        <p:spPr>
          <a:xfrm>
            <a:off x="1188720" y="5943600"/>
            <a:ext cx="1234440" cy="493776"/>
          </a:xfrm>
          <a:prstGeom prst="line">
            <a:avLst/>
          </a:prstGeom>
          <a:noFill/>
          <a:ln w="12700">
            <a:solidFill>
              <a:srgbClr val="3A4A8A">
                <a:alpha val="70000"/>
              </a:srgbClr>
            </a:solidFill>
            <a:prstDash val="solid"/>
          </a:ln>
        </p:spPr>
      </p:sp>
      <p:sp>
        <p:nvSpPr>
          <p:cNvPr id="23" name="Shape 21"/>
          <p:cNvSpPr/>
          <p:nvPr/>
        </p:nvSpPr>
        <p:spPr>
          <a:xfrm>
            <a:off x="777240" y="5285232"/>
            <a:ext cx="740664" cy="1563624"/>
          </a:xfrm>
          <a:prstGeom prst="line">
            <a:avLst/>
          </a:prstGeom>
          <a:noFill/>
          <a:ln w="12700">
            <a:solidFill>
              <a:srgbClr val="3A4A8A">
                <a:alpha val="70000"/>
              </a:srgbClr>
            </a:solidFill>
            <a:prstDash val="solid"/>
          </a:ln>
        </p:spPr>
      </p:sp>
      <p:sp>
        <p:nvSpPr>
          <p:cNvPr id="24" name="Shape 22"/>
          <p:cNvSpPr/>
          <p:nvPr/>
        </p:nvSpPr>
        <p:spPr>
          <a:xfrm>
            <a:off x="1115568" y="5870448"/>
            <a:ext cx="146304" cy="146304"/>
          </a:xfrm>
          <a:prstGeom prst="ellipse">
            <a:avLst/>
          </a:prstGeom>
          <a:solidFill>
            <a:srgbClr val="02C39A"/>
          </a:solidFill>
          <a:ln/>
        </p:spPr>
      </p:sp>
      <p:sp>
        <p:nvSpPr>
          <p:cNvPr id="25" name="Shape 23"/>
          <p:cNvSpPr/>
          <p:nvPr/>
        </p:nvSpPr>
        <p:spPr>
          <a:xfrm>
            <a:off x="2048256" y="5486400"/>
            <a:ext cx="91440" cy="91440"/>
          </a:xfrm>
          <a:prstGeom prst="ellipse">
            <a:avLst/>
          </a:prstGeom>
          <a:solidFill>
            <a:srgbClr val="CADCFC">
              <a:alpha val="60000"/>
            </a:srgbClr>
          </a:solidFill>
          <a:ln/>
        </p:spPr>
      </p:sp>
      <p:sp>
        <p:nvSpPr>
          <p:cNvPr id="26" name="Shape 24"/>
          <p:cNvSpPr/>
          <p:nvPr/>
        </p:nvSpPr>
        <p:spPr>
          <a:xfrm>
            <a:off x="2377440" y="6391656"/>
            <a:ext cx="91440" cy="91440"/>
          </a:xfrm>
          <a:prstGeom prst="ellipse">
            <a:avLst/>
          </a:prstGeom>
          <a:solidFill>
            <a:srgbClr val="CADCFC">
              <a:alpha val="60000"/>
            </a:srgbClr>
          </a:solidFill>
          <a:ln/>
        </p:spPr>
      </p:sp>
      <p:sp>
        <p:nvSpPr>
          <p:cNvPr id="27" name="Shape 25"/>
          <p:cNvSpPr/>
          <p:nvPr/>
        </p:nvSpPr>
        <p:spPr>
          <a:xfrm>
            <a:off x="1472184" y="6803136"/>
            <a:ext cx="91440" cy="91440"/>
          </a:xfrm>
          <a:prstGeom prst="ellipse">
            <a:avLst/>
          </a:prstGeom>
          <a:solidFill>
            <a:srgbClr val="CADCFC">
              <a:alpha val="60000"/>
            </a:srgbClr>
          </a:solidFill>
          <a:ln/>
        </p:spPr>
      </p:sp>
      <p:sp>
        <p:nvSpPr>
          <p:cNvPr id="28" name="Shape 26"/>
          <p:cNvSpPr/>
          <p:nvPr/>
        </p:nvSpPr>
        <p:spPr>
          <a:xfrm>
            <a:off x="402336" y="6309360"/>
            <a:ext cx="91440" cy="91440"/>
          </a:xfrm>
          <a:prstGeom prst="ellipse">
            <a:avLst/>
          </a:prstGeom>
          <a:solidFill>
            <a:srgbClr val="CADCFC">
              <a:alpha val="60000"/>
            </a:srgbClr>
          </a:solidFill>
          <a:ln/>
        </p:spPr>
      </p:sp>
      <p:sp>
        <p:nvSpPr>
          <p:cNvPr id="29" name="Shape 27"/>
          <p:cNvSpPr/>
          <p:nvPr/>
        </p:nvSpPr>
        <p:spPr>
          <a:xfrm>
            <a:off x="731520" y="5239512"/>
            <a:ext cx="91440" cy="91440"/>
          </a:xfrm>
          <a:prstGeom prst="ellipse">
            <a:avLst/>
          </a:prstGeom>
          <a:solidFill>
            <a:srgbClr val="CADCFC">
              <a:alpha val="60000"/>
            </a:srgbClr>
          </a:solidFill>
          <a:ln/>
        </p:spPr>
      </p:sp>
      <p:sp>
        <p:nvSpPr>
          <p:cNvPr id="30" name="Shape 28"/>
          <p:cNvSpPr/>
          <p:nvPr/>
        </p:nvSpPr>
        <p:spPr>
          <a:xfrm>
            <a:off x="5501488" y="960120"/>
            <a:ext cx="1188720" cy="1188720"/>
          </a:xfrm>
          <a:prstGeom prst="ellipse">
            <a:avLst/>
          </a:prstGeom>
          <a:solidFill>
            <a:srgbClr val="02C39A"/>
          </a:solidFill>
          <a:ln/>
        </p:spPr>
      </p:sp>
      <p:pic>
        <p:nvPicPr>
          <p:cNvPr id="31" name="Image 0" descr="/home/claude/icons/shield_navy.png"/>
          <p:cNvPicPr>
            <a:picLocks noChangeAspect="1"/>
          </p:cNvPicPr>
          <p:nvPr/>
        </p:nvPicPr>
        <p:blipFill>
          <a:blip r:embed="rId3"/>
          <a:stretch>
            <a:fillRect/>
          </a:stretch>
        </p:blipFill>
        <p:spPr>
          <a:xfrm>
            <a:off x="5763006" y="1221638"/>
            <a:ext cx="665683" cy="665683"/>
          </a:xfrm>
          <a:prstGeom prst="rect">
            <a:avLst/>
          </a:prstGeom>
        </p:spPr>
      </p:pic>
      <p:sp>
        <p:nvSpPr>
          <p:cNvPr id="32" name="Text 29"/>
          <p:cNvSpPr/>
          <p:nvPr/>
        </p:nvSpPr>
        <p:spPr>
          <a:xfrm>
            <a:off x="731520" y="2423160"/>
            <a:ext cx="10728655" cy="100584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VPN vs Zero Trust Security</a:t>
            </a:r>
            <a:endParaRPr lang="en-US" sz="4200" dirty="0"/>
          </a:p>
        </p:txBody>
      </p:sp>
      <p:sp>
        <p:nvSpPr>
          <p:cNvPr id="33" name="Text 30"/>
          <p:cNvSpPr/>
          <p:nvPr/>
        </p:nvSpPr>
        <p:spPr>
          <a:xfrm>
            <a:off x="731520" y="3364992"/>
            <a:ext cx="10728655" cy="502920"/>
          </a:xfrm>
          <a:prstGeom prst="rect">
            <a:avLst/>
          </a:prstGeom>
          <a:noFill/>
          <a:ln/>
        </p:spPr>
        <p:txBody>
          <a:bodyPr wrap="square" lIns="0" tIns="0" rIns="0" bIns="0" rtlCol="0" anchor="ctr"/>
          <a:lstStyle/>
          <a:p>
            <a:pPr marL="0" indent="0" algn="ctr">
              <a:buNone/>
            </a:pPr>
            <a:r>
              <a:rPr lang="en-US" sz="1900" i="1" dirty="0">
                <a:solidFill>
                  <a:srgbClr val="02C39A"/>
                </a:solidFill>
                <a:latin typeface="Calibri" pitchFamily="34" charset="0"/>
                <a:ea typeface="Calibri" pitchFamily="34" charset="-122"/>
                <a:cs typeface="Calibri" pitchFamily="34" charset="-120"/>
              </a:rPr>
              <a:t>Understanding Modern Secure Access</a:t>
            </a:r>
            <a:endParaRPr lang="en-US" sz="1900" dirty="0"/>
          </a:p>
        </p:txBody>
      </p:sp>
      <p:sp>
        <p:nvSpPr>
          <p:cNvPr id="34" name="Shape 31"/>
          <p:cNvSpPr/>
          <p:nvPr/>
        </p:nvSpPr>
        <p:spPr>
          <a:xfrm>
            <a:off x="5090008" y="4160520"/>
            <a:ext cx="2011680" cy="0"/>
          </a:xfrm>
          <a:prstGeom prst="line">
            <a:avLst/>
          </a:prstGeom>
          <a:noFill/>
          <a:ln w="12700">
            <a:solidFill>
              <a:srgbClr val="3A4A8A"/>
            </a:solidFill>
            <a:prstDash val="solid"/>
          </a:ln>
        </p:spPr>
      </p:sp>
      <p:sp>
        <p:nvSpPr>
          <p:cNvPr id="35" name="Text 32"/>
          <p:cNvSpPr/>
          <p:nvPr/>
        </p:nvSpPr>
        <p:spPr>
          <a:xfrm>
            <a:off x="731520" y="4892040"/>
            <a:ext cx="10728655" cy="365760"/>
          </a:xfrm>
          <a:prstGeom prst="rect">
            <a:avLst/>
          </a:prstGeom>
          <a:noFill/>
          <a:ln/>
        </p:spPr>
        <p:txBody>
          <a:bodyPr wrap="square" lIns="0" tIns="0" rIns="0" bIns="0" rtlCol="0" anchor="ctr"/>
          <a:lstStyle/>
          <a:p>
            <a:pPr marL="0" indent="0" algn="ctr">
              <a:buNone/>
            </a:pPr>
            <a:r>
              <a:rPr lang="en-US" sz="1500" b="1" dirty="0" err="1">
                <a:solidFill>
                  <a:srgbClr val="CADCFC"/>
                </a:solidFill>
                <a:latin typeface="Calibri" pitchFamily="34" charset="0"/>
                <a:ea typeface="Calibri" pitchFamily="34" charset="-122"/>
                <a:cs typeface="Calibri" pitchFamily="34" charset="-120"/>
              </a:rPr>
              <a:t>Srustimayee</a:t>
            </a:r>
            <a:r>
              <a:rPr lang="en-US" sz="1500" b="1" dirty="0">
                <a:solidFill>
                  <a:srgbClr val="CADCFC"/>
                </a:solidFill>
                <a:latin typeface="Calibri" pitchFamily="34" charset="0"/>
                <a:ea typeface="Calibri" pitchFamily="34" charset="-122"/>
                <a:cs typeface="Calibri" pitchFamily="34" charset="-120"/>
              </a:rPr>
              <a:t> Dash</a:t>
            </a:r>
            <a:endParaRPr lang="en-US" sz="1500" dirty="0"/>
          </a:p>
        </p:txBody>
      </p:sp>
      <p:sp>
        <p:nvSpPr>
          <p:cNvPr id="36" name="Text 33"/>
          <p:cNvSpPr/>
          <p:nvPr/>
        </p:nvSpPr>
        <p:spPr>
          <a:xfrm>
            <a:off x="731520" y="5257800"/>
            <a:ext cx="10728655" cy="365760"/>
          </a:xfrm>
          <a:prstGeom prst="rect">
            <a:avLst/>
          </a:prstGeom>
          <a:noFill/>
          <a:ln/>
        </p:spPr>
        <p:txBody>
          <a:bodyPr wrap="square" lIns="0" tIns="0" rIns="0" bIns="0" rtlCol="0" anchor="ctr"/>
          <a:lstStyle/>
          <a:p>
            <a:pPr marL="0" indent="0" algn="ctr">
              <a:buNone/>
            </a:pP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is a VPN?</a:t>
            </a:r>
            <a:endParaRPr lang="en-US" sz="3000" dirty="0"/>
          </a:p>
        </p:txBody>
      </p:sp>
      <p:sp>
        <p:nvSpPr>
          <p:cNvPr id="3" name="Text 1"/>
          <p:cNvSpPr/>
          <p:nvPr/>
        </p:nvSpPr>
        <p:spPr>
          <a:xfrm>
            <a:off x="457200" y="960120"/>
            <a:ext cx="11277295" cy="320040"/>
          </a:xfrm>
          <a:prstGeom prst="rect">
            <a:avLst/>
          </a:prstGeom>
          <a:noFill/>
          <a:ln/>
        </p:spPr>
        <p:txBody>
          <a:bodyPr wrap="square" lIns="0" tIns="0" rIns="0" bIns="0" rtlCol="0" anchor="ctr"/>
          <a:lstStyle/>
          <a:p>
            <a:pPr marL="0" indent="0" algn="l">
              <a:buNone/>
            </a:pPr>
            <a:r>
              <a:rPr lang="en-US" sz="1300" i="1" dirty="0">
                <a:solidFill>
                  <a:srgbClr val="3A4A6B"/>
                </a:solidFill>
                <a:latin typeface="Calibri" pitchFamily="34" charset="0"/>
                <a:ea typeface="Calibri" pitchFamily="34" charset="-122"/>
                <a:cs typeface="Calibri" pitchFamily="34" charset="-120"/>
              </a:rPr>
              <a:t>Virtual Private Network — the traditional model for remote access</a:t>
            </a:r>
            <a:endParaRPr lang="en-US" sz="1300" dirty="0"/>
          </a:p>
        </p:txBody>
      </p:sp>
      <p:sp>
        <p:nvSpPr>
          <p:cNvPr id="4" name="Shape 2"/>
          <p:cNvSpPr/>
          <p:nvPr/>
        </p:nvSpPr>
        <p:spPr>
          <a:xfrm>
            <a:off x="457200" y="1417320"/>
            <a:ext cx="6537960" cy="1051560"/>
          </a:xfrm>
          <a:prstGeom prst="roundRect">
            <a:avLst>
              <a:gd name="adj" fmla="val 8696"/>
            </a:avLst>
          </a:prstGeom>
          <a:solidFill>
            <a:srgbClr val="F3F6FB"/>
          </a:solidFill>
          <a:ln/>
        </p:spPr>
      </p:sp>
      <p:sp>
        <p:nvSpPr>
          <p:cNvPr id="5" name="Text 3"/>
          <p:cNvSpPr/>
          <p:nvPr/>
        </p:nvSpPr>
        <p:spPr>
          <a:xfrm>
            <a:off x="685800" y="1417320"/>
            <a:ext cx="6080760" cy="1051560"/>
          </a:xfrm>
          <a:prstGeom prst="rect">
            <a:avLst/>
          </a:prstGeom>
          <a:noFill/>
          <a:ln/>
        </p:spPr>
        <p:txBody>
          <a:bodyPr wrap="square" lIns="0" tIns="0" rIns="0" bIns="0" rtlCol="0" anchor="ctr"/>
          <a:lstStyle/>
          <a:p>
            <a:pPr marL="0" indent="0">
              <a:buNone/>
            </a:pPr>
            <a:r>
              <a:rPr lang="en-US" sz="1350" dirty="0">
                <a:solidFill>
                  <a:srgbClr val="1E2761"/>
                </a:solidFill>
                <a:latin typeface="Calibri" pitchFamily="34" charset="0"/>
                <a:ea typeface="Calibri" pitchFamily="34" charset="-122"/>
                <a:cs typeface="Calibri" pitchFamily="34" charset="-120"/>
              </a:rPr>
              <a:t>A VPN creates an encrypted tunnel between a user's device and a private network, letting remote users connect as if they were physically on the corporate LAN.</a:t>
            </a:r>
            <a:endParaRPr lang="en-US" sz="1350" dirty="0"/>
          </a:p>
        </p:txBody>
      </p:sp>
      <p:sp>
        <p:nvSpPr>
          <p:cNvPr id="6" name="Shape 4"/>
          <p:cNvSpPr/>
          <p:nvPr/>
        </p:nvSpPr>
        <p:spPr>
          <a:xfrm>
            <a:off x="457200" y="2697480"/>
            <a:ext cx="475488" cy="475488"/>
          </a:xfrm>
          <a:prstGeom prst="ellipse">
            <a:avLst/>
          </a:prstGeom>
          <a:solidFill>
            <a:srgbClr val="1E2761"/>
          </a:solidFill>
          <a:ln/>
        </p:spPr>
      </p:sp>
      <p:pic>
        <p:nvPicPr>
          <p:cNvPr id="7" name="Image 0" descr="/home/claude/icons/lock_white.png"/>
          <p:cNvPicPr>
            <a:picLocks noChangeAspect="1"/>
          </p:cNvPicPr>
          <p:nvPr/>
        </p:nvPicPr>
        <p:blipFill>
          <a:blip r:embed="rId3"/>
          <a:stretch>
            <a:fillRect/>
          </a:stretch>
        </p:blipFill>
        <p:spPr>
          <a:xfrm>
            <a:off x="561807" y="2802087"/>
            <a:ext cx="266273" cy="266273"/>
          </a:xfrm>
          <a:prstGeom prst="rect">
            <a:avLst/>
          </a:prstGeom>
        </p:spPr>
      </p:pic>
      <p:sp>
        <p:nvSpPr>
          <p:cNvPr id="8" name="Text 5"/>
          <p:cNvSpPr/>
          <p:nvPr/>
        </p:nvSpPr>
        <p:spPr>
          <a:xfrm>
            <a:off x="1115568" y="2670048"/>
            <a:ext cx="5852160" cy="29260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Encrypted Tunnel</a:t>
            </a:r>
            <a:endParaRPr lang="en-US" sz="1400" dirty="0"/>
          </a:p>
        </p:txBody>
      </p:sp>
      <p:sp>
        <p:nvSpPr>
          <p:cNvPr id="9" name="Text 6"/>
          <p:cNvSpPr/>
          <p:nvPr/>
        </p:nvSpPr>
        <p:spPr>
          <a:xfrm>
            <a:off x="1115568" y="2944368"/>
            <a:ext cx="5852160" cy="292608"/>
          </a:xfrm>
          <a:prstGeom prst="rect">
            <a:avLst/>
          </a:prstGeom>
          <a:noFill/>
          <a:ln/>
        </p:spPr>
        <p:txBody>
          <a:bodyPr wrap="square" lIns="0" tIns="0" rIns="0" bIns="0" rtlCol="0" anchor="ctr"/>
          <a:lstStyle/>
          <a:p>
            <a:pPr marL="0" indent="0">
              <a:buNone/>
            </a:pPr>
            <a:r>
              <a:rPr lang="en-US" sz="1150" dirty="0">
                <a:solidFill>
                  <a:srgbClr val="3A4A6B"/>
                </a:solidFill>
                <a:latin typeface="Calibri" pitchFamily="34" charset="0"/>
                <a:ea typeface="Calibri" pitchFamily="34" charset="-122"/>
                <a:cs typeface="Calibri" pitchFamily="34" charset="-120"/>
              </a:rPr>
              <a:t>All traffic is encrypted between device and gateway</a:t>
            </a:r>
            <a:endParaRPr lang="en-US" sz="1150" dirty="0"/>
          </a:p>
        </p:txBody>
      </p:sp>
      <p:sp>
        <p:nvSpPr>
          <p:cNvPr id="10" name="Shape 7"/>
          <p:cNvSpPr/>
          <p:nvPr/>
        </p:nvSpPr>
        <p:spPr>
          <a:xfrm>
            <a:off x="457200" y="3593592"/>
            <a:ext cx="475488" cy="475488"/>
          </a:xfrm>
          <a:prstGeom prst="ellipse">
            <a:avLst/>
          </a:prstGeom>
          <a:solidFill>
            <a:srgbClr val="1E2761"/>
          </a:solidFill>
          <a:ln/>
        </p:spPr>
      </p:sp>
      <p:pic>
        <p:nvPicPr>
          <p:cNvPr id="11" name="Image 1" descr="/home/claude/icons/laptop_white.png"/>
          <p:cNvPicPr>
            <a:picLocks noChangeAspect="1"/>
          </p:cNvPicPr>
          <p:nvPr/>
        </p:nvPicPr>
        <p:blipFill>
          <a:blip r:embed="rId4"/>
          <a:stretch>
            <a:fillRect/>
          </a:stretch>
        </p:blipFill>
        <p:spPr>
          <a:xfrm>
            <a:off x="561807" y="3698199"/>
            <a:ext cx="266273" cy="266273"/>
          </a:xfrm>
          <a:prstGeom prst="rect">
            <a:avLst/>
          </a:prstGeom>
        </p:spPr>
      </p:pic>
      <p:sp>
        <p:nvSpPr>
          <p:cNvPr id="12" name="Text 8"/>
          <p:cNvSpPr/>
          <p:nvPr/>
        </p:nvSpPr>
        <p:spPr>
          <a:xfrm>
            <a:off x="1115568" y="3566160"/>
            <a:ext cx="5852160" cy="29260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Remote Access</a:t>
            </a:r>
            <a:endParaRPr lang="en-US" sz="1400" dirty="0"/>
          </a:p>
        </p:txBody>
      </p:sp>
      <p:sp>
        <p:nvSpPr>
          <p:cNvPr id="13" name="Text 9"/>
          <p:cNvSpPr/>
          <p:nvPr/>
        </p:nvSpPr>
        <p:spPr>
          <a:xfrm>
            <a:off x="1115568" y="3840480"/>
            <a:ext cx="5852160" cy="292608"/>
          </a:xfrm>
          <a:prstGeom prst="rect">
            <a:avLst/>
          </a:prstGeom>
          <a:noFill/>
          <a:ln/>
        </p:spPr>
        <p:txBody>
          <a:bodyPr wrap="square" lIns="0" tIns="0" rIns="0" bIns="0" rtlCol="0" anchor="ctr"/>
          <a:lstStyle/>
          <a:p>
            <a:pPr marL="0" indent="0">
              <a:buNone/>
            </a:pPr>
            <a:r>
              <a:rPr lang="en-US" sz="1150" dirty="0">
                <a:solidFill>
                  <a:srgbClr val="3A4A6B"/>
                </a:solidFill>
                <a:latin typeface="Calibri" pitchFamily="34" charset="0"/>
                <a:ea typeface="Calibri" pitchFamily="34" charset="-122"/>
                <a:cs typeface="Calibri" pitchFamily="34" charset="-120"/>
              </a:rPr>
              <a:t>Connect to office resources from anywhere</a:t>
            </a:r>
            <a:endParaRPr lang="en-US" sz="1150" dirty="0"/>
          </a:p>
        </p:txBody>
      </p:sp>
      <p:sp>
        <p:nvSpPr>
          <p:cNvPr id="14" name="Shape 10"/>
          <p:cNvSpPr/>
          <p:nvPr/>
        </p:nvSpPr>
        <p:spPr>
          <a:xfrm>
            <a:off x="457200" y="4489704"/>
            <a:ext cx="475488" cy="475488"/>
          </a:xfrm>
          <a:prstGeom prst="ellipse">
            <a:avLst/>
          </a:prstGeom>
          <a:solidFill>
            <a:srgbClr val="1E2761"/>
          </a:solidFill>
          <a:ln/>
        </p:spPr>
      </p:sp>
      <p:pic>
        <p:nvPicPr>
          <p:cNvPr id="15" name="Image 2" descr="/home/claude/icons/key_white.png"/>
          <p:cNvPicPr>
            <a:picLocks noChangeAspect="1"/>
          </p:cNvPicPr>
          <p:nvPr/>
        </p:nvPicPr>
        <p:blipFill>
          <a:blip r:embed="rId5"/>
          <a:stretch>
            <a:fillRect/>
          </a:stretch>
        </p:blipFill>
        <p:spPr>
          <a:xfrm>
            <a:off x="561807" y="4594311"/>
            <a:ext cx="266273" cy="266273"/>
          </a:xfrm>
          <a:prstGeom prst="rect">
            <a:avLst/>
          </a:prstGeom>
        </p:spPr>
      </p:pic>
      <p:sp>
        <p:nvSpPr>
          <p:cNvPr id="16" name="Text 11"/>
          <p:cNvSpPr/>
          <p:nvPr/>
        </p:nvSpPr>
        <p:spPr>
          <a:xfrm>
            <a:off x="1115568" y="4462272"/>
            <a:ext cx="5852160" cy="29260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Single Authentication</a:t>
            </a:r>
            <a:endParaRPr lang="en-US" sz="1400" dirty="0"/>
          </a:p>
        </p:txBody>
      </p:sp>
      <p:sp>
        <p:nvSpPr>
          <p:cNvPr id="17" name="Text 12"/>
          <p:cNvSpPr/>
          <p:nvPr/>
        </p:nvSpPr>
        <p:spPr>
          <a:xfrm>
            <a:off x="1115568" y="4736592"/>
            <a:ext cx="5852160" cy="292608"/>
          </a:xfrm>
          <a:prstGeom prst="rect">
            <a:avLst/>
          </a:prstGeom>
          <a:noFill/>
          <a:ln/>
        </p:spPr>
        <p:txBody>
          <a:bodyPr wrap="square" lIns="0" tIns="0" rIns="0" bIns="0" rtlCol="0" anchor="ctr"/>
          <a:lstStyle/>
          <a:p>
            <a:pPr marL="0" indent="0">
              <a:buNone/>
            </a:pPr>
            <a:r>
              <a:rPr lang="en-US" sz="1150" dirty="0">
                <a:solidFill>
                  <a:srgbClr val="3A4A6B"/>
                </a:solidFill>
                <a:latin typeface="Calibri" pitchFamily="34" charset="0"/>
                <a:ea typeface="Calibri" pitchFamily="34" charset="-122"/>
                <a:cs typeface="Calibri" pitchFamily="34" charset="-120"/>
              </a:rPr>
              <a:t>One login grants access to the network</a:t>
            </a:r>
            <a:endParaRPr lang="en-US" sz="1150" dirty="0"/>
          </a:p>
        </p:txBody>
      </p:sp>
      <p:sp>
        <p:nvSpPr>
          <p:cNvPr id="18" name="Shape 13"/>
          <p:cNvSpPr/>
          <p:nvPr/>
        </p:nvSpPr>
        <p:spPr>
          <a:xfrm>
            <a:off x="457200" y="5385816"/>
            <a:ext cx="475488" cy="475488"/>
          </a:xfrm>
          <a:prstGeom prst="ellipse">
            <a:avLst/>
          </a:prstGeom>
          <a:solidFill>
            <a:srgbClr val="1E2761"/>
          </a:solidFill>
          <a:ln/>
        </p:spPr>
      </p:sp>
      <p:pic>
        <p:nvPicPr>
          <p:cNvPr id="19" name="Image 3" descr="/home/claude/icons/network_white.png"/>
          <p:cNvPicPr>
            <a:picLocks noChangeAspect="1"/>
          </p:cNvPicPr>
          <p:nvPr/>
        </p:nvPicPr>
        <p:blipFill>
          <a:blip r:embed="rId6"/>
          <a:stretch>
            <a:fillRect/>
          </a:stretch>
        </p:blipFill>
        <p:spPr>
          <a:xfrm>
            <a:off x="561807" y="5490423"/>
            <a:ext cx="266273" cy="266273"/>
          </a:xfrm>
          <a:prstGeom prst="rect">
            <a:avLst/>
          </a:prstGeom>
        </p:spPr>
      </p:pic>
      <p:sp>
        <p:nvSpPr>
          <p:cNvPr id="20" name="Text 14"/>
          <p:cNvSpPr/>
          <p:nvPr/>
        </p:nvSpPr>
        <p:spPr>
          <a:xfrm>
            <a:off x="1115568" y="5358384"/>
            <a:ext cx="5852160" cy="29260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Internal Network Access</a:t>
            </a:r>
            <a:endParaRPr lang="en-US" sz="1400" dirty="0"/>
          </a:p>
        </p:txBody>
      </p:sp>
      <p:sp>
        <p:nvSpPr>
          <p:cNvPr id="21" name="Text 15"/>
          <p:cNvSpPr/>
          <p:nvPr/>
        </p:nvSpPr>
        <p:spPr>
          <a:xfrm>
            <a:off x="1115568" y="5632704"/>
            <a:ext cx="5852160" cy="292608"/>
          </a:xfrm>
          <a:prstGeom prst="rect">
            <a:avLst/>
          </a:prstGeom>
          <a:noFill/>
          <a:ln/>
        </p:spPr>
        <p:txBody>
          <a:bodyPr wrap="square" lIns="0" tIns="0" rIns="0" bIns="0" rtlCol="0" anchor="ctr"/>
          <a:lstStyle/>
          <a:p>
            <a:pPr marL="0" indent="0">
              <a:buNone/>
            </a:pPr>
            <a:r>
              <a:rPr lang="en-US" sz="1150" dirty="0">
                <a:solidFill>
                  <a:srgbClr val="3A4A6B"/>
                </a:solidFill>
                <a:latin typeface="Calibri" pitchFamily="34" charset="0"/>
                <a:ea typeface="Calibri" pitchFamily="34" charset="-122"/>
                <a:cs typeface="Calibri" pitchFamily="34" charset="-120"/>
              </a:rPr>
              <a:t>Device behaves as if inside the LAN</a:t>
            </a:r>
            <a:endParaRPr lang="en-US" sz="1150" dirty="0"/>
          </a:p>
        </p:txBody>
      </p:sp>
      <p:sp>
        <p:nvSpPr>
          <p:cNvPr id="22" name="Shape 16"/>
          <p:cNvSpPr/>
          <p:nvPr/>
        </p:nvSpPr>
        <p:spPr>
          <a:xfrm>
            <a:off x="7452360" y="1417320"/>
            <a:ext cx="4251960" cy="4709160"/>
          </a:xfrm>
          <a:prstGeom prst="roundRect">
            <a:avLst>
              <a:gd name="adj" fmla="val 2581"/>
            </a:avLst>
          </a:prstGeom>
          <a:solidFill>
            <a:srgbClr val="F3F6FB"/>
          </a:solidFill>
          <a:ln/>
        </p:spPr>
      </p:sp>
      <p:sp>
        <p:nvSpPr>
          <p:cNvPr id="23" name="Text 17"/>
          <p:cNvSpPr/>
          <p:nvPr/>
        </p:nvSpPr>
        <p:spPr>
          <a:xfrm>
            <a:off x="7452360" y="1572768"/>
            <a:ext cx="4251960" cy="32004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VPN Workflow</a:t>
            </a:r>
            <a:endParaRPr lang="en-US" sz="1300" dirty="0"/>
          </a:p>
        </p:txBody>
      </p:sp>
      <p:sp>
        <p:nvSpPr>
          <p:cNvPr id="24" name="Shape 18"/>
          <p:cNvSpPr/>
          <p:nvPr/>
        </p:nvSpPr>
        <p:spPr>
          <a:xfrm>
            <a:off x="8343900" y="2148840"/>
            <a:ext cx="2468880" cy="777240"/>
          </a:xfrm>
          <a:prstGeom prst="roundRect">
            <a:avLst>
              <a:gd name="adj" fmla="val 11765"/>
            </a:avLst>
          </a:prstGeom>
          <a:solidFill>
            <a:srgbClr val="FFFFFF"/>
          </a:solidFill>
          <a:ln w="15875">
            <a:solidFill>
              <a:srgbClr val="1E2761"/>
            </a:solidFill>
            <a:prstDash val="solid"/>
          </a:ln>
        </p:spPr>
      </p:sp>
      <p:sp>
        <p:nvSpPr>
          <p:cNvPr id="25" name="Shape 19"/>
          <p:cNvSpPr/>
          <p:nvPr/>
        </p:nvSpPr>
        <p:spPr>
          <a:xfrm>
            <a:off x="8508492" y="2308860"/>
            <a:ext cx="457200" cy="457200"/>
          </a:xfrm>
          <a:prstGeom prst="ellipse">
            <a:avLst/>
          </a:prstGeom>
          <a:solidFill>
            <a:srgbClr val="02C39A"/>
          </a:solidFill>
          <a:ln/>
        </p:spPr>
      </p:sp>
      <p:pic>
        <p:nvPicPr>
          <p:cNvPr id="26" name="Image 4" descr="/home/claude/icons/user_navy.png"/>
          <p:cNvPicPr>
            <a:picLocks noChangeAspect="1"/>
          </p:cNvPicPr>
          <p:nvPr/>
        </p:nvPicPr>
        <p:blipFill>
          <a:blip r:embed="rId7"/>
          <a:stretch>
            <a:fillRect/>
          </a:stretch>
        </p:blipFill>
        <p:spPr>
          <a:xfrm>
            <a:off x="8611362" y="2411730"/>
            <a:ext cx="251460" cy="251460"/>
          </a:xfrm>
          <a:prstGeom prst="rect">
            <a:avLst/>
          </a:prstGeom>
        </p:spPr>
      </p:pic>
      <p:sp>
        <p:nvSpPr>
          <p:cNvPr id="27" name="Text 20"/>
          <p:cNvSpPr/>
          <p:nvPr/>
        </p:nvSpPr>
        <p:spPr>
          <a:xfrm>
            <a:off x="9075420" y="2148840"/>
            <a:ext cx="1600200" cy="77724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Remote User</a:t>
            </a:r>
            <a:endParaRPr lang="en-US" sz="1250" dirty="0"/>
          </a:p>
        </p:txBody>
      </p:sp>
      <p:sp>
        <p:nvSpPr>
          <p:cNvPr id="28" name="Shape 21"/>
          <p:cNvSpPr/>
          <p:nvPr/>
        </p:nvSpPr>
        <p:spPr>
          <a:xfrm>
            <a:off x="9578340" y="2980944"/>
            <a:ext cx="0" cy="384048"/>
          </a:xfrm>
          <a:prstGeom prst="line">
            <a:avLst/>
          </a:prstGeom>
          <a:noFill/>
          <a:ln w="28575">
            <a:solidFill>
              <a:srgbClr val="1E2761"/>
            </a:solidFill>
            <a:prstDash val="solid"/>
            <a:tailEnd type="triangle"/>
          </a:ln>
        </p:spPr>
      </p:sp>
      <p:sp>
        <p:nvSpPr>
          <p:cNvPr id="29" name="Shape 22"/>
          <p:cNvSpPr/>
          <p:nvPr/>
        </p:nvSpPr>
        <p:spPr>
          <a:xfrm>
            <a:off x="8343900" y="3493008"/>
            <a:ext cx="2468880" cy="777240"/>
          </a:xfrm>
          <a:prstGeom prst="roundRect">
            <a:avLst>
              <a:gd name="adj" fmla="val 11765"/>
            </a:avLst>
          </a:prstGeom>
          <a:solidFill>
            <a:srgbClr val="FFFFFF"/>
          </a:solidFill>
          <a:ln w="15875">
            <a:solidFill>
              <a:srgbClr val="1E2761"/>
            </a:solidFill>
            <a:prstDash val="solid"/>
          </a:ln>
        </p:spPr>
      </p:sp>
      <p:sp>
        <p:nvSpPr>
          <p:cNvPr id="30" name="Shape 23"/>
          <p:cNvSpPr/>
          <p:nvPr/>
        </p:nvSpPr>
        <p:spPr>
          <a:xfrm>
            <a:off x="8508492" y="3653028"/>
            <a:ext cx="457200" cy="457200"/>
          </a:xfrm>
          <a:prstGeom prst="ellipse">
            <a:avLst/>
          </a:prstGeom>
          <a:solidFill>
            <a:srgbClr val="02C39A"/>
          </a:solidFill>
          <a:ln/>
        </p:spPr>
      </p:sp>
      <p:pic>
        <p:nvPicPr>
          <p:cNvPr id="31" name="Image 5" descr="/home/claude/icons/lock_navy.png"/>
          <p:cNvPicPr>
            <a:picLocks noChangeAspect="1"/>
          </p:cNvPicPr>
          <p:nvPr/>
        </p:nvPicPr>
        <p:blipFill>
          <a:blip r:embed="rId8"/>
          <a:stretch>
            <a:fillRect/>
          </a:stretch>
        </p:blipFill>
        <p:spPr>
          <a:xfrm>
            <a:off x="8611362" y="3755898"/>
            <a:ext cx="251460" cy="251460"/>
          </a:xfrm>
          <a:prstGeom prst="rect">
            <a:avLst/>
          </a:prstGeom>
        </p:spPr>
      </p:pic>
      <p:sp>
        <p:nvSpPr>
          <p:cNvPr id="32" name="Text 24"/>
          <p:cNvSpPr/>
          <p:nvPr/>
        </p:nvSpPr>
        <p:spPr>
          <a:xfrm>
            <a:off x="9075420" y="3493008"/>
            <a:ext cx="1600200" cy="77724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Encrypted VPN Tunnel</a:t>
            </a:r>
            <a:endParaRPr lang="en-US" sz="1250" dirty="0"/>
          </a:p>
        </p:txBody>
      </p:sp>
      <p:sp>
        <p:nvSpPr>
          <p:cNvPr id="33" name="Shape 25"/>
          <p:cNvSpPr/>
          <p:nvPr/>
        </p:nvSpPr>
        <p:spPr>
          <a:xfrm>
            <a:off x="9578340" y="4325112"/>
            <a:ext cx="0" cy="384048"/>
          </a:xfrm>
          <a:prstGeom prst="line">
            <a:avLst/>
          </a:prstGeom>
          <a:noFill/>
          <a:ln w="28575">
            <a:solidFill>
              <a:srgbClr val="1E2761"/>
            </a:solidFill>
            <a:prstDash val="solid"/>
            <a:tailEnd type="triangle"/>
          </a:ln>
        </p:spPr>
      </p:sp>
      <p:sp>
        <p:nvSpPr>
          <p:cNvPr id="34" name="Shape 26"/>
          <p:cNvSpPr/>
          <p:nvPr/>
        </p:nvSpPr>
        <p:spPr>
          <a:xfrm>
            <a:off x="8343900" y="4837176"/>
            <a:ext cx="2468880" cy="777240"/>
          </a:xfrm>
          <a:prstGeom prst="roundRect">
            <a:avLst>
              <a:gd name="adj" fmla="val 11765"/>
            </a:avLst>
          </a:prstGeom>
          <a:solidFill>
            <a:srgbClr val="FFFFFF"/>
          </a:solidFill>
          <a:ln w="15875">
            <a:solidFill>
              <a:srgbClr val="1E2761"/>
            </a:solidFill>
            <a:prstDash val="solid"/>
          </a:ln>
        </p:spPr>
      </p:sp>
      <p:sp>
        <p:nvSpPr>
          <p:cNvPr id="35" name="Shape 27"/>
          <p:cNvSpPr/>
          <p:nvPr/>
        </p:nvSpPr>
        <p:spPr>
          <a:xfrm>
            <a:off x="8508492" y="4997196"/>
            <a:ext cx="457200" cy="457200"/>
          </a:xfrm>
          <a:prstGeom prst="ellipse">
            <a:avLst/>
          </a:prstGeom>
          <a:solidFill>
            <a:srgbClr val="02C39A"/>
          </a:solidFill>
          <a:ln/>
        </p:spPr>
      </p:sp>
      <p:pic>
        <p:nvPicPr>
          <p:cNvPr id="36" name="Image 6" descr="/home/claude/icons/server_navy.png"/>
          <p:cNvPicPr>
            <a:picLocks noChangeAspect="1"/>
          </p:cNvPicPr>
          <p:nvPr/>
        </p:nvPicPr>
        <p:blipFill>
          <a:blip r:embed="rId9"/>
          <a:stretch>
            <a:fillRect/>
          </a:stretch>
        </p:blipFill>
        <p:spPr>
          <a:xfrm>
            <a:off x="8611362" y="5100066"/>
            <a:ext cx="251460" cy="251460"/>
          </a:xfrm>
          <a:prstGeom prst="rect">
            <a:avLst/>
          </a:prstGeom>
        </p:spPr>
      </p:pic>
      <p:sp>
        <p:nvSpPr>
          <p:cNvPr id="37" name="Text 28"/>
          <p:cNvSpPr/>
          <p:nvPr/>
        </p:nvSpPr>
        <p:spPr>
          <a:xfrm>
            <a:off x="9075420" y="4837176"/>
            <a:ext cx="1600200" cy="77724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Corporate Network</a:t>
            </a:r>
            <a:endParaRPr lang="en-US" sz="1250" dirty="0"/>
          </a:p>
        </p:txBody>
      </p:sp>
      <p:sp>
        <p:nvSpPr>
          <p:cNvPr id="38" name="Text 29"/>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950" dirty="0">
                <a:solidFill>
                  <a:srgbClr val="8896AD"/>
                </a:solidFill>
                <a:latin typeface="Calibri" pitchFamily="34" charset="0"/>
                <a:ea typeface="Calibri" pitchFamily="34" charset="-122"/>
                <a:cs typeface="Calibri" pitchFamily="34" charset="-120"/>
              </a:rPr>
              <a:t>VPN vs Zero Trust Security</a:t>
            </a:r>
            <a:endParaRPr lang="en-US" sz="950" dirty="0"/>
          </a:p>
        </p:txBody>
      </p:sp>
      <p:sp>
        <p:nvSpPr>
          <p:cNvPr id="39" name="Text 30"/>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50" dirty="0">
                <a:solidFill>
                  <a:srgbClr val="8896AD"/>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VPN Architecture and Working</a:t>
            </a:r>
            <a:endParaRPr lang="en-US" sz="3000" dirty="0"/>
          </a:p>
        </p:txBody>
      </p:sp>
      <p:sp>
        <p:nvSpPr>
          <p:cNvPr id="3" name="Text 1"/>
          <p:cNvSpPr/>
          <p:nvPr/>
        </p:nvSpPr>
        <p:spPr>
          <a:xfrm>
            <a:off x="457200" y="960120"/>
            <a:ext cx="11277295" cy="320040"/>
          </a:xfrm>
          <a:prstGeom prst="rect">
            <a:avLst/>
          </a:prstGeom>
          <a:noFill/>
          <a:ln/>
        </p:spPr>
        <p:txBody>
          <a:bodyPr wrap="square" lIns="0" tIns="0" rIns="0" bIns="0" rtlCol="0" anchor="ctr"/>
          <a:lstStyle/>
          <a:p>
            <a:pPr marL="0" indent="0" algn="l">
              <a:buNone/>
            </a:pPr>
            <a:r>
              <a:rPr lang="en-US" sz="1300" i="1" dirty="0">
                <a:solidFill>
                  <a:srgbClr val="3A4A6B"/>
                </a:solidFill>
                <a:latin typeface="Calibri" pitchFamily="34" charset="0"/>
                <a:ea typeface="Calibri" pitchFamily="34" charset="-122"/>
                <a:cs typeface="Calibri" pitchFamily="34" charset="-120"/>
              </a:rPr>
              <a:t>Network-centric access — once you're in the tunnel, you're on the network</a:t>
            </a:r>
            <a:endParaRPr lang="en-US" sz="1300" dirty="0"/>
          </a:p>
        </p:txBody>
      </p:sp>
      <p:sp>
        <p:nvSpPr>
          <p:cNvPr id="4" name="Shape 2"/>
          <p:cNvSpPr/>
          <p:nvPr/>
        </p:nvSpPr>
        <p:spPr>
          <a:xfrm>
            <a:off x="700888" y="1508760"/>
            <a:ext cx="2651760" cy="960120"/>
          </a:xfrm>
          <a:prstGeom prst="roundRect">
            <a:avLst>
              <a:gd name="adj" fmla="val 11429"/>
            </a:avLst>
          </a:prstGeom>
          <a:solidFill>
            <a:srgbClr val="F3F6FB"/>
          </a:solidFill>
          <a:ln/>
        </p:spPr>
      </p:sp>
      <p:sp>
        <p:nvSpPr>
          <p:cNvPr id="5" name="Shape 3"/>
          <p:cNvSpPr/>
          <p:nvPr/>
        </p:nvSpPr>
        <p:spPr>
          <a:xfrm>
            <a:off x="1734160" y="1627632"/>
            <a:ext cx="566928" cy="566928"/>
          </a:xfrm>
          <a:prstGeom prst="ellipse">
            <a:avLst/>
          </a:prstGeom>
          <a:solidFill>
            <a:srgbClr val="1E2761"/>
          </a:solidFill>
          <a:ln/>
        </p:spPr>
      </p:sp>
      <p:pic>
        <p:nvPicPr>
          <p:cNvPr id="6" name="Image 0" descr="/home/claude/icons/user_white.png"/>
          <p:cNvPicPr>
            <a:picLocks noChangeAspect="1"/>
          </p:cNvPicPr>
          <p:nvPr/>
        </p:nvPicPr>
        <p:blipFill>
          <a:blip r:embed="rId3"/>
          <a:stretch>
            <a:fillRect/>
          </a:stretch>
        </p:blipFill>
        <p:spPr>
          <a:xfrm>
            <a:off x="1858884" y="1752356"/>
            <a:ext cx="317480" cy="317480"/>
          </a:xfrm>
          <a:prstGeom prst="rect">
            <a:avLst/>
          </a:prstGeom>
        </p:spPr>
      </p:pic>
      <p:sp>
        <p:nvSpPr>
          <p:cNvPr id="7" name="Text 4"/>
          <p:cNvSpPr/>
          <p:nvPr/>
        </p:nvSpPr>
        <p:spPr>
          <a:xfrm>
            <a:off x="700888" y="2167128"/>
            <a:ext cx="2651760"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User</a:t>
            </a:r>
            <a:endParaRPr lang="en-US" sz="1300" dirty="0"/>
          </a:p>
        </p:txBody>
      </p:sp>
      <p:sp>
        <p:nvSpPr>
          <p:cNvPr id="8" name="Shape 5"/>
          <p:cNvSpPr/>
          <p:nvPr/>
        </p:nvSpPr>
        <p:spPr>
          <a:xfrm>
            <a:off x="3462376" y="1988820"/>
            <a:ext cx="1197864" cy="0"/>
          </a:xfrm>
          <a:prstGeom prst="line">
            <a:avLst/>
          </a:prstGeom>
          <a:noFill/>
          <a:ln w="28575">
            <a:solidFill>
              <a:srgbClr val="3A4A6B"/>
            </a:solidFill>
            <a:prstDash val="solid"/>
            <a:tailEnd type="triangle"/>
          </a:ln>
        </p:spPr>
      </p:sp>
      <p:sp>
        <p:nvSpPr>
          <p:cNvPr id="9" name="Shape 6"/>
          <p:cNvSpPr/>
          <p:nvPr/>
        </p:nvSpPr>
        <p:spPr>
          <a:xfrm>
            <a:off x="4769968" y="1508760"/>
            <a:ext cx="2651760" cy="960120"/>
          </a:xfrm>
          <a:prstGeom prst="roundRect">
            <a:avLst>
              <a:gd name="adj" fmla="val 11429"/>
            </a:avLst>
          </a:prstGeom>
          <a:solidFill>
            <a:srgbClr val="1E2761"/>
          </a:solidFill>
          <a:ln/>
        </p:spPr>
      </p:sp>
      <p:sp>
        <p:nvSpPr>
          <p:cNvPr id="10" name="Shape 7"/>
          <p:cNvSpPr/>
          <p:nvPr/>
        </p:nvSpPr>
        <p:spPr>
          <a:xfrm>
            <a:off x="5803240" y="1627632"/>
            <a:ext cx="566928" cy="566928"/>
          </a:xfrm>
          <a:prstGeom prst="ellipse">
            <a:avLst/>
          </a:prstGeom>
          <a:solidFill>
            <a:srgbClr val="02C39A"/>
          </a:solidFill>
          <a:ln/>
        </p:spPr>
      </p:sp>
      <p:pic>
        <p:nvPicPr>
          <p:cNvPr id="11" name="Image 1" descr="/home/claude/icons/lock_navy.png"/>
          <p:cNvPicPr>
            <a:picLocks noChangeAspect="1"/>
          </p:cNvPicPr>
          <p:nvPr/>
        </p:nvPicPr>
        <p:blipFill>
          <a:blip r:embed="rId4"/>
          <a:stretch>
            <a:fillRect/>
          </a:stretch>
        </p:blipFill>
        <p:spPr>
          <a:xfrm>
            <a:off x="5927964" y="1752356"/>
            <a:ext cx="317480" cy="317480"/>
          </a:xfrm>
          <a:prstGeom prst="rect">
            <a:avLst/>
          </a:prstGeom>
        </p:spPr>
      </p:pic>
      <p:sp>
        <p:nvSpPr>
          <p:cNvPr id="12" name="Text 8"/>
          <p:cNvSpPr/>
          <p:nvPr/>
        </p:nvSpPr>
        <p:spPr>
          <a:xfrm>
            <a:off x="4769968" y="2167128"/>
            <a:ext cx="2651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VPN Tunnel</a:t>
            </a:r>
            <a:endParaRPr lang="en-US" sz="1300" dirty="0"/>
          </a:p>
        </p:txBody>
      </p:sp>
      <p:sp>
        <p:nvSpPr>
          <p:cNvPr id="13" name="Shape 9"/>
          <p:cNvSpPr/>
          <p:nvPr/>
        </p:nvSpPr>
        <p:spPr>
          <a:xfrm>
            <a:off x="7531456" y="1988820"/>
            <a:ext cx="1197864" cy="0"/>
          </a:xfrm>
          <a:prstGeom prst="line">
            <a:avLst/>
          </a:prstGeom>
          <a:noFill/>
          <a:ln w="28575">
            <a:solidFill>
              <a:srgbClr val="3A4A6B"/>
            </a:solidFill>
            <a:prstDash val="solid"/>
            <a:tailEnd type="triangle"/>
          </a:ln>
        </p:spPr>
      </p:sp>
      <p:sp>
        <p:nvSpPr>
          <p:cNvPr id="14" name="Shape 10"/>
          <p:cNvSpPr/>
          <p:nvPr/>
        </p:nvSpPr>
        <p:spPr>
          <a:xfrm>
            <a:off x="8839048" y="1508760"/>
            <a:ext cx="2651760" cy="960120"/>
          </a:xfrm>
          <a:prstGeom prst="roundRect">
            <a:avLst>
              <a:gd name="adj" fmla="val 11429"/>
            </a:avLst>
          </a:prstGeom>
          <a:solidFill>
            <a:srgbClr val="F3F6FB"/>
          </a:solidFill>
          <a:ln/>
        </p:spPr>
      </p:sp>
      <p:sp>
        <p:nvSpPr>
          <p:cNvPr id="15" name="Shape 11"/>
          <p:cNvSpPr/>
          <p:nvPr/>
        </p:nvSpPr>
        <p:spPr>
          <a:xfrm>
            <a:off x="9872320" y="1627632"/>
            <a:ext cx="566928" cy="566928"/>
          </a:xfrm>
          <a:prstGeom prst="ellipse">
            <a:avLst/>
          </a:prstGeom>
          <a:solidFill>
            <a:srgbClr val="1E2761"/>
          </a:solidFill>
          <a:ln/>
        </p:spPr>
      </p:sp>
      <p:pic>
        <p:nvPicPr>
          <p:cNvPr id="16" name="Image 2" descr="/home/claude/icons/building_white.png"/>
          <p:cNvPicPr>
            <a:picLocks noChangeAspect="1"/>
          </p:cNvPicPr>
          <p:nvPr/>
        </p:nvPicPr>
        <p:blipFill>
          <a:blip r:embed="rId5"/>
          <a:stretch>
            <a:fillRect/>
          </a:stretch>
        </p:blipFill>
        <p:spPr>
          <a:xfrm>
            <a:off x="9997044" y="1752356"/>
            <a:ext cx="317480" cy="317480"/>
          </a:xfrm>
          <a:prstGeom prst="rect">
            <a:avLst/>
          </a:prstGeom>
        </p:spPr>
      </p:pic>
      <p:sp>
        <p:nvSpPr>
          <p:cNvPr id="17" name="Text 12"/>
          <p:cNvSpPr/>
          <p:nvPr/>
        </p:nvSpPr>
        <p:spPr>
          <a:xfrm>
            <a:off x="8839048" y="2167128"/>
            <a:ext cx="2651760"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Corporate Network</a:t>
            </a:r>
            <a:endParaRPr lang="en-US" sz="1300" dirty="0"/>
          </a:p>
        </p:txBody>
      </p:sp>
      <p:sp>
        <p:nvSpPr>
          <p:cNvPr id="18" name="Text 13"/>
          <p:cNvSpPr/>
          <p:nvPr/>
        </p:nvSpPr>
        <p:spPr>
          <a:xfrm>
            <a:off x="700888" y="2724912"/>
            <a:ext cx="10789920" cy="274320"/>
          </a:xfrm>
          <a:prstGeom prst="rect">
            <a:avLst/>
          </a:prstGeom>
          <a:noFill/>
          <a:ln/>
        </p:spPr>
        <p:txBody>
          <a:bodyPr wrap="square" lIns="0" tIns="0" rIns="0" bIns="0" rtlCol="0" anchor="ctr"/>
          <a:lstStyle/>
          <a:p>
            <a:pPr marL="0" indent="0" algn="ctr">
              <a:buNone/>
            </a:pPr>
            <a:r>
              <a:rPr lang="en-US" sz="1100" i="1" dirty="0">
                <a:solidFill>
                  <a:srgbClr val="3A4A6B"/>
                </a:solidFill>
                <a:latin typeface="Calibri" pitchFamily="34" charset="0"/>
                <a:ea typeface="Calibri" pitchFamily="34" charset="-122"/>
                <a:cs typeface="Calibri" pitchFamily="34" charset="-120"/>
              </a:rPr>
              <a:t>full network access, no per-application check</a:t>
            </a:r>
            <a:endParaRPr lang="en-US" sz="1100" dirty="0"/>
          </a:p>
        </p:txBody>
      </p:sp>
      <p:sp>
        <p:nvSpPr>
          <p:cNvPr id="19" name="Text 14"/>
          <p:cNvSpPr/>
          <p:nvPr/>
        </p:nvSpPr>
        <p:spPr>
          <a:xfrm>
            <a:off x="457200" y="3429000"/>
            <a:ext cx="548640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Key Characteristics</a:t>
            </a:r>
            <a:endParaRPr lang="en-US" sz="1500" dirty="0"/>
          </a:p>
        </p:txBody>
      </p:sp>
      <p:sp>
        <p:nvSpPr>
          <p:cNvPr id="20" name="Shape 15"/>
          <p:cNvSpPr/>
          <p:nvPr/>
        </p:nvSpPr>
        <p:spPr>
          <a:xfrm>
            <a:off x="457200" y="3886200"/>
            <a:ext cx="438912" cy="438912"/>
          </a:xfrm>
          <a:prstGeom prst="ellipse">
            <a:avLst/>
          </a:prstGeom>
          <a:solidFill>
            <a:srgbClr val="1E2761"/>
          </a:solidFill>
          <a:ln/>
        </p:spPr>
      </p:sp>
      <p:pic>
        <p:nvPicPr>
          <p:cNvPr id="21" name="Image 3" descr="/home/claude/icons/globe_white.png"/>
          <p:cNvPicPr>
            <a:picLocks noChangeAspect="1"/>
          </p:cNvPicPr>
          <p:nvPr/>
        </p:nvPicPr>
        <p:blipFill>
          <a:blip r:embed="rId6"/>
          <a:stretch>
            <a:fillRect/>
          </a:stretch>
        </p:blipFill>
        <p:spPr>
          <a:xfrm>
            <a:off x="553761" y="3982761"/>
            <a:ext cx="245791" cy="245791"/>
          </a:xfrm>
          <a:prstGeom prst="rect">
            <a:avLst/>
          </a:prstGeom>
        </p:spPr>
      </p:pic>
      <p:sp>
        <p:nvSpPr>
          <p:cNvPr id="22" name="Text 16"/>
          <p:cNvSpPr/>
          <p:nvPr/>
        </p:nvSpPr>
        <p:spPr>
          <a:xfrm>
            <a:off x="1051560" y="3867912"/>
            <a:ext cx="4861408" cy="45720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Network-centric security</a:t>
            </a:r>
            <a:endParaRPr lang="en-US" sz="1300" dirty="0"/>
          </a:p>
        </p:txBody>
      </p:sp>
      <p:sp>
        <p:nvSpPr>
          <p:cNvPr id="23" name="Shape 17"/>
          <p:cNvSpPr/>
          <p:nvPr/>
        </p:nvSpPr>
        <p:spPr>
          <a:xfrm>
            <a:off x="6278728" y="3886200"/>
            <a:ext cx="438912" cy="438912"/>
          </a:xfrm>
          <a:prstGeom prst="ellipse">
            <a:avLst/>
          </a:prstGeom>
          <a:solidFill>
            <a:srgbClr val="1E2761"/>
          </a:solidFill>
          <a:ln/>
        </p:spPr>
      </p:sp>
      <p:pic>
        <p:nvPicPr>
          <p:cNvPr id="24" name="Image 4" descr="/home/claude/icons/usercheck_white.png"/>
          <p:cNvPicPr>
            <a:picLocks noChangeAspect="1"/>
          </p:cNvPicPr>
          <p:nvPr/>
        </p:nvPicPr>
        <p:blipFill>
          <a:blip r:embed="rId7"/>
          <a:stretch>
            <a:fillRect/>
          </a:stretch>
        </p:blipFill>
        <p:spPr>
          <a:xfrm>
            <a:off x="6375288" y="3982761"/>
            <a:ext cx="245791" cy="245791"/>
          </a:xfrm>
          <a:prstGeom prst="rect">
            <a:avLst/>
          </a:prstGeom>
        </p:spPr>
      </p:pic>
      <p:sp>
        <p:nvSpPr>
          <p:cNvPr id="25" name="Text 18"/>
          <p:cNvSpPr/>
          <p:nvPr/>
        </p:nvSpPr>
        <p:spPr>
          <a:xfrm>
            <a:off x="6873088" y="3867912"/>
            <a:ext cx="4861408" cy="45720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Trust granted after authentication</a:t>
            </a:r>
            <a:endParaRPr lang="en-US" sz="1300" dirty="0"/>
          </a:p>
        </p:txBody>
      </p:sp>
      <p:sp>
        <p:nvSpPr>
          <p:cNvPr id="26" name="Shape 19"/>
          <p:cNvSpPr/>
          <p:nvPr/>
        </p:nvSpPr>
        <p:spPr>
          <a:xfrm>
            <a:off x="457200" y="4572000"/>
            <a:ext cx="438912" cy="438912"/>
          </a:xfrm>
          <a:prstGeom prst="ellipse">
            <a:avLst/>
          </a:prstGeom>
          <a:solidFill>
            <a:srgbClr val="1E2761"/>
          </a:solidFill>
          <a:ln/>
        </p:spPr>
      </p:sp>
      <p:pic>
        <p:nvPicPr>
          <p:cNvPr id="27" name="Image 5" descr="/home/claude/icons/sitemap_white.png"/>
          <p:cNvPicPr>
            <a:picLocks noChangeAspect="1"/>
          </p:cNvPicPr>
          <p:nvPr/>
        </p:nvPicPr>
        <p:blipFill>
          <a:blip r:embed="rId8"/>
          <a:stretch>
            <a:fillRect/>
          </a:stretch>
        </p:blipFill>
        <p:spPr>
          <a:xfrm>
            <a:off x="553761" y="4668561"/>
            <a:ext cx="245791" cy="245791"/>
          </a:xfrm>
          <a:prstGeom prst="rect">
            <a:avLst/>
          </a:prstGeom>
        </p:spPr>
      </p:pic>
      <p:sp>
        <p:nvSpPr>
          <p:cNvPr id="28" name="Text 20"/>
          <p:cNvSpPr/>
          <p:nvPr/>
        </p:nvSpPr>
        <p:spPr>
          <a:xfrm>
            <a:off x="1051560" y="4553712"/>
            <a:ext cx="4861408" cy="45720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Broad network access</a:t>
            </a:r>
            <a:endParaRPr lang="en-US" sz="1300" dirty="0"/>
          </a:p>
        </p:txBody>
      </p:sp>
      <p:sp>
        <p:nvSpPr>
          <p:cNvPr id="29" name="Shape 21"/>
          <p:cNvSpPr/>
          <p:nvPr/>
        </p:nvSpPr>
        <p:spPr>
          <a:xfrm>
            <a:off x="6278728" y="4572000"/>
            <a:ext cx="438912" cy="438912"/>
          </a:xfrm>
          <a:prstGeom prst="ellipse">
            <a:avLst/>
          </a:prstGeom>
          <a:solidFill>
            <a:srgbClr val="1E2761"/>
          </a:solidFill>
          <a:ln/>
        </p:spPr>
      </p:sp>
      <p:pic>
        <p:nvPicPr>
          <p:cNvPr id="30" name="Image 6" descr="/home/claude/icons/server_white.png"/>
          <p:cNvPicPr>
            <a:picLocks noChangeAspect="1"/>
          </p:cNvPicPr>
          <p:nvPr/>
        </p:nvPicPr>
        <p:blipFill>
          <a:blip r:embed="rId9"/>
          <a:stretch>
            <a:fillRect/>
          </a:stretch>
        </p:blipFill>
        <p:spPr>
          <a:xfrm>
            <a:off x="6375288" y="4668561"/>
            <a:ext cx="245791" cy="245791"/>
          </a:xfrm>
          <a:prstGeom prst="rect">
            <a:avLst/>
          </a:prstGeom>
        </p:spPr>
      </p:pic>
      <p:sp>
        <p:nvSpPr>
          <p:cNvPr id="31" name="Text 22"/>
          <p:cNvSpPr/>
          <p:nvPr/>
        </p:nvSpPr>
        <p:spPr>
          <a:xfrm>
            <a:off x="6873088" y="4553712"/>
            <a:ext cx="4861408" cy="45720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Centralized VPN gateway</a:t>
            </a:r>
            <a:endParaRPr lang="en-US" sz="1300" dirty="0"/>
          </a:p>
        </p:txBody>
      </p:sp>
      <p:sp>
        <p:nvSpPr>
          <p:cNvPr id="32" name="Text 23"/>
          <p:cNvSpPr/>
          <p:nvPr/>
        </p:nvSpPr>
        <p:spPr>
          <a:xfrm>
            <a:off x="457200" y="5349240"/>
            <a:ext cx="5486400"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Common Use Cases</a:t>
            </a:r>
            <a:endParaRPr lang="en-US" sz="1350" dirty="0"/>
          </a:p>
        </p:txBody>
      </p:sp>
      <p:sp>
        <p:nvSpPr>
          <p:cNvPr id="33" name="Shape 24"/>
          <p:cNvSpPr/>
          <p:nvPr/>
        </p:nvSpPr>
        <p:spPr>
          <a:xfrm>
            <a:off x="457200" y="5715000"/>
            <a:ext cx="3291840" cy="384048"/>
          </a:xfrm>
          <a:prstGeom prst="roundRect">
            <a:avLst>
              <a:gd name="adj" fmla="val 50000"/>
            </a:avLst>
          </a:prstGeom>
          <a:solidFill>
            <a:srgbClr val="F3F6FB"/>
          </a:solidFill>
          <a:ln/>
        </p:spPr>
      </p:sp>
      <p:sp>
        <p:nvSpPr>
          <p:cNvPr id="34" name="Text 25"/>
          <p:cNvSpPr/>
          <p:nvPr/>
        </p:nvSpPr>
        <p:spPr>
          <a:xfrm>
            <a:off x="457200" y="5715000"/>
            <a:ext cx="3291840" cy="384048"/>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Remote employee access</a:t>
            </a:r>
            <a:endParaRPr lang="en-US" sz="1150" dirty="0"/>
          </a:p>
        </p:txBody>
      </p:sp>
      <p:sp>
        <p:nvSpPr>
          <p:cNvPr id="35" name="Shape 26"/>
          <p:cNvSpPr/>
          <p:nvPr/>
        </p:nvSpPr>
        <p:spPr>
          <a:xfrm>
            <a:off x="3977640" y="5715000"/>
            <a:ext cx="3291840" cy="384048"/>
          </a:xfrm>
          <a:prstGeom prst="roundRect">
            <a:avLst>
              <a:gd name="adj" fmla="val 50000"/>
            </a:avLst>
          </a:prstGeom>
          <a:solidFill>
            <a:srgbClr val="F3F6FB"/>
          </a:solidFill>
          <a:ln/>
        </p:spPr>
      </p:sp>
      <p:sp>
        <p:nvSpPr>
          <p:cNvPr id="36" name="Text 27"/>
          <p:cNvSpPr/>
          <p:nvPr/>
        </p:nvSpPr>
        <p:spPr>
          <a:xfrm>
            <a:off x="3977640" y="5715000"/>
            <a:ext cx="3291840" cy="384048"/>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Site-to-site connections</a:t>
            </a:r>
            <a:endParaRPr lang="en-US" sz="1150" dirty="0"/>
          </a:p>
        </p:txBody>
      </p:sp>
      <p:sp>
        <p:nvSpPr>
          <p:cNvPr id="37" name="Shape 28"/>
          <p:cNvSpPr/>
          <p:nvPr/>
        </p:nvSpPr>
        <p:spPr>
          <a:xfrm>
            <a:off x="7498080" y="5715000"/>
            <a:ext cx="3291840" cy="384048"/>
          </a:xfrm>
          <a:prstGeom prst="roundRect">
            <a:avLst>
              <a:gd name="adj" fmla="val 50000"/>
            </a:avLst>
          </a:prstGeom>
          <a:solidFill>
            <a:srgbClr val="F3F6FB"/>
          </a:solidFill>
          <a:ln/>
        </p:spPr>
      </p:sp>
      <p:sp>
        <p:nvSpPr>
          <p:cNvPr id="38" name="Text 29"/>
          <p:cNvSpPr/>
          <p:nvPr/>
        </p:nvSpPr>
        <p:spPr>
          <a:xfrm>
            <a:off x="7498080" y="5715000"/>
            <a:ext cx="3291840" cy="384048"/>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Third-party vendor access</a:t>
            </a:r>
            <a:endParaRPr lang="en-US" sz="1150" dirty="0"/>
          </a:p>
        </p:txBody>
      </p:sp>
      <p:sp>
        <p:nvSpPr>
          <p:cNvPr id="39" name="Text 30"/>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950" dirty="0">
                <a:solidFill>
                  <a:srgbClr val="8896AD"/>
                </a:solidFill>
                <a:latin typeface="Calibri" pitchFamily="34" charset="0"/>
                <a:ea typeface="Calibri" pitchFamily="34" charset="-122"/>
                <a:cs typeface="Calibri" pitchFamily="34" charset="-120"/>
              </a:rPr>
              <a:t>VPN vs Zero Trust Security</a:t>
            </a:r>
            <a:endParaRPr lang="en-US" sz="950" dirty="0"/>
          </a:p>
        </p:txBody>
      </p:sp>
      <p:sp>
        <p:nvSpPr>
          <p:cNvPr id="40" name="Text 31"/>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50" dirty="0">
                <a:solidFill>
                  <a:srgbClr val="8896AD"/>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Limitations of VPN</a:t>
            </a:r>
            <a:endParaRPr lang="en-US" sz="3000" dirty="0"/>
          </a:p>
        </p:txBody>
      </p:sp>
      <p:sp>
        <p:nvSpPr>
          <p:cNvPr id="3" name="Text 1"/>
          <p:cNvSpPr/>
          <p:nvPr/>
        </p:nvSpPr>
        <p:spPr>
          <a:xfrm>
            <a:off x="457200" y="960120"/>
            <a:ext cx="11277295" cy="320040"/>
          </a:xfrm>
          <a:prstGeom prst="rect">
            <a:avLst/>
          </a:prstGeom>
          <a:noFill/>
          <a:ln/>
        </p:spPr>
        <p:txBody>
          <a:bodyPr wrap="square" lIns="0" tIns="0" rIns="0" bIns="0" rtlCol="0" anchor="ctr"/>
          <a:lstStyle/>
          <a:p>
            <a:pPr marL="0" indent="0" algn="l">
              <a:buNone/>
            </a:pPr>
            <a:r>
              <a:rPr lang="en-US" sz="1300" i="1" dirty="0">
                <a:solidFill>
                  <a:srgbClr val="3A4A6B"/>
                </a:solidFill>
                <a:latin typeface="Calibri" pitchFamily="34" charset="0"/>
                <a:ea typeface="Calibri" pitchFamily="34" charset="-122"/>
                <a:cs typeface="Calibri" pitchFamily="34" charset="-120"/>
              </a:rPr>
              <a:t>Why network-centric trust breaks down in practice</a:t>
            </a:r>
            <a:endParaRPr lang="en-US" sz="1300" dirty="0"/>
          </a:p>
        </p:txBody>
      </p:sp>
      <p:sp>
        <p:nvSpPr>
          <p:cNvPr id="4" name="Shape 2"/>
          <p:cNvSpPr/>
          <p:nvPr/>
        </p:nvSpPr>
        <p:spPr>
          <a:xfrm>
            <a:off x="457200" y="1508760"/>
            <a:ext cx="457200" cy="457200"/>
          </a:xfrm>
          <a:prstGeom prst="ellipse">
            <a:avLst/>
          </a:prstGeom>
          <a:solidFill>
            <a:srgbClr val="D64550"/>
          </a:solidFill>
          <a:ln/>
        </p:spPr>
      </p:sp>
      <p:pic>
        <p:nvPicPr>
          <p:cNvPr id="5" name="Image 0" descr="/home/claude/icons/warning_white.png"/>
          <p:cNvPicPr>
            <a:picLocks noChangeAspect="1"/>
          </p:cNvPicPr>
          <p:nvPr/>
        </p:nvPicPr>
        <p:blipFill>
          <a:blip r:embed="rId3"/>
          <a:stretch>
            <a:fillRect/>
          </a:stretch>
        </p:blipFill>
        <p:spPr>
          <a:xfrm>
            <a:off x="557784" y="1609344"/>
            <a:ext cx="256032" cy="256032"/>
          </a:xfrm>
          <a:prstGeom prst="rect">
            <a:avLst/>
          </a:prstGeom>
        </p:spPr>
      </p:pic>
      <p:sp>
        <p:nvSpPr>
          <p:cNvPr id="6" name="Text 3"/>
          <p:cNvSpPr/>
          <p:nvPr/>
        </p:nvSpPr>
        <p:spPr>
          <a:xfrm>
            <a:off x="1097280" y="1472184"/>
            <a:ext cx="5120640"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Excessive Network Access</a:t>
            </a:r>
            <a:endParaRPr lang="en-US" sz="1350" dirty="0"/>
          </a:p>
        </p:txBody>
      </p:sp>
      <p:sp>
        <p:nvSpPr>
          <p:cNvPr id="7" name="Text 4"/>
          <p:cNvSpPr/>
          <p:nvPr/>
        </p:nvSpPr>
        <p:spPr>
          <a:xfrm>
            <a:off x="1097280" y="1746504"/>
            <a:ext cx="5120640" cy="32004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Users get far more access than their role requires</a:t>
            </a:r>
            <a:endParaRPr lang="en-US" sz="1100" dirty="0"/>
          </a:p>
        </p:txBody>
      </p:sp>
      <p:sp>
        <p:nvSpPr>
          <p:cNvPr id="8" name="Shape 5"/>
          <p:cNvSpPr/>
          <p:nvPr/>
        </p:nvSpPr>
        <p:spPr>
          <a:xfrm>
            <a:off x="457200" y="2395728"/>
            <a:ext cx="457200" cy="457200"/>
          </a:xfrm>
          <a:prstGeom prst="ellipse">
            <a:avLst/>
          </a:prstGeom>
          <a:solidFill>
            <a:srgbClr val="D64550"/>
          </a:solidFill>
          <a:ln/>
        </p:spPr>
      </p:sp>
      <p:pic>
        <p:nvPicPr>
          <p:cNvPr id="9" name="Image 1" descr="/home/claude/icons/route_white.png"/>
          <p:cNvPicPr>
            <a:picLocks noChangeAspect="1"/>
          </p:cNvPicPr>
          <p:nvPr/>
        </p:nvPicPr>
        <p:blipFill>
          <a:blip r:embed="rId4"/>
          <a:stretch>
            <a:fillRect/>
          </a:stretch>
        </p:blipFill>
        <p:spPr>
          <a:xfrm>
            <a:off x="557784" y="2496312"/>
            <a:ext cx="256032" cy="256032"/>
          </a:xfrm>
          <a:prstGeom prst="rect">
            <a:avLst/>
          </a:prstGeom>
        </p:spPr>
      </p:pic>
      <p:sp>
        <p:nvSpPr>
          <p:cNvPr id="10" name="Text 6"/>
          <p:cNvSpPr/>
          <p:nvPr/>
        </p:nvSpPr>
        <p:spPr>
          <a:xfrm>
            <a:off x="1097280" y="2359152"/>
            <a:ext cx="5120640"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Risk of Lateral Movement</a:t>
            </a:r>
            <a:endParaRPr lang="en-US" sz="1350" dirty="0"/>
          </a:p>
        </p:txBody>
      </p:sp>
      <p:sp>
        <p:nvSpPr>
          <p:cNvPr id="11" name="Text 7"/>
          <p:cNvSpPr/>
          <p:nvPr/>
        </p:nvSpPr>
        <p:spPr>
          <a:xfrm>
            <a:off x="1097280" y="2633472"/>
            <a:ext cx="5120640" cy="32004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Attackers who breach the tunnel can roam internally</a:t>
            </a:r>
            <a:endParaRPr lang="en-US" sz="1100" dirty="0"/>
          </a:p>
        </p:txBody>
      </p:sp>
      <p:sp>
        <p:nvSpPr>
          <p:cNvPr id="12" name="Shape 8"/>
          <p:cNvSpPr/>
          <p:nvPr/>
        </p:nvSpPr>
        <p:spPr>
          <a:xfrm>
            <a:off x="457200" y="3282696"/>
            <a:ext cx="457200" cy="457200"/>
          </a:xfrm>
          <a:prstGeom prst="ellipse">
            <a:avLst/>
          </a:prstGeom>
          <a:solidFill>
            <a:srgbClr val="D64550"/>
          </a:solidFill>
          <a:ln/>
        </p:spPr>
      </p:sp>
      <p:pic>
        <p:nvPicPr>
          <p:cNvPr id="13" name="Image 2" descr="/home/claude/icons/key_white.png"/>
          <p:cNvPicPr>
            <a:picLocks noChangeAspect="1"/>
          </p:cNvPicPr>
          <p:nvPr/>
        </p:nvPicPr>
        <p:blipFill>
          <a:blip r:embed="rId5"/>
          <a:stretch>
            <a:fillRect/>
          </a:stretch>
        </p:blipFill>
        <p:spPr>
          <a:xfrm>
            <a:off x="557784" y="3383280"/>
            <a:ext cx="256032" cy="256032"/>
          </a:xfrm>
          <a:prstGeom prst="rect">
            <a:avLst/>
          </a:prstGeom>
        </p:spPr>
      </p:pic>
      <p:sp>
        <p:nvSpPr>
          <p:cNvPr id="14" name="Text 9"/>
          <p:cNvSpPr/>
          <p:nvPr/>
        </p:nvSpPr>
        <p:spPr>
          <a:xfrm>
            <a:off x="1097280" y="3246120"/>
            <a:ext cx="5120640"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Single Authentication Point</a:t>
            </a:r>
            <a:endParaRPr lang="en-US" sz="1350" dirty="0"/>
          </a:p>
        </p:txBody>
      </p:sp>
      <p:sp>
        <p:nvSpPr>
          <p:cNvPr id="15" name="Text 10"/>
          <p:cNvSpPr/>
          <p:nvPr/>
        </p:nvSpPr>
        <p:spPr>
          <a:xfrm>
            <a:off x="1097280" y="3520440"/>
            <a:ext cx="5120640" cy="32004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One compromised credential opens the whole network</a:t>
            </a:r>
            <a:endParaRPr lang="en-US" sz="1100" dirty="0"/>
          </a:p>
        </p:txBody>
      </p:sp>
      <p:sp>
        <p:nvSpPr>
          <p:cNvPr id="16" name="Shape 11"/>
          <p:cNvSpPr/>
          <p:nvPr/>
        </p:nvSpPr>
        <p:spPr>
          <a:xfrm>
            <a:off x="457200" y="4169664"/>
            <a:ext cx="457200" cy="457200"/>
          </a:xfrm>
          <a:prstGeom prst="ellipse">
            <a:avLst/>
          </a:prstGeom>
          <a:solidFill>
            <a:srgbClr val="D64550"/>
          </a:solidFill>
          <a:ln/>
        </p:spPr>
      </p:sp>
      <p:pic>
        <p:nvPicPr>
          <p:cNvPr id="17" name="Image 3" descr="/home/claude/icons/gauge_white.png"/>
          <p:cNvPicPr>
            <a:picLocks noChangeAspect="1"/>
          </p:cNvPicPr>
          <p:nvPr/>
        </p:nvPicPr>
        <p:blipFill>
          <a:blip r:embed="rId6"/>
          <a:stretch>
            <a:fillRect/>
          </a:stretch>
        </p:blipFill>
        <p:spPr>
          <a:xfrm>
            <a:off x="557784" y="4270248"/>
            <a:ext cx="256032" cy="256032"/>
          </a:xfrm>
          <a:prstGeom prst="rect">
            <a:avLst/>
          </a:prstGeom>
        </p:spPr>
      </p:pic>
      <p:sp>
        <p:nvSpPr>
          <p:cNvPr id="18" name="Text 12"/>
          <p:cNvSpPr/>
          <p:nvPr/>
        </p:nvSpPr>
        <p:spPr>
          <a:xfrm>
            <a:off x="1097280" y="4133088"/>
            <a:ext cx="5120640"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Performance Bottlenecks</a:t>
            </a:r>
            <a:endParaRPr lang="en-US" sz="1350" dirty="0"/>
          </a:p>
        </p:txBody>
      </p:sp>
      <p:sp>
        <p:nvSpPr>
          <p:cNvPr id="19" name="Text 13"/>
          <p:cNvSpPr/>
          <p:nvPr/>
        </p:nvSpPr>
        <p:spPr>
          <a:xfrm>
            <a:off x="1097280" y="4407408"/>
            <a:ext cx="5120640" cy="32004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All traffic funnels through a central gateway</a:t>
            </a:r>
            <a:endParaRPr lang="en-US" sz="1100" dirty="0"/>
          </a:p>
        </p:txBody>
      </p:sp>
      <p:sp>
        <p:nvSpPr>
          <p:cNvPr id="20" name="Shape 14"/>
          <p:cNvSpPr/>
          <p:nvPr/>
        </p:nvSpPr>
        <p:spPr>
          <a:xfrm>
            <a:off x="457200" y="5056632"/>
            <a:ext cx="457200" cy="457200"/>
          </a:xfrm>
          <a:prstGeom prst="ellipse">
            <a:avLst/>
          </a:prstGeom>
          <a:solidFill>
            <a:srgbClr val="D64550"/>
          </a:solidFill>
          <a:ln/>
        </p:spPr>
      </p:sp>
      <p:pic>
        <p:nvPicPr>
          <p:cNvPr id="21" name="Image 4" descr="/home/claude/icons/expand_white.png"/>
          <p:cNvPicPr>
            <a:picLocks noChangeAspect="1"/>
          </p:cNvPicPr>
          <p:nvPr/>
        </p:nvPicPr>
        <p:blipFill>
          <a:blip r:embed="rId7"/>
          <a:stretch>
            <a:fillRect/>
          </a:stretch>
        </p:blipFill>
        <p:spPr>
          <a:xfrm>
            <a:off x="557784" y="5157216"/>
            <a:ext cx="256032" cy="256032"/>
          </a:xfrm>
          <a:prstGeom prst="rect">
            <a:avLst/>
          </a:prstGeom>
        </p:spPr>
      </p:pic>
      <p:sp>
        <p:nvSpPr>
          <p:cNvPr id="22" name="Text 15"/>
          <p:cNvSpPr/>
          <p:nvPr/>
        </p:nvSpPr>
        <p:spPr>
          <a:xfrm>
            <a:off x="1097280" y="5020056"/>
            <a:ext cx="5120640" cy="292608"/>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Scalability Challenges</a:t>
            </a:r>
            <a:endParaRPr lang="en-US" sz="1350" dirty="0"/>
          </a:p>
        </p:txBody>
      </p:sp>
      <p:sp>
        <p:nvSpPr>
          <p:cNvPr id="23" name="Text 16"/>
          <p:cNvSpPr/>
          <p:nvPr/>
        </p:nvSpPr>
        <p:spPr>
          <a:xfrm>
            <a:off x="1097280" y="5294376"/>
            <a:ext cx="5120640" cy="32004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Struggles with cloud apps and large remote workforces</a:t>
            </a:r>
            <a:endParaRPr lang="en-US" sz="1100" dirty="0"/>
          </a:p>
        </p:txBody>
      </p:sp>
      <p:sp>
        <p:nvSpPr>
          <p:cNvPr id="24" name="Shape 17"/>
          <p:cNvSpPr/>
          <p:nvPr/>
        </p:nvSpPr>
        <p:spPr>
          <a:xfrm>
            <a:off x="6309360" y="1508760"/>
            <a:ext cx="5440680" cy="4617720"/>
          </a:xfrm>
          <a:prstGeom prst="roundRect">
            <a:avLst>
              <a:gd name="adj" fmla="val 2376"/>
            </a:avLst>
          </a:prstGeom>
          <a:solidFill>
            <a:srgbClr val="FCEEEE"/>
          </a:solidFill>
          <a:ln/>
        </p:spPr>
      </p:sp>
      <p:sp>
        <p:nvSpPr>
          <p:cNvPr id="25" name="Text 18"/>
          <p:cNvSpPr/>
          <p:nvPr/>
        </p:nvSpPr>
        <p:spPr>
          <a:xfrm>
            <a:off x="6309360" y="1664208"/>
            <a:ext cx="5440680" cy="29260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After a VPN Compromise</a:t>
            </a:r>
            <a:endParaRPr lang="en-US" sz="1300" dirty="0"/>
          </a:p>
        </p:txBody>
      </p:sp>
      <p:sp>
        <p:nvSpPr>
          <p:cNvPr id="26" name="Shape 19"/>
          <p:cNvSpPr/>
          <p:nvPr/>
        </p:nvSpPr>
        <p:spPr>
          <a:xfrm>
            <a:off x="8709660" y="2148840"/>
            <a:ext cx="640080" cy="640080"/>
          </a:xfrm>
          <a:prstGeom prst="ellipse">
            <a:avLst/>
          </a:prstGeom>
          <a:solidFill>
            <a:srgbClr val="D64550"/>
          </a:solidFill>
          <a:ln/>
        </p:spPr>
      </p:sp>
      <p:pic>
        <p:nvPicPr>
          <p:cNvPr id="27" name="Image 5" descr="/home/claude/icons/bug_white.png"/>
          <p:cNvPicPr>
            <a:picLocks noChangeAspect="1"/>
          </p:cNvPicPr>
          <p:nvPr/>
        </p:nvPicPr>
        <p:blipFill>
          <a:blip r:embed="rId8"/>
          <a:stretch>
            <a:fillRect/>
          </a:stretch>
        </p:blipFill>
        <p:spPr>
          <a:xfrm>
            <a:off x="8853678" y="2292858"/>
            <a:ext cx="352044" cy="352044"/>
          </a:xfrm>
          <a:prstGeom prst="rect">
            <a:avLst/>
          </a:prstGeom>
        </p:spPr>
      </p:pic>
      <p:sp>
        <p:nvSpPr>
          <p:cNvPr id="28" name="Text 20"/>
          <p:cNvSpPr/>
          <p:nvPr/>
        </p:nvSpPr>
        <p:spPr>
          <a:xfrm>
            <a:off x="6675120" y="2843784"/>
            <a:ext cx="4709160" cy="2743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Compromised Device / Credentials</a:t>
            </a:r>
            <a:endParaRPr lang="en-US" sz="1100" dirty="0"/>
          </a:p>
        </p:txBody>
      </p:sp>
      <p:sp>
        <p:nvSpPr>
          <p:cNvPr id="29" name="Shape 21"/>
          <p:cNvSpPr/>
          <p:nvPr/>
        </p:nvSpPr>
        <p:spPr>
          <a:xfrm flipV="1">
            <a:off x="7155180" y="2788920"/>
            <a:ext cx="1874520" cy="1188720"/>
          </a:xfrm>
          <a:prstGeom prst="line">
            <a:avLst/>
          </a:prstGeom>
          <a:noFill/>
          <a:ln w="19050">
            <a:solidFill>
              <a:srgbClr val="D64550"/>
            </a:solidFill>
            <a:prstDash val="dash"/>
            <a:tailEnd type="triangle"/>
          </a:ln>
        </p:spPr>
      </p:sp>
      <p:sp>
        <p:nvSpPr>
          <p:cNvPr id="30" name="Shape 22"/>
          <p:cNvSpPr/>
          <p:nvPr/>
        </p:nvSpPr>
        <p:spPr>
          <a:xfrm>
            <a:off x="6899148" y="3977640"/>
            <a:ext cx="512064" cy="512064"/>
          </a:xfrm>
          <a:prstGeom prst="ellipse">
            <a:avLst/>
          </a:prstGeom>
          <a:solidFill>
            <a:srgbClr val="1E2761"/>
          </a:solidFill>
          <a:ln/>
        </p:spPr>
      </p:sp>
      <p:pic>
        <p:nvPicPr>
          <p:cNvPr id="31" name="Image 6" descr="/home/claude/icons/server_white.png"/>
          <p:cNvPicPr>
            <a:picLocks noChangeAspect="1"/>
          </p:cNvPicPr>
          <p:nvPr/>
        </p:nvPicPr>
        <p:blipFill>
          <a:blip r:embed="rId9"/>
          <a:stretch>
            <a:fillRect/>
          </a:stretch>
        </p:blipFill>
        <p:spPr>
          <a:xfrm>
            <a:off x="7014362" y="4092854"/>
            <a:ext cx="281635" cy="281635"/>
          </a:xfrm>
          <a:prstGeom prst="rect">
            <a:avLst/>
          </a:prstGeom>
        </p:spPr>
      </p:pic>
      <p:sp>
        <p:nvSpPr>
          <p:cNvPr id="32" name="Text 23"/>
          <p:cNvSpPr/>
          <p:nvPr/>
        </p:nvSpPr>
        <p:spPr>
          <a:xfrm>
            <a:off x="6446520" y="4526280"/>
            <a:ext cx="141732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File Server</a:t>
            </a:r>
            <a:endParaRPr lang="en-US" sz="950" dirty="0"/>
          </a:p>
        </p:txBody>
      </p:sp>
      <p:sp>
        <p:nvSpPr>
          <p:cNvPr id="33" name="Shape 24"/>
          <p:cNvSpPr/>
          <p:nvPr/>
        </p:nvSpPr>
        <p:spPr>
          <a:xfrm flipV="1">
            <a:off x="8404860" y="2788920"/>
            <a:ext cx="624840" cy="1188720"/>
          </a:xfrm>
          <a:prstGeom prst="line">
            <a:avLst/>
          </a:prstGeom>
          <a:noFill/>
          <a:ln w="19050">
            <a:solidFill>
              <a:srgbClr val="D64550"/>
            </a:solidFill>
            <a:prstDash val="dash"/>
            <a:tailEnd type="triangle"/>
          </a:ln>
        </p:spPr>
      </p:sp>
      <p:sp>
        <p:nvSpPr>
          <p:cNvPr id="34" name="Shape 25"/>
          <p:cNvSpPr/>
          <p:nvPr/>
        </p:nvSpPr>
        <p:spPr>
          <a:xfrm>
            <a:off x="8148828" y="3977640"/>
            <a:ext cx="512064" cy="512064"/>
          </a:xfrm>
          <a:prstGeom prst="ellipse">
            <a:avLst/>
          </a:prstGeom>
          <a:solidFill>
            <a:srgbClr val="1E2761"/>
          </a:solidFill>
          <a:ln/>
        </p:spPr>
      </p:sp>
      <p:pic>
        <p:nvPicPr>
          <p:cNvPr id="35" name="Image 7" descr="/home/claude/icons/server_white.png"/>
          <p:cNvPicPr>
            <a:picLocks noChangeAspect="1"/>
          </p:cNvPicPr>
          <p:nvPr/>
        </p:nvPicPr>
        <p:blipFill>
          <a:blip r:embed="rId9"/>
          <a:stretch>
            <a:fillRect/>
          </a:stretch>
        </p:blipFill>
        <p:spPr>
          <a:xfrm>
            <a:off x="8264042" y="4092854"/>
            <a:ext cx="281635" cy="281635"/>
          </a:xfrm>
          <a:prstGeom prst="rect">
            <a:avLst/>
          </a:prstGeom>
        </p:spPr>
      </p:pic>
      <p:sp>
        <p:nvSpPr>
          <p:cNvPr id="36" name="Text 26"/>
          <p:cNvSpPr/>
          <p:nvPr/>
        </p:nvSpPr>
        <p:spPr>
          <a:xfrm>
            <a:off x="7696200" y="4526280"/>
            <a:ext cx="141732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Database</a:t>
            </a:r>
            <a:endParaRPr lang="en-US" sz="950" dirty="0"/>
          </a:p>
        </p:txBody>
      </p:sp>
      <p:sp>
        <p:nvSpPr>
          <p:cNvPr id="37" name="Shape 27"/>
          <p:cNvSpPr/>
          <p:nvPr/>
        </p:nvSpPr>
        <p:spPr>
          <a:xfrm>
            <a:off x="9029700" y="2788920"/>
            <a:ext cx="624840" cy="1188720"/>
          </a:xfrm>
          <a:prstGeom prst="line">
            <a:avLst/>
          </a:prstGeom>
          <a:noFill/>
          <a:ln w="19050">
            <a:solidFill>
              <a:srgbClr val="D64550"/>
            </a:solidFill>
            <a:prstDash val="dash"/>
            <a:tailEnd type="triangle"/>
          </a:ln>
        </p:spPr>
      </p:sp>
      <p:sp>
        <p:nvSpPr>
          <p:cNvPr id="38" name="Shape 28"/>
          <p:cNvSpPr/>
          <p:nvPr/>
        </p:nvSpPr>
        <p:spPr>
          <a:xfrm>
            <a:off x="9398508" y="3977640"/>
            <a:ext cx="512064" cy="512064"/>
          </a:xfrm>
          <a:prstGeom prst="ellipse">
            <a:avLst/>
          </a:prstGeom>
          <a:solidFill>
            <a:srgbClr val="1E2761"/>
          </a:solidFill>
          <a:ln/>
        </p:spPr>
      </p:sp>
      <p:pic>
        <p:nvPicPr>
          <p:cNvPr id="39" name="Image 8" descr="/home/claude/icons/server_white.png"/>
          <p:cNvPicPr>
            <a:picLocks noChangeAspect="1"/>
          </p:cNvPicPr>
          <p:nvPr/>
        </p:nvPicPr>
        <p:blipFill>
          <a:blip r:embed="rId9"/>
          <a:stretch>
            <a:fillRect/>
          </a:stretch>
        </p:blipFill>
        <p:spPr>
          <a:xfrm>
            <a:off x="9513722" y="4092854"/>
            <a:ext cx="281635" cy="281635"/>
          </a:xfrm>
          <a:prstGeom prst="rect">
            <a:avLst/>
          </a:prstGeom>
        </p:spPr>
      </p:pic>
      <p:sp>
        <p:nvSpPr>
          <p:cNvPr id="40" name="Text 29"/>
          <p:cNvSpPr/>
          <p:nvPr/>
        </p:nvSpPr>
        <p:spPr>
          <a:xfrm>
            <a:off x="8945880" y="4526280"/>
            <a:ext cx="141732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App Server</a:t>
            </a:r>
            <a:endParaRPr lang="en-US" sz="950" dirty="0"/>
          </a:p>
        </p:txBody>
      </p:sp>
      <p:sp>
        <p:nvSpPr>
          <p:cNvPr id="41" name="Shape 30"/>
          <p:cNvSpPr/>
          <p:nvPr/>
        </p:nvSpPr>
        <p:spPr>
          <a:xfrm>
            <a:off x="9029700" y="2788920"/>
            <a:ext cx="1874520" cy="1188720"/>
          </a:xfrm>
          <a:prstGeom prst="line">
            <a:avLst/>
          </a:prstGeom>
          <a:noFill/>
          <a:ln w="19050">
            <a:solidFill>
              <a:srgbClr val="D64550"/>
            </a:solidFill>
            <a:prstDash val="dash"/>
            <a:tailEnd type="triangle"/>
          </a:ln>
        </p:spPr>
      </p:sp>
      <p:sp>
        <p:nvSpPr>
          <p:cNvPr id="42" name="Shape 31"/>
          <p:cNvSpPr/>
          <p:nvPr/>
        </p:nvSpPr>
        <p:spPr>
          <a:xfrm>
            <a:off x="10648188" y="3977640"/>
            <a:ext cx="512064" cy="512064"/>
          </a:xfrm>
          <a:prstGeom prst="ellipse">
            <a:avLst/>
          </a:prstGeom>
          <a:solidFill>
            <a:srgbClr val="1E2761"/>
          </a:solidFill>
          <a:ln/>
        </p:spPr>
      </p:sp>
      <p:pic>
        <p:nvPicPr>
          <p:cNvPr id="43" name="Image 9" descr="/home/claude/icons/server_white.png"/>
          <p:cNvPicPr>
            <a:picLocks noChangeAspect="1"/>
          </p:cNvPicPr>
          <p:nvPr/>
        </p:nvPicPr>
        <p:blipFill>
          <a:blip r:embed="rId9"/>
          <a:stretch>
            <a:fillRect/>
          </a:stretch>
        </p:blipFill>
        <p:spPr>
          <a:xfrm>
            <a:off x="10763402" y="4092854"/>
            <a:ext cx="281635" cy="281635"/>
          </a:xfrm>
          <a:prstGeom prst="rect">
            <a:avLst/>
          </a:prstGeom>
        </p:spPr>
      </p:pic>
      <p:sp>
        <p:nvSpPr>
          <p:cNvPr id="44" name="Text 32"/>
          <p:cNvSpPr/>
          <p:nvPr/>
        </p:nvSpPr>
        <p:spPr>
          <a:xfrm>
            <a:off x="10195560" y="4526280"/>
            <a:ext cx="141732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Admin Console</a:t>
            </a:r>
            <a:endParaRPr lang="en-US" sz="950" dirty="0"/>
          </a:p>
        </p:txBody>
      </p:sp>
      <p:sp>
        <p:nvSpPr>
          <p:cNvPr id="45" name="Text 33"/>
          <p:cNvSpPr/>
          <p:nvPr/>
        </p:nvSpPr>
        <p:spPr>
          <a:xfrm>
            <a:off x="6583680" y="5623560"/>
            <a:ext cx="4892040" cy="320040"/>
          </a:xfrm>
          <a:prstGeom prst="rect">
            <a:avLst/>
          </a:prstGeom>
          <a:noFill/>
          <a:ln/>
        </p:spPr>
        <p:txBody>
          <a:bodyPr wrap="square" lIns="0" tIns="0" rIns="0" bIns="0" rtlCol="0" anchor="ctr"/>
          <a:lstStyle/>
          <a:p>
            <a:pPr marL="0" indent="0" algn="ctr">
              <a:buNone/>
            </a:pPr>
            <a:r>
              <a:rPr lang="en-US" sz="1050" i="1" dirty="0">
                <a:solidFill>
                  <a:srgbClr val="D64550"/>
                </a:solidFill>
                <a:latin typeface="Calibri" pitchFamily="34" charset="0"/>
                <a:ea typeface="Calibri" pitchFamily="34" charset="-122"/>
                <a:cs typeface="Calibri" pitchFamily="34" charset="-120"/>
              </a:rPr>
              <a:t>One breach → unrestricted lateral movement across internal systems</a:t>
            </a:r>
            <a:endParaRPr lang="en-US" sz="1050" dirty="0"/>
          </a:p>
        </p:txBody>
      </p:sp>
      <p:sp>
        <p:nvSpPr>
          <p:cNvPr id="46" name="Text 34"/>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950" dirty="0">
                <a:solidFill>
                  <a:srgbClr val="8896AD"/>
                </a:solidFill>
                <a:latin typeface="Calibri" pitchFamily="34" charset="0"/>
                <a:ea typeface="Calibri" pitchFamily="34" charset="-122"/>
                <a:cs typeface="Calibri" pitchFamily="34" charset="-120"/>
              </a:rPr>
              <a:t>VPN vs Zero Trust Security</a:t>
            </a:r>
            <a:endParaRPr lang="en-US" sz="950" dirty="0"/>
          </a:p>
        </p:txBody>
      </p:sp>
      <p:sp>
        <p:nvSpPr>
          <p:cNvPr id="47" name="Text 35"/>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50" dirty="0">
                <a:solidFill>
                  <a:srgbClr val="8896AD"/>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is Zero Trust?</a:t>
            </a:r>
            <a:endParaRPr lang="en-US" sz="3000" dirty="0"/>
          </a:p>
        </p:txBody>
      </p:sp>
      <p:sp>
        <p:nvSpPr>
          <p:cNvPr id="3" name="Text 1"/>
          <p:cNvSpPr/>
          <p:nvPr/>
        </p:nvSpPr>
        <p:spPr>
          <a:xfrm>
            <a:off x="457200" y="960120"/>
            <a:ext cx="11277295" cy="320040"/>
          </a:xfrm>
          <a:prstGeom prst="rect">
            <a:avLst/>
          </a:prstGeom>
          <a:noFill/>
          <a:ln/>
        </p:spPr>
        <p:txBody>
          <a:bodyPr wrap="square" lIns="0" tIns="0" rIns="0" bIns="0" rtlCol="0" anchor="ctr"/>
          <a:lstStyle/>
          <a:p>
            <a:pPr marL="0" indent="0" algn="l">
              <a:buNone/>
            </a:pPr>
            <a:r>
              <a:rPr lang="en-US" sz="1300" i="1" dirty="0">
                <a:solidFill>
                  <a:srgbClr val="3A4A6B"/>
                </a:solidFill>
                <a:latin typeface="Calibri" pitchFamily="34" charset="0"/>
                <a:ea typeface="Calibri" pitchFamily="34" charset="-122"/>
                <a:cs typeface="Calibri" pitchFamily="34" charset="-120"/>
              </a:rPr>
              <a:t>A modern security model built around identity, not network location</a:t>
            </a:r>
            <a:endParaRPr lang="en-US" sz="1300" dirty="0"/>
          </a:p>
        </p:txBody>
      </p:sp>
      <p:sp>
        <p:nvSpPr>
          <p:cNvPr id="4" name="Shape 2"/>
          <p:cNvSpPr/>
          <p:nvPr/>
        </p:nvSpPr>
        <p:spPr>
          <a:xfrm>
            <a:off x="457200" y="1417320"/>
            <a:ext cx="11277295" cy="868680"/>
          </a:xfrm>
          <a:prstGeom prst="roundRect">
            <a:avLst>
              <a:gd name="adj" fmla="val 10526"/>
            </a:avLst>
          </a:prstGeom>
          <a:solidFill>
            <a:srgbClr val="F3F6FB"/>
          </a:solidFill>
          <a:ln/>
        </p:spPr>
      </p:sp>
      <p:sp>
        <p:nvSpPr>
          <p:cNvPr id="5" name="Text 3"/>
          <p:cNvSpPr/>
          <p:nvPr/>
        </p:nvSpPr>
        <p:spPr>
          <a:xfrm>
            <a:off x="731520" y="1417320"/>
            <a:ext cx="10728655" cy="86868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Zero Trust is a security model that assumes no user or device should be trusted by default — every request must be verified, regardless of where it originates.</a:t>
            </a:r>
            <a:endParaRPr lang="en-US" sz="1400" dirty="0"/>
          </a:p>
        </p:txBody>
      </p:sp>
      <p:sp>
        <p:nvSpPr>
          <p:cNvPr id="6" name="Shape 4"/>
          <p:cNvSpPr/>
          <p:nvPr/>
        </p:nvSpPr>
        <p:spPr>
          <a:xfrm>
            <a:off x="3261208" y="2514600"/>
            <a:ext cx="5669280" cy="731520"/>
          </a:xfrm>
          <a:prstGeom prst="roundRect">
            <a:avLst>
              <a:gd name="adj" fmla="val 50000"/>
            </a:avLst>
          </a:prstGeom>
          <a:solidFill>
            <a:srgbClr val="02C39A"/>
          </a:solidFill>
          <a:ln/>
        </p:spPr>
      </p:sp>
      <p:sp>
        <p:nvSpPr>
          <p:cNvPr id="7" name="Text 5"/>
          <p:cNvSpPr/>
          <p:nvPr/>
        </p:nvSpPr>
        <p:spPr>
          <a:xfrm>
            <a:off x="3261208" y="2514600"/>
            <a:ext cx="5669280" cy="731520"/>
          </a:xfrm>
          <a:prstGeom prst="rect">
            <a:avLst/>
          </a:prstGeom>
          <a:noFill/>
          <a:ln/>
        </p:spPr>
        <p:txBody>
          <a:bodyPr wrap="square" lIns="0" tIns="0" rIns="0" bIns="0" rtlCol="0" anchor="ctr"/>
          <a:lstStyle/>
          <a:p>
            <a:pPr marL="0" indent="0" algn="ctr">
              <a:buNone/>
            </a:pPr>
            <a:r>
              <a:rPr lang="en-US" sz="2000" b="1" i="1" dirty="0">
                <a:solidFill>
                  <a:srgbClr val="141A47"/>
                </a:solidFill>
                <a:latin typeface="Cambria" pitchFamily="34" charset="0"/>
                <a:ea typeface="Cambria" pitchFamily="34" charset="-122"/>
                <a:cs typeface="Cambria" pitchFamily="34" charset="-120"/>
              </a:rPr>
              <a:t>"Never Trust, Always Verify"</a:t>
            </a:r>
            <a:endParaRPr lang="en-US" sz="2000" dirty="0"/>
          </a:p>
        </p:txBody>
      </p:sp>
      <p:sp>
        <p:nvSpPr>
          <p:cNvPr id="8" name="Text 6"/>
          <p:cNvSpPr/>
          <p:nvPr/>
        </p:nvSpPr>
        <p:spPr>
          <a:xfrm>
            <a:off x="457200" y="3520440"/>
            <a:ext cx="548640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Core Concepts</a:t>
            </a:r>
            <a:endParaRPr lang="en-US" sz="1500" dirty="0"/>
          </a:p>
        </p:txBody>
      </p:sp>
      <p:sp>
        <p:nvSpPr>
          <p:cNvPr id="9" name="Shape 7"/>
          <p:cNvSpPr/>
          <p:nvPr/>
        </p:nvSpPr>
        <p:spPr>
          <a:xfrm>
            <a:off x="457200" y="3931920"/>
            <a:ext cx="502920" cy="502920"/>
          </a:xfrm>
          <a:prstGeom prst="ellipse">
            <a:avLst/>
          </a:prstGeom>
          <a:solidFill>
            <a:srgbClr val="1E2761"/>
          </a:solidFill>
          <a:ln/>
        </p:spPr>
      </p:sp>
      <p:pic>
        <p:nvPicPr>
          <p:cNvPr id="10" name="Image 0" descr="/home/claude/icons/eye_white.png"/>
          <p:cNvPicPr>
            <a:picLocks noChangeAspect="1"/>
          </p:cNvPicPr>
          <p:nvPr/>
        </p:nvPicPr>
        <p:blipFill>
          <a:blip r:embed="rId3"/>
          <a:stretch>
            <a:fillRect/>
          </a:stretch>
        </p:blipFill>
        <p:spPr>
          <a:xfrm>
            <a:off x="567842" y="4042562"/>
            <a:ext cx="281635" cy="281635"/>
          </a:xfrm>
          <a:prstGeom prst="rect">
            <a:avLst/>
          </a:prstGeom>
        </p:spPr>
      </p:pic>
      <p:sp>
        <p:nvSpPr>
          <p:cNvPr id="11" name="Text 8"/>
          <p:cNvSpPr/>
          <p:nvPr/>
        </p:nvSpPr>
        <p:spPr>
          <a:xfrm>
            <a:off x="1143000" y="3886200"/>
            <a:ext cx="4769968"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Continuous Authentication</a:t>
            </a:r>
            <a:endParaRPr lang="en-US" sz="1350" dirty="0"/>
          </a:p>
        </p:txBody>
      </p:sp>
      <p:sp>
        <p:nvSpPr>
          <p:cNvPr id="12" name="Text 9"/>
          <p:cNvSpPr/>
          <p:nvPr/>
        </p:nvSpPr>
        <p:spPr>
          <a:xfrm>
            <a:off x="1143000" y="4206240"/>
            <a:ext cx="4769968" cy="68580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Identity is re-checked throughout the session, not just once</a:t>
            </a:r>
            <a:endParaRPr lang="en-US" sz="1100" dirty="0"/>
          </a:p>
        </p:txBody>
      </p:sp>
      <p:sp>
        <p:nvSpPr>
          <p:cNvPr id="13" name="Shape 10"/>
          <p:cNvSpPr/>
          <p:nvPr/>
        </p:nvSpPr>
        <p:spPr>
          <a:xfrm>
            <a:off x="6278728" y="3931920"/>
            <a:ext cx="502920" cy="502920"/>
          </a:xfrm>
          <a:prstGeom prst="ellipse">
            <a:avLst/>
          </a:prstGeom>
          <a:solidFill>
            <a:srgbClr val="1E2761"/>
          </a:solidFill>
          <a:ln/>
        </p:spPr>
      </p:sp>
      <p:pic>
        <p:nvPicPr>
          <p:cNvPr id="14" name="Image 1" descr="/home/claude/icons/lock_white.png"/>
          <p:cNvPicPr>
            <a:picLocks noChangeAspect="1"/>
          </p:cNvPicPr>
          <p:nvPr/>
        </p:nvPicPr>
        <p:blipFill>
          <a:blip r:embed="rId4"/>
          <a:stretch>
            <a:fillRect/>
          </a:stretch>
        </p:blipFill>
        <p:spPr>
          <a:xfrm>
            <a:off x="6389370" y="4042562"/>
            <a:ext cx="281635" cy="281635"/>
          </a:xfrm>
          <a:prstGeom prst="rect">
            <a:avLst/>
          </a:prstGeom>
        </p:spPr>
      </p:pic>
      <p:sp>
        <p:nvSpPr>
          <p:cNvPr id="15" name="Text 11"/>
          <p:cNvSpPr/>
          <p:nvPr/>
        </p:nvSpPr>
        <p:spPr>
          <a:xfrm>
            <a:off x="6964528" y="3886200"/>
            <a:ext cx="4769968"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Least Privilege Access</a:t>
            </a:r>
            <a:endParaRPr lang="en-US" sz="1350" dirty="0"/>
          </a:p>
        </p:txBody>
      </p:sp>
      <p:sp>
        <p:nvSpPr>
          <p:cNvPr id="16" name="Text 12"/>
          <p:cNvSpPr/>
          <p:nvPr/>
        </p:nvSpPr>
        <p:spPr>
          <a:xfrm>
            <a:off x="6964528" y="4206240"/>
            <a:ext cx="4769968" cy="68580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Users get only the access needed for their task</a:t>
            </a:r>
            <a:endParaRPr lang="en-US" sz="1100" dirty="0"/>
          </a:p>
        </p:txBody>
      </p:sp>
      <p:sp>
        <p:nvSpPr>
          <p:cNvPr id="17" name="Shape 13"/>
          <p:cNvSpPr/>
          <p:nvPr/>
        </p:nvSpPr>
        <p:spPr>
          <a:xfrm>
            <a:off x="457200" y="5166360"/>
            <a:ext cx="502920" cy="502920"/>
          </a:xfrm>
          <a:prstGeom prst="ellipse">
            <a:avLst/>
          </a:prstGeom>
          <a:solidFill>
            <a:srgbClr val="1E2761"/>
          </a:solidFill>
          <a:ln/>
        </p:spPr>
      </p:sp>
      <p:pic>
        <p:nvPicPr>
          <p:cNvPr id="18" name="Image 2" descr="/home/claude/icons/laptop_white.png"/>
          <p:cNvPicPr>
            <a:picLocks noChangeAspect="1"/>
          </p:cNvPicPr>
          <p:nvPr/>
        </p:nvPicPr>
        <p:blipFill>
          <a:blip r:embed="rId5"/>
          <a:stretch>
            <a:fillRect/>
          </a:stretch>
        </p:blipFill>
        <p:spPr>
          <a:xfrm>
            <a:off x="567842" y="5277002"/>
            <a:ext cx="281635" cy="281635"/>
          </a:xfrm>
          <a:prstGeom prst="rect">
            <a:avLst/>
          </a:prstGeom>
        </p:spPr>
      </p:pic>
      <p:sp>
        <p:nvSpPr>
          <p:cNvPr id="19" name="Text 14"/>
          <p:cNvSpPr/>
          <p:nvPr/>
        </p:nvSpPr>
        <p:spPr>
          <a:xfrm>
            <a:off x="1143000" y="5120640"/>
            <a:ext cx="4769968"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Device Verification</a:t>
            </a:r>
            <a:endParaRPr lang="en-US" sz="1350" dirty="0"/>
          </a:p>
        </p:txBody>
      </p:sp>
      <p:sp>
        <p:nvSpPr>
          <p:cNvPr id="20" name="Text 15"/>
          <p:cNvSpPr/>
          <p:nvPr/>
        </p:nvSpPr>
        <p:spPr>
          <a:xfrm>
            <a:off x="1143000" y="5440680"/>
            <a:ext cx="4769968" cy="68580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Device health and posture are checked before access</a:t>
            </a:r>
            <a:endParaRPr lang="en-US" sz="1100" dirty="0"/>
          </a:p>
        </p:txBody>
      </p:sp>
      <p:sp>
        <p:nvSpPr>
          <p:cNvPr id="21" name="Shape 16"/>
          <p:cNvSpPr/>
          <p:nvPr/>
        </p:nvSpPr>
        <p:spPr>
          <a:xfrm>
            <a:off x="6278728" y="5166360"/>
            <a:ext cx="502920" cy="502920"/>
          </a:xfrm>
          <a:prstGeom prst="ellipse">
            <a:avLst/>
          </a:prstGeom>
          <a:solidFill>
            <a:srgbClr val="1E2761"/>
          </a:solidFill>
          <a:ln/>
        </p:spPr>
      </p:sp>
      <p:pic>
        <p:nvPicPr>
          <p:cNvPr id="22" name="Image 3" descr="/home/claude/icons/fingerprint_white.png"/>
          <p:cNvPicPr>
            <a:picLocks noChangeAspect="1"/>
          </p:cNvPicPr>
          <p:nvPr/>
        </p:nvPicPr>
        <p:blipFill>
          <a:blip r:embed="rId6"/>
          <a:stretch>
            <a:fillRect/>
          </a:stretch>
        </p:blipFill>
        <p:spPr>
          <a:xfrm>
            <a:off x="6389370" y="5277002"/>
            <a:ext cx="281635" cy="281635"/>
          </a:xfrm>
          <a:prstGeom prst="rect">
            <a:avLst/>
          </a:prstGeom>
        </p:spPr>
      </p:pic>
      <p:sp>
        <p:nvSpPr>
          <p:cNvPr id="23" name="Text 17"/>
          <p:cNvSpPr/>
          <p:nvPr/>
        </p:nvSpPr>
        <p:spPr>
          <a:xfrm>
            <a:off x="6964528" y="5120640"/>
            <a:ext cx="4769968"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Identity-Based Access Control</a:t>
            </a:r>
            <a:endParaRPr lang="en-US" sz="1350" dirty="0"/>
          </a:p>
        </p:txBody>
      </p:sp>
      <p:sp>
        <p:nvSpPr>
          <p:cNvPr id="24" name="Text 18"/>
          <p:cNvSpPr/>
          <p:nvPr/>
        </p:nvSpPr>
        <p:spPr>
          <a:xfrm>
            <a:off x="6964528" y="5440680"/>
            <a:ext cx="4769968" cy="685800"/>
          </a:xfrm>
          <a:prstGeom prst="rect">
            <a:avLst/>
          </a:prstGeom>
          <a:noFill/>
          <a:ln/>
        </p:spPr>
        <p:txBody>
          <a:bodyPr wrap="square" lIns="0" tIns="0" rIns="0" bIns="0" rtlCol="0" anchor="ctr"/>
          <a:lstStyle/>
          <a:p>
            <a:pPr marL="0" indent="0">
              <a:buNone/>
            </a:pPr>
            <a:r>
              <a:rPr lang="en-US" sz="1100" dirty="0">
                <a:solidFill>
                  <a:srgbClr val="3A4A6B"/>
                </a:solidFill>
                <a:latin typeface="Calibri" pitchFamily="34" charset="0"/>
                <a:ea typeface="Calibri" pitchFamily="34" charset="-122"/>
                <a:cs typeface="Calibri" pitchFamily="34" charset="-120"/>
              </a:rPr>
              <a:t>Access decisions center on who — not where — the request is from</a:t>
            </a:r>
            <a:endParaRPr lang="en-US" sz="1100" dirty="0"/>
          </a:p>
        </p:txBody>
      </p:sp>
      <p:sp>
        <p:nvSpPr>
          <p:cNvPr id="25" name="Text 19"/>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950" dirty="0">
                <a:solidFill>
                  <a:srgbClr val="8896AD"/>
                </a:solidFill>
                <a:latin typeface="Calibri" pitchFamily="34" charset="0"/>
                <a:ea typeface="Calibri" pitchFamily="34" charset="-122"/>
                <a:cs typeface="Calibri" pitchFamily="34" charset="-120"/>
              </a:rPr>
              <a:t>VPN vs Zero Trust Security</a:t>
            </a:r>
            <a:endParaRPr lang="en-US" sz="950" dirty="0"/>
          </a:p>
        </p:txBody>
      </p:sp>
      <p:sp>
        <p:nvSpPr>
          <p:cNvPr id="26" name="Text 20"/>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50" dirty="0">
                <a:solidFill>
                  <a:srgbClr val="8896AD"/>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Zero Trust Architecture</a:t>
            </a:r>
            <a:endParaRPr lang="en-US" sz="3000" dirty="0"/>
          </a:p>
        </p:txBody>
      </p:sp>
      <p:sp>
        <p:nvSpPr>
          <p:cNvPr id="3" name="Text 1"/>
          <p:cNvSpPr/>
          <p:nvPr/>
        </p:nvSpPr>
        <p:spPr>
          <a:xfrm>
            <a:off x="457200" y="960120"/>
            <a:ext cx="11277295" cy="320040"/>
          </a:xfrm>
          <a:prstGeom prst="rect">
            <a:avLst/>
          </a:prstGeom>
          <a:noFill/>
          <a:ln/>
        </p:spPr>
        <p:txBody>
          <a:bodyPr wrap="square" lIns="0" tIns="0" rIns="0" bIns="0" rtlCol="0" anchor="ctr"/>
          <a:lstStyle/>
          <a:p>
            <a:pPr marL="0" indent="0" algn="l">
              <a:buNone/>
            </a:pPr>
            <a:r>
              <a:rPr lang="en-US" sz="1300" i="1" dirty="0">
                <a:solidFill>
                  <a:srgbClr val="3A4A6B"/>
                </a:solidFill>
                <a:latin typeface="Calibri" pitchFamily="34" charset="0"/>
                <a:ea typeface="Calibri" pitchFamily="34" charset="-122"/>
                <a:cs typeface="Calibri" pitchFamily="34" charset="-120"/>
              </a:rPr>
              <a:t>Every request is verified before access is granted — per application</a:t>
            </a:r>
            <a:endParaRPr lang="en-US" sz="1300" dirty="0"/>
          </a:p>
        </p:txBody>
      </p:sp>
      <p:sp>
        <p:nvSpPr>
          <p:cNvPr id="4" name="Shape 2"/>
          <p:cNvSpPr/>
          <p:nvPr/>
        </p:nvSpPr>
        <p:spPr>
          <a:xfrm>
            <a:off x="678028" y="1417320"/>
            <a:ext cx="2331720" cy="1051560"/>
          </a:xfrm>
          <a:prstGeom prst="roundRect">
            <a:avLst>
              <a:gd name="adj" fmla="val 10435"/>
            </a:avLst>
          </a:prstGeom>
          <a:solidFill>
            <a:srgbClr val="F3F6FB"/>
          </a:solidFill>
          <a:ln/>
        </p:spPr>
      </p:sp>
      <p:sp>
        <p:nvSpPr>
          <p:cNvPr id="5" name="Shape 3"/>
          <p:cNvSpPr/>
          <p:nvPr/>
        </p:nvSpPr>
        <p:spPr>
          <a:xfrm>
            <a:off x="1569568" y="1554480"/>
            <a:ext cx="530352" cy="530352"/>
          </a:xfrm>
          <a:prstGeom prst="ellipse">
            <a:avLst/>
          </a:prstGeom>
          <a:solidFill>
            <a:srgbClr val="1E2761"/>
          </a:solidFill>
          <a:ln/>
        </p:spPr>
      </p:sp>
      <p:pic>
        <p:nvPicPr>
          <p:cNvPr id="6" name="Image 0" descr="/home/claude/icons/user_white.png"/>
          <p:cNvPicPr>
            <a:picLocks noChangeAspect="1"/>
          </p:cNvPicPr>
          <p:nvPr/>
        </p:nvPicPr>
        <p:blipFill>
          <a:blip r:embed="rId3"/>
          <a:stretch>
            <a:fillRect/>
          </a:stretch>
        </p:blipFill>
        <p:spPr>
          <a:xfrm>
            <a:off x="1686245" y="1671157"/>
            <a:ext cx="296997" cy="296997"/>
          </a:xfrm>
          <a:prstGeom prst="rect">
            <a:avLst/>
          </a:prstGeom>
        </p:spPr>
      </p:pic>
      <p:sp>
        <p:nvSpPr>
          <p:cNvPr id="7" name="Text 4"/>
          <p:cNvSpPr/>
          <p:nvPr/>
        </p:nvSpPr>
        <p:spPr>
          <a:xfrm>
            <a:off x="769468" y="2130552"/>
            <a:ext cx="2148840"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User</a:t>
            </a:r>
            <a:endParaRPr lang="en-US" sz="1200" dirty="0"/>
          </a:p>
        </p:txBody>
      </p:sp>
      <p:sp>
        <p:nvSpPr>
          <p:cNvPr id="8" name="Text 5"/>
          <p:cNvSpPr/>
          <p:nvPr/>
        </p:nvSpPr>
        <p:spPr>
          <a:xfrm>
            <a:off x="769468" y="2368296"/>
            <a:ext cx="2148840" cy="457200"/>
          </a:xfrm>
          <a:prstGeom prst="rect">
            <a:avLst/>
          </a:prstGeom>
          <a:noFill/>
          <a:ln/>
        </p:spPr>
        <p:txBody>
          <a:bodyPr wrap="square" lIns="0" tIns="0" rIns="0" bIns="0" rtlCol="0" anchor="ctr"/>
          <a:lstStyle/>
          <a:p>
            <a:pPr marL="0" indent="0" algn="ctr">
              <a:buNone/>
            </a:pPr>
            <a:r>
              <a:rPr lang="en-US" sz="900" dirty="0">
                <a:solidFill>
                  <a:srgbClr val="3A4A6B"/>
                </a:solidFill>
                <a:latin typeface="Calibri" pitchFamily="34" charset="0"/>
                <a:ea typeface="Calibri" pitchFamily="34" charset="-122"/>
                <a:cs typeface="Calibri" pitchFamily="34" charset="-120"/>
              </a:rPr>
              <a:t>Requests access</a:t>
            </a:r>
            <a:endParaRPr lang="en-US" sz="900" dirty="0"/>
          </a:p>
        </p:txBody>
      </p:sp>
      <p:sp>
        <p:nvSpPr>
          <p:cNvPr id="9" name="Shape 6"/>
          <p:cNvSpPr/>
          <p:nvPr/>
        </p:nvSpPr>
        <p:spPr>
          <a:xfrm>
            <a:off x="3055468" y="1805940"/>
            <a:ext cx="411480" cy="0"/>
          </a:xfrm>
          <a:prstGeom prst="line">
            <a:avLst/>
          </a:prstGeom>
          <a:noFill/>
          <a:ln w="28575">
            <a:solidFill>
              <a:srgbClr val="3A4A6B"/>
            </a:solidFill>
            <a:prstDash val="solid"/>
            <a:tailEnd type="triangle"/>
          </a:ln>
        </p:spPr>
      </p:sp>
      <p:sp>
        <p:nvSpPr>
          <p:cNvPr id="10" name="Shape 7"/>
          <p:cNvSpPr/>
          <p:nvPr/>
        </p:nvSpPr>
        <p:spPr>
          <a:xfrm>
            <a:off x="3512668" y="1417320"/>
            <a:ext cx="2331720" cy="1051560"/>
          </a:xfrm>
          <a:prstGeom prst="roundRect">
            <a:avLst>
              <a:gd name="adj" fmla="val 10435"/>
            </a:avLst>
          </a:prstGeom>
          <a:solidFill>
            <a:srgbClr val="1E2761"/>
          </a:solidFill>
          <a:ln/>
        </p:spPr>
      </p:sp>
      <p:sp>
        <p:nvSpPr>
          <p:cNvPr id="11" name="Shape 8"/>
          <p:cNvSpPr/>
          <p:nvPr/>
        </p:nvSpPr>
        <p:spPr>
          <a:xfrm>
            <a:off x="4404208" y="1554480"/>
            <a:ext cx="530352" cy="530352"/>
          </a:xfrm>
          <a:prstGeom prst="ellipse">
            <a:avLst/>
          </a:prstGeom>
          <a:solidFill>
            <a:srgbClr val="02C39A"/>
          </a:solidFill>
          <a:ln/>
        </p:spPr>
      </p:sp>
      <p:pic>
        <p:nvPicPr>
          <p:cNvPr id="12" name="Image 1" descr="/home/claude/icons/usercheck_navy.png"/>
          <p:cNvPicPr>
            <a:picLocks noChangeAspect="1"/>
          </p:cNvPicPr>
          <p:nvPr/>
        </p:nvPicPr>
        <p:blipFill>
          <a:blip r:embed="rId4"/>
          <a:stretch>
            <a:fillRect/>
          </a:stretch>
        </p:blipFill>
        <p:spPr>
          <a:xfrm>
            <a:off x="4520885" y="1671157"/>
            <a:ext cx="296997" cy="296997"/>
          </a:xfrm>
          <a:prstGeom prst="rect">
            <a:avLst/>
          </a:prstGeom>
        </p:spPr>
      </p:pic>
      <p:sp>
        <p:nvSpPr>
          <p:cNvPr id="13" name="Text 9"/>
          <p:cNvSpPr/>
          <p:nvPr/>
        </p:nvSpPr>
        <p:spPr>
          <a:xfrm>
            <a:off x="3604108" y="2130552"/>
            <a:ext cx="214884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Identity Verification</a:t>
            </a:r>
            <a:endParaRPr lang="en-US" sz="1200" dirty="0"/>
          </a:p>
        </p:txBody>
      </p:sp>
      <p:sp>
        <p:nvSpPr>
          <p:cNvPr id="14" name="Text 10"/>
          <p:cNvSpPr/>
          <p:nvPr/>
        </p:nvSpPr>
        <p:spPr>
          <a:xfrm>
            <a:off x="3604108" y="2368296"/>
            <a:ext cx="2148840" cy="457200"/>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Who, and from what device?</a:t>
            </a:r>
            <a:endParaRPr lang="en-US" sz="900" dirty="0"/>
          </a:p>
        </p:txBody>
      </p:sp>
      <p:sp>
        <p:nvSpPr>
          <p:cNvPr id="15" name="Shape 11"/>
          <p:cNvSpPr/>
          <p:nvPr/>
        </p:nvSpPr>
        <p:spPr>
          <a:xfrm>
            <a:off x="5890108" y="1805940"/>
            <a:ext cx="411480" cy="0"/>
          </a:xfrm>
          <a:prstGeom prst="line">
            <a:avLst/>
          </a:prstGeom>
          <a:noFill/>
          <a:ln w="28575">
            <a:solidFill>
              <a:srgbClr val="3A4A6B"/>
            </a:solidFill>
            <a:prstDash val="solid"/>
            <a:tailEnd type="triangle"/>
          </a:ln>
        </p:spPr>
      </p:sp>
      <p:sp>
        <p:nvSpPr>
          <p:cNvPr id="16" name="Shape 12"/>
          <p:cNvSpPr/>
          <p:nvPr/>
        </p:nvSpPr>
        <p:spPr>
          <a:xfrm>
            <a:off x="6347308" y="1417320"/>
            <a:ext cx="2331720" cy="1051560"/>
          </a:xfrm>
          <a:prstGeom prst="roundRect">
            <a:avLst>
              <a:gd name="adj" fmla="val 10435"/>
            </a:avLst>
          </a:prstGeom>
          <a:solidFill>
            <a:srgbClr val="1E2761"/>
          </a:solidFill>
          <a:ln/>
        </p:spPr>
      </p:sp>
      <p:sp>
        <p:nvSpPr>
          <p:cNvPr id="17" name="Shape 13"/>
          <p:cNvSpPr/>
          <p:nvPr/>
        </p:nvSpPr>
        <p:spPr>
          <a:xfrm>
            <a:off x="7238848" y="1554480"/>
            <a:ext cx="530352" cy="530352"/>
          </a:xfrm>
          <a:prstGeom prst="ellipse">
            <a:avLst/>
          </a:prstGeom>
          <a:solidFill>
            <a:srgbClr val="02C39A"/>
          </a:solidFill>
          <a:ln/>
        </p:spPr>
      </p:sp>
      <p:pic>
        <p:nvPicPr>
          <p:cNvPr id="18" name="Image 2" descr="/home/claude/icons/cogs_navy.png"/>
          <p:cNvPicPr>
            <a:picLocks noChangeAspect="1"/>
          </p:cNvPicPr>
          <p:nvPr/>
        </p:nvPicPr>
        <p:blipFill>
          <a:blip r:embed="rId5"/>
          <a:stretch>
            <a:fillRect/>
          </a:stretch>
        </p:blipFill>
        <p:spPr>
          <a:xfrm>
            <a:off x="7355525" y="1671157"/>
            <a:ext cx="296997" cy="296997"/>
          </a:xfrm>
          <a:prstGeom prst="rect">
            <a:avLst/>
          </a:prstGeom>
        </p:spPr>
      </p:pic>
      <p:sp>
        <p:nvSpPr>
          <p:cNvPr id="19" name="Text 14"/>
          <p:cNvSpPr/>
          <p:nvPr/>
        </p:nvSpPr>
        <p:spPr>
          <a:xfrm>
            <a:off x="6438748" y="2130552"/>
            <a:ext cx="214884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Policy Engine</a:t>
            </a:r>
            <a:endParaRPr lang="en-US" sz="1200" dirty="0"/>
          </a:p>
        </p:txBody>
      </p:sp>
      <p:sp>
        <p:nvSpPr>
          <p:cNvPr id="20" name="Text 15"/>
          <p:cNvSpPr/>
          <p:nvPr/>
        </p:nvSpPr>
        <p:spPr>
          <a:xfrm>
            <a:off x="6438748" y="2368296"/>
            <a:ext cx="2148840" cy="457200"/>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Evaluates context &amp; risk</a:t>
            </a:r>
            <a:endParaRPr lang="en-US" sz="900" dirty="0"/>
          </a:p>
        </p:txBody>
      </p:sp>
      <p:sp>
        <p:nvSpPr>
          <p:cNvPr id="21" name="Shape 16"/>
          <p:cNvSpPr/>
          <p:nvPr/>
        </p:nvSpPr>
        <p:spPr>
          <a:xfrm>
            <a:off x="8724748" y="1805940"/>
            <a:ext cx="411480" cy="0"/>
          </a:xfrm>
          <a:prstGeom prst="line">
            <a:avLst/>
          </a:prstGeom>
          <a:noFill/>
          <a:ln w="28575">
            <a:solidFill>
              <a:srgbClr val="3A4A6B"/>
            </a:solidFill>
            <a:prstDash val="solid"/>
            <a:tailEnd type="triangle"/>
          </a:ln>
        </p:spPr>
      </p:sp>
      <p:sp>
        <p:nvSpPr>
          <p:cNvPr id="22" name="Shape 17"/>
          <p:cNvSpPr/>
          <p:nvPr/>
        </p:nvSpPr>
        <p:spPr>
          <a:xfrm>
            <a:off x="9181948" y="1417320"/>
            <a:ext cx="2331720" cy="1051560"/>
          </a:xfrm>
          <a:prstGeom prst="roundRect">
            <a:avLst>
              <a:gd name="adj" fmla="val 10435"/>
            </a:avLst>
          </a:prstGeom>
          <a:solidFill>
            <a:srgbClr val="F3F6FB"/>
          </a:solidFill>
          <a:ln/>
        </p:spPr>
      </p:sp>
      <p:sp>
        <p:nvSpPr>
          <p:cNvPr id="23" name="Shape 18"/>
          <p:cNvSpPr/>
          <p:nvPr/>
        </p:nvSpPr>
        <p:spPr>
          <a:xfrm>
            <a:off x="10073488" y="1554480"/>
            <a:ext cx="530352" cy="530352"/>
          </a:xfrm>
          <a:prstGeom prst="ellipse">
            <a:avLst/>
          </a:prstGeom>
          <a:solidFill>
            <a:srgbClr val="1E2761"/>
          </a:solidFill>
          <a:ln/>
        </p:spPr>
      </p:sp>
      <p:pic>
        <p:nvPicPr>
          <p:cNvPr id="24" name="Image 3" descr="/home/claude/icons/cloud_white.png"/>
          <p:cNvPicPr>
            <a:picLocks noChangeAspect="1"/>
          </p:cNvPicPr>
          <p:nvPr/>
        </p:nvPicPr>
        <p:blipFill>
          <a:blip r:embed="rId6"/>
          <a:stretch>
            <a:fillRect/>
          </a:stretch>
        </p:blipFill>
        <p:spPr>
          <a:xfrm>
            <a:off x="10190165" y="1671157"/>
            <a:ext cx="296997" cy="296997"/>
          </a:xfrm>
          <a:prstGeom prst="rect">
            <a:avLst/>
          </a:prstGeom>
        </p:spPr>
      </p:pic>
      <p:sp>
        <p:nvSpPr>
          <p:cNvPr id="25" name="Text 19"/>
          <p:cNvSpPr/>
          <p:nvPr/>
        </p:nvSpPr>
        <p:spPr>
          <a:xfrm>
            <a:off x="9273388" y="2130552"/>
            <a:ext cx="2148840"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Application Access</a:t>
            </a:r>
            <a:endParaRPr lang="en-US" sz="1200" dirty="0"/>
          </a:p>
        </p:txBody>
      </p:sp>
      <p:sp>
        <p:nvSpPr>
          <p:cNvPr id="26" name="Text 20"/>
          <p:cNvSpPr/>
          <p:nvPr/>
        </p:nvSpPr>
        <p:spPr>
          <a:xfrm>
            <a:off x="9273388" y="2368296"/>
            <a:ext cx="2148840" cy="457200"/>
          </a:xfrm>
          <a:prstGeom prst="rect">
            <a:avLst/>
          </a:prstGeom>
          <a:noFill/>
          <a:ln/>
        </p:spPr>
        <p:txBody>
          <a:bodyPr wrap="square" lIns="0" tIns="0" rIns="0" bIns="0" rtlCol="0" anchor="ctr"/>
          <a:lstStyle/>
          <a:p>
            <a:pPr marL="0" indent="0" algn="ctr">
              <a:buNone/>
            </a:pPr>
            <a:r>
              <a:rPr lang="en-US" sz="900" dirty="0">
                <a:solidFill>
                  <a:srgbClr val="3A4A6B"/>
                </a:solidFill>
                <a:latin typeface="Calibri" pitchFamily="34" charset="0"/>
                <a:ea typeface="Calibri" pitchFamily="34" charset="-122"/>
                <a:cs typeface="Calibri" pitchFamily="34" charset="-120"/>
              </a:rPr>
              <a:t>Granted to one resource only</a:t>
            </a:r>
            <a:endParaRPr lang="en-US" sz="900" dirty="0"/>
          </a:p>
        </p:txBody>
      </p:sp>
      <p:sp>
        <p:nvSpPr>
          <p:cNvPr id="27" name="Text 21"/>
          <p:cNvSpPr/>
          <p:nvPr/>
        </p:nvSpPr>
        <p:spPr>
          <a:xfrm>
            <a:off x="457200" y="2880360"/>
            <a:ext cx="5486400" cy="29260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Key Characteristics</a:t>
            </a:r>
            <a:endParaRPr lang="en-US" sz="1500" dirty="0"/>
          </a:p>
        </p:txBody>
      </p:sp>
      <p:sp>
        <p:nvSpPr>
          <p:cNvPr id="28" name="Shape 22"/>
          <p:cNvSpPr/>
          <p:nvPr/>
        </p:nvSpPr>
        <p:spPr>
          <a:xfrm>
            <a:off x="457200" y="3291840"/>
            <a:ext cx="420624" cy="420624"/>
          </a:xfrm>
          <a:prstGeom prst="ellipse">
            <a:avLst/>
          </a:prstGeom>
          <a:solidFill>
            <a:srgbClr val="1E2761"/>
          </a:solidFill>
          <a:ln/>
        </p:spPr>
      </p:sp>
      <p:pic>
        <p:nvPicPr>
          <p:cNvPr id="29" name="Image 4" descr="/home/claude/icons/usershield_white.png"/>
          <p:cNvPicPr>
            <a:picLocks noChangeAspect="1"/>
          </p:cNvPicPr>
          <p:nvPr/>
        </p:nvPicPr>
        <p:blipFill>
          <a:blip r:embed="rId7"/>
          <a:stretch>
            <a:fillRect/>
          </a:stretch>
        </p:blipFill>
        <p:spPr>
          <a:xfrm>
            <a:off x="549737" y="3384377"/>
            <a:ext cx="235549" cy="235549"/>
          </a:xfrm>
          <a:prstGeom prst="rect">
            <a:avLst/>
          </a:prstGeom>
        </p:spPr>
      </p:pic>
      <p:sp>
        <p:nvSpPr>
          <p:cNvPr id="30" name="Text 23"/>
          <p:cNvSpPr/>
          <p:nvPr/>
        </p:nvSpPr>
        <p:spPr>
          <a:xfrm>
            <a:off x="1024128" y="3273552"/>
            <a:ext cx="294833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Identity-centric security</a:t>
            </a:r>
            <a:endParaRPr lang="en-US" sz="1200" dirty="0"/>
          </a:p>
        </p:txBody>
      </p:sp>
      <p:sp>
        <p:nvSpPr>
          <p:cNvPr id="31" name="Shape 24"/>
          <p:cNvSpPr/>
          <p:nvPr/>
        </p:nvSpPr>
        <p:spPr>
          <a:xfrm>
            <a:off x="4338218" y="3291840"/>
            <a:ext cx="420624" cy="420624"/>
          </a:xfrm>
          <a:prstGeom prst="ellipse">
            <a:avLst/>
          </a:prstGeom>
          <a:solidFill>
            <a:srgbClr val="1E2761"/>
          </a:solidFill>
          <a:ln/>
        </p:spPr>
      </p:sp>
      <p:pic>
        <p:nvPicPr>
          <p:cNvPr id="32" name="Image 5" descr="/home/claude/icons/cloud_white.png"/>
          <p:cNvPicPr>
            <a:picLocks noChangeAspect="1"/>
          </p:cNvPicPr>
          <p:nvPr/>
        </p:nvPicPr>
        <p:blipFill>
          <a:blip r:embed="rId6"/>
          <a:stretch>
            <a:fillRect/>
          </a:stretch>
        </p:blipFill>
        <p:spPr>
          <a:xfrm>
            <a:off x="4430756" y="3384377"/>
            <a:ext cx="235549" cy="235549"/>
          </a:xfrm>
          <a:prstGeom prst="rect">
            <a:avLst/>
          </a:prstGeom>
        </p:spPr>
      </p:pic>
      <p:sp>
        <p:nvSpPr>
          <p:cNvPr id="33" name="Text 25"/>
          <p:cNvSpPr/>
          <p:nvPr/>
        </p:nvSpPr>
        <p:spPr>
          <a:xfrm>
            <a:off x="4905146" y="3273552"/>
            <a:ext cx="294833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Application-level access</a:t>
            </a:r>
            <a:endParaRPr lang="en-US" sz="1200" dirty="0"/>
          </a:p>
        </p:txBody>
      </p:sp>
      <p:sp>
        <p:nvSpPr>
          <p:cNvPr id="34" name="Shape 26"/>
          <p:cNvSpPr/>
          <p:nvPr/>
        </p:nvSpPr>
        <p:spPr>
          <a:xfrm>
            <a:off x="8219237" y="3291840"/>
            <a:ext cx="420624" cy="420624"/>
          </a:xfrm>
          <a:prstGeom prst="ellipse">
            <a:avLst/>
          </a:prstGeom>
          <a:solidFill>
            <a:srgbClr val="1E2761"/>
          </a:solidFill>
          <a:ln/>
        </p:spPr>
      </p:sp>
      <p:pic>
        <p:nvPicPr>
          <p:cNvPr id="35" name="Image 6" descr="/home/claude/icons/eye_white.png"/>
          <p:cNvPicPr>
            <a:picLocks noChangeAspect="1"/>
          </p:cNvPicPr>
          <p:nvPr/>
        </p:nvPicPr>
        <p:blipFill>
          <a:blip r:embed="rId8"/>
          <a:stretch>
            <a:fillRect/>
          </a:stretch>
        </p:blipFill>
        <p:spPr>
          <a:xfrm>
            <a:off x="8311774" y="3384377"/>
            <a:ext cx="235549" cy="235549"/>
          </a:xfrm>
          <a:prstGeom prst="rect">
            <a:avLst/>
          </a:prstGeom>
        </p:spPr>
      </p:pic>
      <p:sp>
        <p:nvSpPr>
          <p:cNvPr id="36" name="Text 27"/>
          <p:cNvSpPr/>
          <p:nvPr/>
        </p:nvSpPr>
        <p:spPr>
          <a:xfrm>
            <a:off x="8786165" y="3273552"/>
            <a:ext cx="294833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Continuous monitoring</a:t>
            </a:r>
            <a:endParaRPr lang="en-US" sz="1200" dirty="0"/>
          </a:p>
        </p:txBody>
      </p:sp>
      <p:sp>
        <p:nvSpPr>
          <p:cNvPr id="37" name="Shape 28"/>
          <p:cNvSpPr/>
          <p:nvPr/>
        </p:nvSpPr>
        <p:spPr>
          <a:xfrm>
            <a:off x="457200" y="4069080"/>
            <a:ext cx="420624" cy="420624"/>
          </a:xfrm>
          <a:prstGeom prst="ellipse">
            <a:avLst/>
          </a:prstGeom>
          <a:solidFill>
            <a:srgbClr val="1E2761"/>
          </a:solidFill>
          <a:ln/>
        </p:spPr>
      </p:sp>
      <p:pic>
        <p:nvPicPr>
          <p:cNvPr id="38" name="Image 7" descr="/home/claude/icons/laptop_white.png"/>
          <p:cNvPicPr>
            <a:picLocks noChangeAspect="1"/>
          </p:cNvPicPr>
          <p:nvPr/>
        </p:nvPicPr>
        <p:blipFill>
          <a:blip r:embed="rId9"/>
          <a:stretch>
            <a:fillRect/>
          </a:stretch>
        </p:blipFill>
        <p:spPr>
          <a:xfrm>
            <a:off x="549737" y="4161617"/>
            <a:ext cx="235549" cy="235549"/>
          </a:xfrm>
          <a:prstGeom prst="rect">
            <a:avLst/>
          </a:prstGeom>
        </p:spPr>
      </p:pic>
      <p:sp>
        <p:nvSpPr>
          <p:cNvPr id="39" name="Text 29"/>
          <p:cNvSpPr/>
          <p:nvPr/>
        </p:nvSpPr>
        <p:spPr>
          <a:xfrm>
            <a:off x="1024128" y="4050792"/>
            <a:ext cx="294833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Device posture checks</a:t>
            </a:r>
            <a:endParaRPr lang="en-US" sz="1200" dirty="0"/>
          </a:p>
        </p:txBody>
      </p:sp>
      <p:sp>
        <p:nvSpPr>
          <p:cNvPr id="40" name="Shape 30"/>
          <p:cNvSpPr/>
          <p:nvPr/>
        </p:nvSpPr>
        <p:spPr>
          <a:xfrm>
            <a:off x="4338218" y="4069080"/>
            <a:ext cx="420624" cy="420624"/>
          </a:xfrm>
          <a:prstGeom prst="ellipse">
            <a:avLst/>
          </a:prstGeom>
          <a:solidFill>
            <a:srgbClr val="1E2761"/>
          </a:solidFill>
          <a:ln/>
        </p:spPr>
      </p:sp>
      <p:pic>
        <p:nvPicPr>
          <p:cNvPr id="41" name="Image 8" descr="/home/claude/icons/sitemap_white.png"/>
          <p:cNvPicPr>
            <a:picLocks noChangeAspect="1"/>
          </p:cNvPicPr>
          <p:nvPr/>
        </p:nvPicPr>
        <p:blipFill>
          <a:blip r:embed="rId10"/>
          <a:stretch>
            <a:fillRect/>
          </a:stretch>
        </p:blipFill>
        <p:spPr>
          <a:xfrm>
            <a:off x="4430756" y="4161617"/>
            <a:ext cx="235549" cy="235549"/>
          </a:xfrm>
          <a:prstGeom prst="rect">
            <a:avLst/>
          </a:prstGeom>
        </p:spPr>
      </p:pic>
      <p:sp>
        <p:nvSpPr>
          <p:cNvPr id="42" name="Text 31"/>
          <p:cNvSpPr/>
          <p:nvPr/>
        </p:nvSpPr>
        <p:spPr>
          <a:xfrm>
            <a:off x="4905146" y="4050792"/>
            <a:ext cx="294833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Micro-segmentation</a:t>
            </a:r>
            <a:endParaRPr lang="en-US" sz="1200" dirty="0"/>
          </a:p>
        </p:txBody>
      </p:sp>
      <p:sp>
        <p:nvSpPr>
          <p:cNvPr id="43" name="Shape 32"/>
          <p:cNvSpPr/>
          <p:nvPr/>
        </p:nvSpPr>
        <p:spPr>
          <a:xfrm>
            <a:off x="457200" y="5166360"/>
            <a:ext cx="11277295" cy="914400"/>
          </a:xfrm>
          <a:prstGeom prst="roundRect">
            <a:avLst>
              <a:gd name="adj" fmla="val 12000"/>
            </a:avLst>
          </a:prstGeom>
          <a:solidFill>
            <a:srgbClr val="1E2761"/>
          </a:solidFill>
          <a:ln/>
        </p:spPr>
      </p:sp>
      <p:sp>
        <p:nvSpPr>
          <p:cNvPr id="44" name="Shape 33"/>
          <p:cNvSpPr/>
          <p:nvPr/>
        </p:nvSpPr>
        <p:spPr>
          <a:xfrm>
            <a:off x="685800" y="5340096"/>
            <a:ext cx="566928" cy="566928"/>
          </a:xfrm>
          <a:prstGeom prst="ellipse">
            <a:avLst/>
          </a:prstGeom>
          <a:solidFill>
            <a:srgbClr val="02C39A"/>
          </a:solidFill>
          <a:ln/>
        </p:spPr>
      </p:sp>
      <p:pic>
        <p:nvPicPr>
          <p:cNvPr id="45" name="Image 9" descr="/home/claude/icons/shield_navy.png"/>
          <p:cNvPicPr>
            <a:picLocks noChangeAspect="1"/>
          </p:cNvPicPr>
          <p:nvPr/>
        </p:nvPicPr>
        <p:blipFill>
          <a:blip r:embed="rId11"/>
          <a:stretch>
            <a:fillRect/>
          </a:stretch>
        </p:blipFill>
        <p:spPr>
          <a:xfrm>
            <a:off x="813359" y="5467655"/>
            <a:ext cx="311810" cy="311810"/>
          </a:xfrm>
          <a:prstGeom prst="rect">
            <a:avLst/>
          </a:prstGeom>
        </p:spPr>
      </p:pic>
      <p:sp>
        <p:nvSpPr>
          <p:cNvPr id="46" name="Text 34"/>
          <p:cNvSpPr/>
          <p:nvPr/>
        </p:nvSpPr>
        <p:spPr>
          <a:xfrm>
            <a:off x="1417320" y="5166360"/>
            <a:ext cx="10042855" cy="914400"/>
          </a:xfrm>
          <a:prstGeom prst="rect">
            <a:avLst/>
          </a:prstGeom>
          <a:noFill/>
          <a:ln/>
        </p:spPr>
        <p:txBody>
          <a:bodyPr wrap="square" lIns="0" tIns="0" rIns="0" bIns="0" rtlCol="0" anchor="ctr"/>
          <a:lstStyle/>
          <a:p>
            <a:pPr marL="0" indent="0">
              <a:buNone/>
            </a:pPr>
            <a:r>
              <a:rPr lang="en-US" sz="1250" b="1" dirty="0">
                <a:solidFill>
                  <a:srgbClr val="02C39A"/>
                </a:solidFill>
                <a:latin typeface="Calibri" pitchFamily="34" charset="0"/>
                <a:ea typeface="Calibri" pitchFamily="34" charset="-122"/>
                <a:cs typeface="Calibri" pitchFamily="34" charset="-120"/>
              </a:rPr>
              <a:t>ZTNA — Zero Trust Network Access:  </a:t>
            </a:r>
            <a:r>
              <a:rPr lang="en-US" sz="1250" dirty="0">
                <a:solidFill>
                  <a:srgbClr val="FFFFFF"/>
                </a:solidFill>
                <a:latin typeface="Calibri" pitchFamily="34" charset="0"/>
                <a:ea typeface="Calibri" pitchFamily="34" charset="-122"/>
                <a:cs typeface="Calibri" pitchFamily="34" charset="-120"/>
              </a:rPr>
              <a:t>the technology that implements Zero Trust, granting access per-application after verifying identity, device, and context — never per-network.</a:t>
            </a:r>
            <a:endParaRPr lang="en-US" sz="1250" dirty="0"/>
          </a:p>
        </p:txBody>
      </p:sp>
      <p:sp>
        <p:nvSpPr>
          <p:cNvPr id="47" name="Text 35"/>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950" dirty="0">
                <a:solidFill>
                  <a:srgbClr val="8896AD"/>
                </a:solidFill>
                <a:latin typeface="Calibri" pitchFamily="34" charset="0"/>
                <a:ea typeface="Calibri" pitchFamily="34" charset="-122"/>
                <a:cs typeface="Calibri" pitchFamily="34" charset="-120"/>
              </a:rPr>
              <a:t>VPN vs Zero Trust Security</a:t>
            </a:r>
            <a:endParaRPr lang="en-US" sz="950" dirty="0"/>
          </a:p>
        </p:txBody>
      </p:sp>
      <p:sp>
        <p:nvSpPr>
          <p:cNvPr id="48" name="Text 36"/>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50" dirty="0">
                <a:solidFill>
                  <a:srgbClr val="8896AD"/>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8580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VPN vs Zero Trust: Head-to-Head</a:t>
            </a:r>
            <a:endParaRPr lang="en-US" sz="3000" dirty="0"/>
          </a:p>
        </p:txBody>
      </p:sp>
      <p:sp>
        <p:nvSpPr>
          <p:cNvPr id="3" name="Text 1"/>
          <p:cNvSpPr/>
          <p:nvPr/>
        </p:nvSpPr>
        <p:spPr>
          <a:xfrm>
            <a:off x="457200" y="960120"/>
            <a:ext cx="11277295" cy="320040"/>
          </a:xfrm>
          <a:prstGeom prst="rect">
            <a:avLst/>
          </a:prstGeom>
          <a:noFill/>
          <a:ln/>
        </p:spPr>
        <p:txBody>
          <a:bodyPr wrap="square" lIns="0" tIns="0" rIns="0" bIns="0" rtlCol="0" anchor="ctr"/>
          <a:lstStyle/>
          <a:p>
            <a:pPr marL="0" indent="0" algn="l">
              <a:buNone/>
            </a:pPr>
            <a:r>
              <a:rPr lang="en-US" sz="1300" i="1" dirty="0">
                <a:solidFill>
                  <a:srgbClr val="3A4A6B"/>
                </a:solidFill>
                <a:latin typeface="Calibri" pitchFamily="34" charset="0"/>
                <a:ea typeface="Calibri" pitchFamily="34" charset="-122"/>
                <a:cs typeface="Calibri" pitchFamily="34" charset="-120"/>
              </a:rPr>
              <a:t>Zero Trust reduces the attack surface across every dimension</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109960" cy="4480560"/>
        </p:xfrm>
        <a:graphic>
          <a:graphicData uri="http://schemas.openxmlformats.org/drawingml/2006/table">
            <a:tbl>
              <a:tblPr/>
              <a:tblGrid>
                <a:gridCol w="28803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57200">
                <a:tc>
                  <a:txBody>
                    <a:bodyPr/>
                    <a:lstStyle/>
                    <a:p>
                      <a:pPr marL="0" indent="0" algn="l">
                        <a:buNone/>
                      </a:pPr>
                      <a:r>
                        <a:rPr lang="en-US" sz="1300" b="1" dirty="0">
                          <a:solidFill>
                            <a:srgbClr val="FFFFFF"/>
                          </a:solidFill>
                        </a:rPr>
                        <a:t>Criteria</a:t>
                      </a:r>
                      <a:endParaRPr lang="en-US" sz="13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VPN</a:t>
                      </a:r>
                      <a:endParaRPr lang="en-US" sz="13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141A47"/>
                          </a:solidFill>
                        </a:rPr>
                        <a:t>Zero Trust</a:t>
                      </a:r>
                      <a:endParaRPr lang="en-US" sz="13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02C39A"/>
                    </a:solidFill>
                  </a:tcPr>
                </a:tc>
                <a:extLst>
                  <a:ext uri="{0D108BD9-81ED-4DB2-BD59-A6C34878D82A}">
                    <a16:rowId xmlns:a16="http://schemas.microsoft.com/office/drawing/2014/main" val="10000"/>
                  </a:ext>
                </a:extLst>
              </a:tr>
              <a:tr h="502920">
                <a:tc>
                  <a:txBody>
                    <a:bodyPr/>
                    <a:lstStyle/>
                    <a:p>
                      <a:pPr marL="0" indent="0" algn="l">
                        <a:buNone/>
                      </a:pPr>
                      <a:r>
                        <a:rPr lang="en-US" sz="1200" b="1" dirty="0">
                          <a:solidFill>
                            <a:srgbClr val="1E2761"/>
                          </a:solidFill>
                        </a:rPr>
                        <a:t>Security Model</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A4A6B"/>
                          </a:solidFill>
                        </a:rPr>
                        <a:t>Network-centric</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16B52"/>
                          </a:solidFill>
                        </a:rPr>
                        <a:t>Identity-centric</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1"/>
                  </a:ext>
                </a:extLst>
              </a:tr>
              <a:tr h="502920">
                <a:tc>
                  <a:txBody>
                    <a:bodyPr/>
                    <a:lstStyle/>
                    <a:p>
                      <a:pPr marL="0" indent="0" algn="l">
                        <a:buNone/>
                      </a:pPr>
                      <a:r>
                        <a:rPr lang="en-US" sz="1200" b="1" dirty="0">
                          <a:solidFill>
                            <a:srgbClr val="1E2761"/>
                          </a:solidFill>
                        </a:rPr>
                        <a:t>Access Level</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dirty="0">
                          <a:solidFill>
                            <a:srgbClr val="3A4A6B"/>
                          </a:solidFill>
                        </a:rPr>
                        <a:t>Broad — entire network</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b="1" dirty="0">
                          <a:solidFill>
                            <a:srgbClr val="016B52"/>
                          </a:solidFill>
                        </a:rPr>
                        <a:t>Granular — per application</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2"/>
                  </a:ext>
                </a:extLst>
              </a:tr>
              <a:tr h="502920">
                <a:tc>
                  <a:txBody>
                    <a:bodyPr/>
                    <a:lstStyle/>
                    <a:p>
                      <a:pPr marL="0" indent="0" algn="l">
                        <a:buNone/>
                      </a:pPr>
                      <a:r>
                        <a:rPr lang="en-US" sz="1200" b="1" dirty="0">
                          <a:solidFill>
                            <a:srgbClr val="1E2761"/>
                          </a:solidFill>
                        </a:rPr>
                        <a:t>Authentication</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A4A6B"/>
                          </a:solidFill>
                        </a:rPr>
                        <a:t>Single, at login</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16B52"/>
                          </a:solidFill>
                        </a:rPr>
                        <a:t>Continuous, throughout session</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3"/>
                  </a:ext>
                </a:extLst>
              </a:tr>
              <a:tr h="502920">
                <a:tc>
                  <a:txBody>
                    <a:bodyPr/>
                    <a:lstStyle/>
                    <a:p>
                      <a:pPr marL="0" indent="0" algn="l">
                        <a:buNone/>
                      </a:pPr>
                      <a:r>
                        <a:rPr lang="en-US" sz="1200" b="1" dirty="0">
                          <a:solidFill>
                            <a:srgbClr val="1E2761"/>
                          </a:solidFill>
                        </a:rPr>
                        <a:t>Lateral Movement Risk</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dirty="0">
                          <a:solidFill>
                            <a:srgbClr val="3A4A6B"/>
                          </a:solidFill>
                        </a:rPr>
                        <a:t>High</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b="1" dirty="0">
                          <a:solidFill>
                            <a:srgbClr val="016B52"/>
                          </a:solidFill>
                        </a:rPr>
                        <a:t>Low</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4"/>
                  </a:ext>
                </a:extLst>
              </a:tr>
              <a:tr h="502920">
                <a:tc>
                  <a:txBody>
                    <a:bodyPr/>
                    <a:lstStyle/>
                    <a:p>
                      <a:pPr marL="0" indent="0" algn="l">
                        <a:buNone/>
                      </a:pPr>
                      <a:r>
                        <a:rPr lang="en-US" sz="1200" b="1" dirty="0">
                          <a:solidFill>
                            <a:srgbClr val="1E2761"/>
                          </a:solidFill>
                        </a:rPr>
                        <a:t>Scalability</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A4A6B"/>
                          </a:solidFill>
                        </a:rPr>
                        <a:t>Limited, gateway-bound</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16B52"/>
                          </a:solidFill>
                        </a:rPr>
                        <a:t>High — cloud-native</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5"/>
                  </a:ext>
                </a:extLst>
              </a:tr>
              <a:tr h="502920">
                <a:tc>
                  <a:txBody>
                    <a:bodyPr/>
                    <a:lstStyle/>
                    <a:p>
                      <a:pPr marL="0" indent="0" algn="l">
                        <a:buNone/>
                      </a:pPr>
                      <a:r>
                        <a:rPr lang="en-US" sz="1200" b="1" dirty="0">
                          <a:solidFill>
                            <a:srgbClr val="1E2761"/>
                          </a:solidFill>
                        </a:rPr>
                        <a:t>Device Validation</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dirty="0">
                          <a:solidFill>
                            <a:srgbClr val="3A4A6B"/>
                          </a:solidFill>
                        </a:rPr>
                        <a:t>Rarely checked</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b="1" dirty="0">
                          <a:solidFill>
                            <a:srgbClr val="016B52"/>
                          </a:solidFill>
                        </a:rPr>
                        <a:t>Checked every request</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6"/>
                  </a:ext>
                </a:extLst>
              </a:tr>
              <a:tr h="502920">
                <a:tc>
                  <a:txBody>
                    <a:bodyPr/>
                    <a:lstStyle/>
                    <a:p>
                      <a:pPr marL="0" indent="0" algn="l">
                        <a:buNone/>
                      </a:pPr>
                      <a:r>
                        <a:rPr lang="en-US" sz="1200" b="1" dirty="0">
                          <a:solidFill>
                            <a:srgbClr val="1E2761"/>
                          </a:solidFill>
                        </a:rPr>
                        <a:t>User Experience</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A4A6B"/>
                          </a:solidFill>
                        </a:rPr>
                        <a:t>Slower, backhauled traffic</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16B52"/>
                          </a:solidFill>
                        </a:rPr>
                        <a:t>Fast, direct-to-app</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7"/>
                  </a:ext>
                </a:extLst>
              </a:tr>
              <a:tr h="502920">
                <a:tc>
                  <a:txBody>
                    <a:bodyPr/>
                    <a:lstStyle/>
                    <a:p>
                      <a:pPr marL="0" indent="0" algn="l">
                        <a:buNone/>
                      </a:pPr>
                      <a:r>
                        <a:rPr lang="en-US" sz="1200" b="1" dirty="0">
                          <a:solidFill>
                            <a:srgbClr val="1E2761"/>
                          </a:solidFill>
                        </a:rPr>
                        <a:t>Cloud Readiness</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dirty="0">
                          <a:solidFill>
                            <a:srgbClr val="3A4A6B"/>
                          </a:solidFill>
                        </a:rPr>
                        <a:t>Poor fit</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F3F6FB"/>
                    </a:solidFill>
                  </a:tcPr>
                </a:tc>
                <a:tc>
                  <a:txBody>
                    <a:bodyPr/>
                    <a:lstStyle/>
                    <a:p>
                      <a:pPr marL="0" indent="0" algn="ctr">
                        <a:buNone/>
                      </a:pPr>
                      <a:r>
                        <a:rPr lang="en-US" sz="1200" b="1" dirty="0">
                          <a:solidFill>
                            <a:srgbClr val="016B52"/>
                          </a:solidFill>
                        </a:rPr>
                        <a:t>Purpose-built</a:t>
                      </a:r>
                      <a:endParaRPr lang="en-US" sz="1200" dirty="0"/>
                    </a:p>
                  </a:txBody>
                  <a:tcPr marT="0" marB="0" anchor="ctr">
                    <a:lnL w="9525" cap="flat" cmpd="sng" algn="ctr">
                      <a:solidFill>
                        <a:srgbClr val="E3E8F0"/>
                      </a:solidFill>
                      <a:prstDash val="solid"/>
                      <a:round/>
                      <a:headEnd type="none" w="med" len="med"/>
                      <a:tailEnd type="none" w="med" len="med"/>
                    </a:lnL>
                    <a:lnR w="9525" cap="flat" cmpd="sng" algn="ctr">
                      <a:solidFill>
                        <a:srgbClr val="E3E8F0"/>
                      </a:solidFill>
                      <a:prstDash val="solid"/>
                      <a:round/>
                      <a:headEnd type="none" w="med" len="med"/>
                      <a:tailEnd type="none" w="med" len="med"/>
                    </a:lnR>
                    <a:lnT w="9525" cap="flat" cmpd="sng" algn="ctr">
                      <a:solidFill>
                        <a:srgbClr val="E3E8F0"/>
                      </a:solidFill>
                      <a:prstDash val="solid"/>
                      <a:round/>
                      <a:headEnd type="none" w="med" len="med"/>
                      <a:tailEnd type="none" w="med" len="med"/>
                    </a:lnT>
                    <a:lnB w="9525" cap="flat" cmpd="sng" algn="ctr">
                      <a:solidFill>
                        <a:srgbClr val="E3E8F0"/>
                      </a:solidFill>
                      <a:prstDash val="solid"/>
                      <a:round/>
                      <a:headEnd type="none" w="med" len="med"/>
                      <a:tailEnd type="none" w="med" len="med"/>
                    </a:lnB>
                    <a:solidFill>
                      <a:srgbClr val="E4F7F1"/>
                    </a:solidFill>
                  </a:tcPr>
                </a:tc>
                <a:extLst>
                  <a:ext uri="{0D108BD9-81ED-4DB2-BD59-A6C34878D82A}">
                    <a16:rowId xmlns:a16="http://schemas.microsoft.com/office/drawing/2014/main" val="10008"/>
                  </a:ext>
                </a:extLst>
              </a:tr>
            </a:tbl>
          </a:graphicData>
        </a:graphic>
      </p:graphicFrame>
      <p:sp>
        <p:nvSpPr>
          <p:cNvPr id="5" name="Text 2"/>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950" dirty="0">
                <a:solidFill>
                  <a:srgbClr val="8896AD"/>
                </a:solidFill>
                <a:latin typeface="Calibri" pitchFamily="34" charset="0"/>
                <a:ea typeface="Calibri" pitchFamily="34" charset="-122"/>
                <a:cs typeface="Calibri" pitchFamily="34" charset="-120"/>
              </a:rPr>
              <a:t>VPN vs Zero Trust Security</a:t>
            </a:r>
            <a:endParaRPr lang="en-US" sz="950" dirty="0"/>
          </a:p>
        </p:txBody>
      </p:sp>
      <p:sp>
        <p:nvSpPr>
          <p:cNvPr id="6" name="Text 3"/>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50" dirty="0">
                <a:solidFill>
                  <a:srgbClr val="8896AD"/>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10972800" y="411480"/>
            <a:ext cx="905256" cy="411480"/>
          </a:xfrm>
          <a:prstGeom prst="line">
            <a:avLst/>
          </a:prstGeom>
          <a:noFill/>
          <a:ln w="12700">
            <a:solidFill>
              <a:srgbClr val="3A4A8A">
                <a:alpha val="70000"/>
              </a:srgbClr>
            </a:solidFill>
            <a:prstDash val="solid"/>
          </a:ln>
        </p:spPr>
      </p:sp>
      <p:sp>
        <p:nvSpPr>
          <p:cNvPr id="3" name="Shape 1"/>
          <p:cNvSpPr/>
          <p:nvPr/>
        </p:nvSpPr>
        <p:spPr>
          <a:xfrm>
            <a:off x="11878056" y="411480"/>
            <a:ext cx="329184" cy="905256"/>
          </a:xfrm>
          <a:prstGeom prst="line">
            <a:avLst/>
          </a:prstGeom>
          <a:noFill/>
          <a:ln w="12700">
            <a:solidFill>
              <a:srgbClr val="3A4A8A">
                <a:alpha val="70000"/>
              </a:srgbClr>
            </a:solidFill>
            <a:prstDash val="solid"/>
          </a:ln>
        </p:spPr>
      </p:sp>
      <p:sp>
        <p:nvSpPr>
          <p:cNvPr id="4" name="Shape 2"/>
          <p:cNvSpPr/>
          <p:nvPr/>
        </p:nvSpPr>
        <p:spPr>
          <a:xfrm>
            <a:off x="11301984" y="1316736"/>
            <a:ext cx="905256" cy="411480"/>
          </a:xfrm>
          <a:prstGeom prst="line">
            <a:avLst/>
          </a:prstGeom>
          <a:noFill/>
          <a:ln w="12700">
            <a:solidFill>
              <a:srgbClr val="3A4A8A">
                <a:alpha val="70000"/>
              </a:srgbClr>
            </a:solidFill>
            <a:prstDash val="solid"/>
          </a:ln>
        </p:spPr>
      </p:sp>
      <p:sp>
        <p:nvSpPr>
          <p:cNvPr id="5" name="Shape 3"/>
          <p:cNvSpPr/>
          <p:nvPr/>
        </p:nvSpPr>
        <p:spPr>
          <a:xfrm>
            <a:off x="10232136" y="1234440"/>
            <a:ext cx="1069848" cy="493776"/>
          </a:xfrm>
          <a:prstGeom prst="line">
            <a:avLst/>
          </a:prstGeom>
          <a:noFill/>
          <a:ln w="12700">
            <a:solidFill>
              <a:srgbClr val="3A4A8A">
                <a:alpha val="70000"/>
              </a:srgbClr>
            </a:solidFill>
            <a:prstDash val="solid"/>
          </a:ln>
        </p:spPr>
      </p:sp>
      <p:sp>
        <p:nvSpPr>
          <p:cNvPr id="6" name="Shape 4"/>
          <p:cNvSpPr/>
          <p:nvPr/>
        </p:nvSpPr>
        <p:spPr>
          <a:xfrm>
            <a:off x="10232136" y="164592"/>
            <a:ext cx="329184" cy="1069848"/>
          </a:xfrm>
          <a:prstGeom prst="line">
            <a:avLst/>
          </a:prstGeom>
          <a:noFill/>
          <a:ln w="12700">
            <a:solidFill>
              <a:srgbClr val="3A4A8A">
                <a:alpha val="70000"/>
              </a:srgbClr>
            </a:solidFill>
            <a:prstDash val="solid"/>
          </a:ln>
        </p:spPr>
      </p:sp>
      <p:sp>
        <p:nvSpPr>
          <p:cNvPr id="7" name="Shape 5"/>
          <p:cNvSpPr/>
          <p:nvPr/>
        </p:nvSpPr>
        <p:spPr>
          <a:xfrm>
            <a:off x="10561320" y="164592"/>
            <a:ext cx="411480" cy="658368"/>
          </a:xfrm>
          <a:prstGeom prst="line">
            <a:avLst/>
          </a:prstGeom>
          <a:noFill/>
          <a:ln w="12700">
            <a:solidFill>
              <a:srgbClr val="3A4A8A">
                <a:alpha val="70000"/>
              </a:srgbClr>
            </a:solidFill>
            <a:prstDash val="solid"/>
          </a:ln>
        </p:spPr>
      </p:sp>
      <p:sp>
        <p:nvSpPr>
          <p:cNvPr id="8" name="Shape 6"/>
          <p:cNvSpPr/>
          <p:nvPr/>
        </p:nvSpPr>
        <p:spPr>
          <a:xfrm>
            <a:off x="10972800" y="822960"/>
            <a:ext cx="1234440" cy="493776"/>
          </a:xfrm>
          <a:prstGeom prst="line">
            <a:avLst/>
          </a:prstGeom>
          <a:noFill/>
          <a:ln w="12700">
            <a:solidFill>
              <a:srgbClr val="3A4A8A">
                <a:alpha val="70000"/>
              </a:srgbClr>
            </a:solidFill>
            <a:prstDash val="solid"/>
          </a:ln>
        </p:spPr>
      </p:sp>
      <p:sp>
        <p:nvSpPr>
          <p:cNvPr id="9" name="Shape 7"/>
          <p:cNvSpPr/>
          <p:nvPr/>
        </p:nvSpPr>
        <p:spPr>
          <a:xfrm>
            <a:off x="10561320" y="164592"/>
            <a:ext cx="740664" cy="1563624"/>
          </a:xfrm>
          <a:prstGeom prst="line">
            <a:avLst/>
          </a:prstGeom>
          <a:noFill/>
          <a:ln w="12700">
            <a:solidFill>
              <a:srgbClr val="3A4A8A">
                <a:alpha val="70000"/>
              </a:srgbClr>
            </a:solidFill>
            <a:prstDash val="solid"/>
          </a:ln>
        </p:spPr>
      </p:sp>
      <p:sp>
        <p:nvSpPr>
          <p:cNvPr id="10" name="Shape 8"/>
          <p:cNvSpPr/>
          <p:nvPr/>
        </p:nvSpPr>
        <p:spPr>
          <a:xfrm>
            <a:off x="10899648" y="749808"/>
            <a:ext cx="146304" cy="146304"/>
          </a:xfrm>
          <a:prstGeom prst="ellipse">
            <a:avLst/>
          </a:prstGeom>
          <a:solidFill>
            <a:srgbClr val="02C39A"/>
          </a:solidFill>
          <a:ln/>
        </p:spPr>
      </p:sp>
      <p:sp>
        <p:nvSpPr>
          <p:cNvPr id="11" name="Shape 9"/>
          <p:cNvSpPr/>
          <p:nvPr/>
        </p:nvSpPr>
        <p:spPr>
          <a:xfrm>
            <a:off x="11832336" y="365760"/>
            <a:ext cx="91440" cy="91440"/>
          </a:xfrm>
          <a:prstGeom prst="ellipse">
            <a:avLst/>
          </a:prstGeom>
          <a:solidFill>
            <a:srgbClr val="CADCFC">
              <a:alpha val="60000"/>
            </a:srgbClr>
          </a:solidFill>
          <a:ln/>
        </p:spPr>
      </p:sp>
      <p:sp>
        <p:nvSpPr>
          <p:cNvPr id="12" name="Shape 10"/>
          <p:cNvSpPr/>
          <p:nvPr/>
        </p:nvSpPr>
        <p:spPr>
          <a:xfrm>
            <a:off x="12161520" y="1271016"/>
            <a:ext cx="91440" cy="91440"/>
          </a:xfrm>
          <a:prstGeom prst="ellipse">
            <a:avLst/>
          </a:prstGeom>
          <a:solidFill>
            <a:srgbClr val="CADCFC">
              <a:alpha val="60000"/>
            </a:srgbClr>
          </a:solidFill>
          <a:ln/>
        </p:spPr>
      </p:sp>
      <p:sp>
        <p:nvSpPr>
          <p:cNvPr id="13" name="Shape 11"/>
          <p:cNvSpPr/>
          <p:nvPr/>
        </p:nvSpPr>
        <p:spPr>
          <a:xfrm>
            <a:off x="11256264" y="1682496"/>
            <a:ext cx="91440" cy="91440"/>
          </a:xfrm>
          <a:prstGeom prst="ellipse">
            <a:avLst/>
          </a:prstGeom>
          <a:solidFill>
            <a:srgbClr val="CADCFC">
              <a:alpha val="60000"/>
            </a:srgbClr>
          </a:solidFill>
          <a:ln/>
        </p:spPr>
      </p:sp>
      <p:sp>
        <p:nvSpPr>
          <p:cNvPr id="14" name="Shape 12"/>
          <p:cNvSpPr/>
          <p:nvPr/>
        </p:nvSpPr>
        <p:spPr>
          <a:xfrm>
            <a:off x="10186416" y="1188720"/>
            <a:ext cx="91440" cy="91440"/>
          </a:xfrm>
          <a:prstGeom prst="ellipse">
            <a:avLst/>
          </a:prstGeom>
          <a:solidFill>
            <a:srgbClr val="CADCFC">
              <a:alpha val="60000"/>
            </a:srgbClr>
          </a:solidFill>
          <a:ln/>
        </p:spPr>
      </p:sp>
      <p:sp>
        <p:nvSpPr>
          <p:cNvPr id="15" name="Shape 13"/>
          <p:cNvSpPr/>
          <p:nvPr/>
        </p:nvSpPr>
        <p:spPr>
          <a:xfrm>
            <a:off x="10515600" y="118872"/>
            <a:ext cx="91440" cy="91440"/>
          </a:xfrm>
          <a:prstGeom prst="ellipse">
            <a:avLst/>
          </a:prstGeom>
          <a:solidFill>
            <a:srgbClr val="CADCFC">
              <a:alpha val="60000"/>
            </a:srgbClr>
          </a:solidFill>
          <a:ln/>
        </p:spPr>
      </p:sp>
      <p:sp>
        <p:nvSpPr>
          <p:cNvPr id="16" name="Text 14"/>
          <p:cNvSpPr/>
          <p:nvPr/>
        </p:nvSpPr>
        <p:spPr>
          <a:xfrm>
            <a:off x="457200" y="457200"/>
            <a:ext cx="11277295"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Key Takeaways</a:t>
            </a:r>
            <a:endParaRPr lang="en-US" sz="3000" dirty="0"/>
          </a:p>
        </p:txBody>
      </p:sp>
      <p:sp>
        <p:nvSpPr>
          <p:cNvPr id="17" name="Shape 15"/>
          <p:cNvSpPr/>
          <p:nvPr/>
        </p:nvSpPr>
        <p:spPr>
          <a:xfrm>
            <a:off x="457200" y="1371600"/>
            <a:ext cx="384048" cy="384048"/>
          </a:xfrm>
          <a:prstGeom prst="ellipse">
            <a:avLst/>
          </a:prstGeom>
          <a:solidFill>
            <a:srgbClr val="02C39A"/>
          </a:solidFill>
          <a:ln/>
        </p:spPr>
      </p:sp>
      <p:pic>
        <p:nvPicPr>
          <p:cNvPr id="18" name="Image 0" descr="/home/claude/icons/check_navy.png"/>
          <p:cNvPicPr>
            <a:picLocks noChangeAspect="1"/>
          </p:cNvPicPr>
          <p:nvPr/>
        </p:nvPicPr>
        <p:blipFill>
          <a:blip r:embed="rId3"/>
          <a:stretch>
            <a:fillRect/>
          </a:stretch>
        </p:blipFill>
        <p:spPr>
          <a:xfrm>
            <a:off x="534010" y="1448410"/>
            <a:ext cx="230429" cy="230429"/>
          </a:xfrm>
          <a:prstGeom prst="rect">
            <a:avLst/>
          </a:prstGeom>
        </p:spPr>
      </p:pic>
      <p:sp>
        <p:nvSpPr>
          <p:cNvPr id="19" name="Text 16"/>
          <p:cNvSpPr/>
          <p:nvPr/>
        </p:nvSpPr>
        <p:spPr>
          <a:xfrm>
            <a:off x="1024128" y="1325880"/>
            <a:ext cx="10710367"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VPN secures network access</a:t>
            </a:r>
            <a:endParaRPr lang="en-US" sz="1500" dirty="0"/>
          </a:p>
        </p:txBody>
      </p:sp>
      <p:sp>
        <p:nvSpPr>
          <p:cNvPr id="20" name="Shape 17"/>
          <p:cNvSpPr/>
          <p:nvPr/>
        </p:nvSpPr>
        <p:spPr>
          <a:xfrm>
            <a:off x="457200" y="1993392"/>
            <a:ext cx="384048" cy="384048"/>
          </a:xfrm>
          <a:prstGeom prst="ellipse">
            <a:avLst/>
          </a:prstGeom>
          <a:solidFill>
            <a:srgbClr val="02C39A"/>
          </a:solidFill>
          <a:ln/>
        </p:spPr>
      </p:sp>
      <p:pic>
        <p:nvPicPr>
          <p:cNvPr id="21" name="Image 1" descr="/home/claude/icons/check_navy.png"/>
          <p:cNvPicPr>
            <a:picLocks noChangeAspect="1"/>
          </p:cNvPicPr>
          <p:nvPr/>
        </p:nvPicPr>
        <p:blipFill>
          <a:blip r:embed="rId3"/>
          <a:stretch>
            <a:fillRect/>
          </a:stretch>
        </p:blipFill>
        <p:spPr>
          <a:xfrm>
            <a:off x="534010" y="2070202"/>
            <a:ext cx="230429" cy="230429"/>
          </a:xfrm>
          <a:prstGeom prst="rect">
            <a:avLst/>
          </a:prstGeom>
        </p:spPr>
      </p:pic>
      <p:sp>
        <p:nvSpPr>
          <p:cNvPr id="22" name="Text 18"/>
          <p:cNvSpPr/>
          <p:nvPr/>
        </p:nvSpPr>
        <p:spPr>
          <a:xfrm>
            <a:off x="1024128" y="1947672"/>
            <a:ext cx="10710367"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Zero Trust secures identity and application access</a:t>
            </a:r>
            <a:endParaRPr lang="en-US" sz="1500" dirty="0"/>
          </a:p>
        </p:txBody>
      </p:sp>
      <p:sp>
        <p:nvSpPr>
          <p:cNvPr id="23" name="Shape 19"/>
          <p:cNvSpPr/>
          <p:nvPr/>
        </p:nvSpPr>
        <p:spPr>
          <a:xfrm>
            <a:off x="457200" y="2615184"/>
            <a:ext cx="384048" cy="384048"/>
          </a:xfrm>
          <a:prstGeom prst="ellipse">
            <a:avLst/>
          </a:prstGeom>
          <a:solidFill>
            <a:srgbClr val="02C39A"/>
          </a:solidFill>
          <a:ln/>
        </p:spPr>
      </p:sp>
      <p:pic>
        <p:nvPicPr>
          <p:cNvPr id="24" name="Image 2" descr="/home/claude/icons/check_navy.png"/>
          <p:cNvPicPr>
            <a:picLocks noChangeAspect="1"/>
          </p:cNvPicPr>
          <p:nvPr/>
        </p:nvPicPr>
        <p:blipFill>
          <a:blip r:embed="rId3"/>
          <a:stretch>
            <a:fillRect/>
          </a:stretch>
        </p:blipFill>
        <p:spPr>
          <a:xfrm>
            <a:off x="534010" y="2691994"/>
            <a:ext cx="230429" cy="230429"/>
          </a:xfrm>
          <a:prstGeom prst="rect">
            <a:avLst/>
          </a:prstGeom>
        </p:spPr>
      </p:pic>
      <p:sp>
        <p:nvSpPr>
          <p:cNvPr id="25" name="Text 20"/>
          <p:cNvSpPr/>
          <p:nvPr/>
        </p:nvSpPr>
        <p:spPr>
          <a:xfrm>
            <a:off x="1024128" y="2569464"/>
            <a:ext cx="10710367"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Zero Trust reduces the overall attack surface</a:t>
            </a:r>
            <a:endParaRPr lang="en-US" sz="1500" dirty="0"/>
          </a:p>
        </p:txBody>
      </p:sp>
      <p:sp>
        <p:nvSpPr>
          <p:cNvPr id="26" name="Shape 21"/>
          <p:cNvSpPr/>
          <p:nvPr/>
        </p:nvSpPr>
        <p:spPr>
          <a:xfrm>
            <a:off x="457200" y="3236976"/>
            <a:ext cx="384048" cy="384048"/>
          </a:xfrm>
          <a:prstGeom prst="ellipse">
            <a:avLst/>
          </a:prstGeom>
          <a:solidFill>
            <a:srgbClr val="02C39A"/>
          </a:solidFill>
          <a:ln/>
        </p:spPr>
      </p:sp>
      <p:pic>
        <p:nvPicPr>
          <p:cNvPr id="27" name="Image 3" descr="/home/claude/icons/check_navy.png"/>
          <p:cNvPicPr>
            <a:picLocks noChangeAspect="1"/>
          </p:cNvPicPr>
          <p:nvPr/>
        </p:nvPicPr>
        <p:blipFill>
          <a:blip r:embed="rId3"/>
          <a:stretch>
            <a:fillRect/>
          </a:stretch>
        </p:blipFill>
        <p:spPr>
          <a:xfrm>
            <a:off x="534010" y="3313786"/>
            <a:ext cx="230429" cy="230429"/>
          </a:xfrm>
          <a:prstGeom prst="rect">
            <a:avLst/>
          </a:prstGeom>
        </p:spPr>
      </p:pic>
      <p:sp>
        <p:nvSpPr>
          <p:cNvPr id="28" name="Text 22"/>
          <p:cNvSpPr/>
          <p:nvPr/>
        </p:nvSpPr>
        <p:spPr>
          <a:xfrm>
            <a:off x="1024128" y="3191256"/>
            <a:ext cx="10710367"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Zero Trust better supports cloud services and remote work</a:t>
            </a:r>
            <a:endParaRPr lang="en-US" sz="1500" dirty="0"/>
          </a:p>
        </p:txBody>
      </p:sp>
      <p:sp>
        <p:nvSpPr>
          <p:cNvPr id="29" name="Text 23"/>
          <p:cNvSpPr/>
          <p:nvPr/>
        </p:nvSpPr>
        <p:spPr>
          <a:xfrm>
            <a:off x="457200" y="3977640"/>
            <a:ext cx="11277295" cy="32004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The Question Each Model Asks</a:t>
            </a:r>
            <a:endParaRPr lang="en-US" sz="1400" dirty="0"/>
          </a:p>
        </p:txBody>
      </p:sp>
      <p:sp>
        <p:nvSpPr>
          <p:cNvPr id="30" name="Shape 24"/>
          <p:cNvSpPr/>
          <p:nvPr/>
        </p:nvSpPr>
        <p:spPr>
          <a:xfrm>
            <a:off x="457200" y="4389120"/>
            <a:ext cx="5410048" cy="1371600"/>
          </a:xfrm>
          <a:prstGeom prst="roundRect">
            <a:avLst>
              <a:gd name="adj" fmla="val 8000"/>
            </a:avLst>
          </a:prstGeom>
          <a:solidFill>
            <a:srgbClr val="232B5C"/>
          </a:solidFill>
          <a:ln/>
        </p:spPr>
      </p:sp>
      <p:sp>
        <p:nvSpPr>
          <p:cNvPr id="31" name="Shape 25"/>
          <p:cNvSpPr/>
          <p:nvPr/>
        </p:nvSpPr>
        <p:spPr>
          <a:xfrm>
            <a:off x="731520" y="4663440"/>
            <a:ext cx="502920" cy="502920"/>
          </a:xfrm>
          <a:prstGeom prst="ellipse">
            <a:avLst/>
          </a:prstGeom>
          <a:solidFill>
            <a:srgbClr val="CADCFC"/>
          </a:solidFill>
          <a:ln/>
        </p:spPr>
      </p:sp>
      <p:pic>
        <p:nvPicPr>
          <p:cNvPr id="32" name="Image 4" descr="/home/claude/icons/network_navy.png"/>
          <p:cNvPicPr>
            <a:picLocks noChangeAspect="1"/>
          </p:cNvPicPr>
          <p:nvPr/>
        </p:nvPicPr>
        <p:blipFill>
          <a:blip r:embed="rId4"/>
          <a:stretch>
            <a:fillRect/>
          </a:stretch>
        </p:blipFill>
        <p:spPr>
          <a:xfrm>
            <a:off x="844677" y="4776597"/>
            <a:ext cx="276606" cy="276606"/>
          </a:xfrm>
          <a:prstGeom prst="rect">
            <a:avLst/>
          </a:prstGeom>
        </p:spPr>
      </p:pic>
      <p:sp>
        <p:nvSpPr>
          <p:cNvPr id="33" name="Text 26"/>
          <p:cNvSpPr/>
          <p:nvPr/>
        </p:nvSpPr>
        <p:spPr>
          <a:xfrm>
            <a:off x="1371600" y="4645152"/>
            <a:ext cx="4221328" cy="274320"/>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VPN</a:t>
            </a:r>
            <a:endParaRPr lang="en-US" sz="1300" dirty="0"/>
          </a:p>
        </p:txBody>
      </p:sp>
      <p:sp>
        <p:nvSpPr>
          <p:cNvPr id="34" name="Text 27"/>
          <p:cNvSpPr/>
          <p:nvPr/>
        </p:nvSpPr>
        <p:spPr>
          <a:xfrm>
            <a:off x="731520" y="5166360"/>
            <a:ext cx="4861408" cy="502920"/>
          </a:xfrm>
          <a:prstGeom prst="rect">
            <a:avLst/>
          </a:prstGeom>
          <a:noFill/>
          <a:ln/>
        </p:spPr>
        <p:txBody>
          <a:bodyPr wrap="square" lIns="0" tIns="0" rIns="0" bIns="0" rtlCol="0" anchor="ctr"/>
          <a:lstStyle/>
          <a:p>
            <a:pPr marL="0" indent="0">
              <a:buNone/>
            </a:pPr>
            <a:r>
              <a:rPr lang="en-US" sz="1500" i="1" dirty="0">
                <a:solidFill>
                  <a:srgbClr val="FFFFFF"/>
                </a:solidFill>
                <a:latin typeface="Cambria" pitchFamily="34" charset="0"/>
                <a:ea typeface="Cambria" pitchFamily="34" charset="-122"/>
                <a:cs typeface="Cambria" pitchFamily="34" charset="-120"/>
              </a:rPr>
              <a:t>"Are you inside the network?"</a:t>
            </a:r>
            <a:endParaRPr lang="en-US" sz="1500" dirty="0"/>
          </a:p>
        </p:txBody>
      </p:sp>
      <p:sp>
        <p:nvSpPr>
          <p:cNvPr id="35" name="Shape 28"/>
          <p:cNvSpPr/>
          <p:nvPr/>
        </p:nvSpPr>
        <p:spPr>
          <a:xfrm>
            <a:off x="6324448" y="4389120"/>
            <a:ext cx="5410048" cy="1371600"/>
          </a:xfrm>
          <a:prstGeom prst="roundRect">
            <a:avLst>
              <a:gd name="adj" fmla="val 8000"/>
            </a:avLst>
          </a:prstGeom>
          <a:solidFill>
            <a:srgbClr val="02C39A"/>
          </a:solidFill>
          <a:ln/>
        </p:spPr>
      </p:sp>
      <p:sp>
        <p:nvSpPr>
          <p:cNvPr id="36" name="Shape 29"/>
          <p:cNvSpPr/>
          <p:nvPr/>
        </p:nvSpPr>
        <p:spPr>
          <a:xfrm>
            <a:off x="6598768" y="4663440"/>
            <a:ext cx="502920" cy="502920"/>
          </a:xfrm>
          <a:prstGeom prst="ellipse">
            <a:avLst/>
          </a:prstGeom>
          <a:solidFill>
            <a:srgbClr val="141A47"/>
          </a:solidFill>
          <a:ln/>
        </p:spPr>
      </p:sp>
      <p:pic>
        <p:nvPicPr>
          <p:cNvPr id="37" name="Image 5" descr="/home/claude/icons/usershield_mint.png"/>
          <p:cNvPicPr>
            <a:picLocks noChangeAspect="1"/>
          </p:cNvPicPr>
          <p:nvPr/>
        </p:nvPicPr>
        <p:blipFill>
          <a:blip r:embed="rId5"/>
          <a:stretch>
            <a:fillRect/>
          </a:stretch>
        </p:blipFill>
        <p:spPr>
          <a:xfrm>
            <a:off x="6711925" y="4776597"/>
            <a:ext cx="276606" cy="276606"/>
          </a:xfrm>
          <a:prstGeom prst="rect">
            <a:avLst/>
          </a:prstGeom>
        </p:spPr>
      </p:pic>
      <p:sp>
        <p:nvSpPr>
          <p:cNvPr id="38" name="Text 30"/>
          <p:cNvSpPr/>
          <p:nvPr/>
        </p:nvSpPr>
        <p:spPr>
          <a:xfrm>
            <a:off x="7238848" y="4645152"/>
            <a:ext cx="4221328" cy="274320"/>
          </a:xfrm>
          <a:prstGeom prst="rect">
            <a:avLst/>
          </a:prstGeom>
          <a:noFill/>
          <a:ln/>
        </p:spPr>
        <p:txBody>
          <a:bodyPr wrap="square" lIns="0" tIns="0" rIns="0" bIns="0" rtlCol="0" anchor="ctr"/>
          <a:lstStyle/>
          <a:p>
            <a:pPr marL="0" indent="0">
              <a:buNone/>
            </a:pPr>
            <a:r>
              <a:rPr lang="en-US" sz="1300" b="1" dirty="0">
                <a:solidFill>
                  <a:srgbClr val="141A47"/>
                </a:solidFill>
                <a:latin typeface="Calibri" pitchFamily="34" charset="0"/>
                <a:ea typeface="Calibri" pitchFamily="34" charset="-122"/>
                <a:cs typeface="Calibri" pitchFamily="34" charset="-120"/>
              </a:rPr>
              <a:t>Zero Trust</a:t>
            </a:r>
            <a:endParaRPr lang="en-US" sz="1300" dirty="0"/>
          </a:p>
        </p:txBody>
      </p:sp>
      <p:sp>
        <p:nvSpPr>
          <p:cNvPr id="39" name="Text 31"/>
          <p:cNvSpPr/>
          <p:nvPr/>
        </p:nvSpPr>
        <p:spPr>
          <a:xfrm>
            <a:off x="6598768" y="5148072"/>
            <a:ext cx="4861408" cy="548640"/>
          </a:xfrm>
          <a:prstGeom prst="rect">
            <a:avLst/>
          </a:prstGeom>
          <a:noFill/>
          <a:ln/>
        </p:spPr>
        <p:txBody>
          <a:bodyPr wrap="square" lIns="0" tIns="0" rIns="0" bIns="0" rtlCol="0" anchor="ctr"/>
          <a:lstStyle/>
          <a:p>
            <a:pPr marL="0" indent="0">
              <a:buNone/>
            </a:pPr>
            <a:r>
              <a:rPr lang="en-US" sz="1450" i="1" dirty="0">
                <a:solidFill>
                  <a:srgbClr val="141A47"/>
                </a:solidFill>
                <a:latin typeface="Cambria" pitchFamily="34" charset="0"/>
                <a:ea typeface="Cambria" pitchFamily="34" charset="-122"/>
                <a:cs typeface="Cambria" pitchFamily="34" charset="-120"/>
              </a:rPr>
              <a:t>"Who are you, and should you access this application?"</a:t>
            </a:r>
            <a:endParaRPr lang="en-US" sz="1450" dirty="0"/>
          </a:p>
        </p:txBody>
      </p:sp>
      <p:sp>
        <p:nvSpPr>
          <p:cNvPr id="40" name="Shape 32"/>
          <p:cNvSpPr/>
          <p:nvPr/>
        </p:nvSpPr>
        <p:spPr>
          <a:xfrm>
            <a:off x="5181448" y="6172200"/>
            <a:ext cx="1828800" cy="0"/>
          </a:xfrm>
          <a:prstGeom prst="line">
            <a:avLst/>
          </a:prstGeom>
          <a:noFill/>
          <a:ln w="12700">
            <a:solidFill>
              <a:srgbClr val="3A4A8A"/>
            </a:solidFill>
            <a:prstDash val="solid"/>
          </a:ln>
        </p:spPr>
      </p:sp>
      <p:sp>
        <p:nvSpPr>
          <p:cNvPr id="41" name="Text 33"/>
          <p:cNvSpPr/>
          <p:nvPr/>
        </p:nvSpPr>
        <p:spPr>
          <a:xfrm>
            <a:off x="457200" y="6263640"/>
            <a:ext cx="11277295" cy="411480"/>
          </a:xfrm>
          <a:prstGeom prst="rect">
            <a:avLst/>
          </a:prstGeom>
          <a:noFill/>
          <a:ln/>
        </p:spPr>
        <p:txBody>
          <a:bodyPr wrap="square" lIns="0" tIns="0" rIns="0" bIns="0" rtlCol="0" anchor="ctr"/>
          <a:lstStyle/>
          <a:p>
            <a:pPr marL="0" indent="0" algn="ctr">
              <a:buNone/>
            </a:pPr>
            <a:r>
              <a:rPr lang="en-US" sz="2000" b="1" dirty="0">
                <a:solidFill>
                  <a:srgbClr val="02C39A"/>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1837</Words>
  <Application>Microsoft Office PowerPoint</Application>
  <PresentationFormat>Widescreen</PresentationFormat>
  <Paragraphs>150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Jyotirmayee Dash</cp:lastModifiedBy>
  <cp:revision>2</cp:revision>
  <dcterms:created xsi:type="dcterms:W3CDTF">2026-08-03T07:54:14Z</dcterms:created>
  <dcterms:modified xsi:type="dcterms:W3CDTF">2026-08-03T08:25:15Z</dcterms:modified>
</cp:coreProperties>
</file>