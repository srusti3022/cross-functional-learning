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313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topic: a Root Cause Analysis of the recent InstaSafe Portal login incident. Mention this is an internship lab assignment, state your name and today's date, and briefly preview the agenda: problem impact, 5 Whys analysis, root cause, resolution, and preventive actions. Keep this intro under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plainly: users could not log in to the InstaSafe Portal. Then walk through the business impact — blocked access, lost productivity, a spike in support tickets, and growing user dissatisfaction. The right-hand panel visually summarizes who and what was affected. Keep this to about 45-60 seconds and transition into how the team investigated the issue.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down the 5 Whys chain one box at a time: users can’t log in, because authentication requests fail, because credentials can’t be validated, because the auth service can’t reach the database, because the connection pool is exhausted — and that exhaustion traces to a connection leak introduced by a recent deployment. Emphasize that each "why" is evidence-based, not assumed. Land on the conclusion panel: the root cause is a database connection leak after deployment.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fishbone diagram summarizes the technical root cause alongside the contributing factors that allowed it to escalate: insufficient monitoring meant the leak wasn’t caught early, testing gaps let it reach production, there was no automatic rollback to undo the bad deployment quickly, and detection was delayed. Emphasize that the root cause and contributing factors together explain both what broke and why it took time to catch.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response timeline left to right: the team investigated logs, identified the connection leak, restarted services for immediate relief, fixed the underlying code, deployed the patch, and verified logins were working again. Emphasize the combination of a quick mitigation (service restart) followed by a permanent fix (code patch and redeploy). End on the outcome: login functionality was fully restored.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preventive roadmap: connection monitoring, real-time alerts, stronger QA and regression testing, regular load testing, automated rollback, and tighter code review. Point to the Plan-Do-Check-Act cycle as the operating model for continuous improvement going forward. Summarize the conclusion: the outage traced to a database connection leak from a deployment, and these controls reduce the chance of a repeat. 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26.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7"/>
        </a:solidFill>
        <a:effectLst/>
      </p:bgPr>
    </p:bg>
    <p:spTree>
      <p:nvGrpSpPr>
        <p:cNvPr id="1" name=""/>
        <p:cNvGrpSpPr/>
        <p:nvPr/>
      </p:nvGrpSpPr>
      <p:grpSpPr>
        <a:xfrm>
          <a:off x="0" y="0"/>
          <a:ext cx="0" cy="0"/>
          <a:chOff x="0" y="0"/>
          <a:chExt cx="0" cy="0"/>
        </a:xfrm>
      </p:grpSpPr>
      <p:sp>
        <p:nvSpPr>
          <p:cNvPr id="2" name="Shape 0"/>
          <p:cNvSpPr/>
          <p:nvPr/>
        </p:nvSpPr>
        <p:spPr>
          <a:xfrm>
            <a:off x="8778240" y="3291840"/>
            <a:ext cx="4754880" cy="4754880"/>
          </a:xfrm>
          <a:prstGeom prst="ellipse">
            <a:avLst/>
          </a:prstGeom>
          <a:solidFill>
            <a:srgbClr val="1E2761"/>
          </a:solidFill>
          <a:ln/>
        </p:spPr>
      </p:sp>
      <p:sp>
        <p:nvSpPr>
          <p:cNvPr id="3" name="Shape 1"/>
          <p:cNvSpPr/>
          <p:nvPr/>
        </p:nvSpPr>
        <p:spPr>
          <a:xfrm>
            <a:off x="9464040" y="3977640"/>
            <a:ext cx="3383280" cy="3383280"/>
          </a:xfrm>
          <a:prstGeom prst="ellipse">
            <a:avLst/>
          </a:prstGeom>
          <a:solidFill>
            <a:srgbClr val="3B5BA5"/>
          </a:solidFill>
          <a:ln/>
        </p:spPr>
      </p:sp>
      <p:sp>
        <p:nvSpPr>
          <p:cNvPr id="4" name="Shape 2"/>
          <p:cNvSpPr/>
          <p:nvPr/>
        </p:nvSpPr>
        <p:spPr>
          <a:xfrm>
            <a:off x="10241280" y="4754880"/>
            <a:ext cx="1828800" cy="1828800"/>
          </a:xfrm>
          <a:prstGeom prst="ellipse">
            <a:avLst/>
          </a:prstGeom>
          <a:solidFill>
            <a:srgbClr val="CADCFC"/>
          </a:solidFill>
          <a:ln/>
        </p:spPr>
      </p:sp>
      <p:sp>
        <p:nvSpPr>
          <p:cNvPr id="5" name="Shape 3"/>
          <p:cNvSpPr/>
          <p:nvPr/>
        </p:nvSpPr>
        <p:spPr>
          <a:xfrm>
            <a:off x="10561320" y="5074920"/>
            <a:ext cx="1188720" cy="1188720"/>
          </a:xfrm>
          <a:prstGeom prst="ellipse">
            <a:avLst/>
          </a:prstGeom>
          <a:solidFill>
            <a:srgbClr val="141A47"/>
          </a:solidFill>
          <a:ln/>
        </p:spPr>
      </p:sp>
      <p:pic>
        <p:nvPicPr>
          <p:cNvPr id="6" name="Image 0" descr="/home/claude/rca_pptx/icons/lock_white.png"/>
          <p:cNvPicPr>
            <a:picLocks noChangeAspect="1"/>
          </p:cNvPicPr>
          <p:nvPr/>
        </p:nvPicPr>
        <p:blipFill>
          <a:blip r:embed="rId3"/>
          <a:stretch>
            <a:fillRect/>
          </a:stretch>
        </p:blipFill>
        <p:spPr>
          <a:xfrm>
            <a:off x="10858500" y="5372100"/>
            <a:ext cx="594360" cy="594360"/>
          </a:xfrm>
          <a:prstGeom prst="rect">
            <a:avLst/>
          </a:prstGeom>
        </p:spPr>
      </p:pic>
      <p:sp>
        <p:nvSpPr>
          <p:cNvPr id="7" name="Text 4"/>
          <p:cNvSpPr/>
          <p:nvPr/>
        </p:nvSpPr>
        <p:spPr>
          <a:xfrm>
            <a:off x="822960" y="1965960"/>
            <a:ext cx="9601200" cy="457200"/>
          </a:xfrm>
          <a:prstGeom prst="rect">
            <a:avLst/>
          </a:prstGeom>
          <a:noFill/>
          <a:ln/>
        </p:spPr>
        <p:txBody>
          <a:bodyPr wrap="square" lIns="0" tIns="0" rIns="0" bIns="0" rtlCol="0" anchor="ctr"/>
          <a:lstStyle/>
          <a:p>
            <a:pPr marL="0" indent="0" algn="l">
              <a:buNone/>
            </a:pPr>
            <a:r>
              <a:rPr lang="en-US" sz="1600" b="1" kern="0" spc="300" dirty="0">
                <a:solidFill>
                  <a:srgbClr val="CADCFC"/>
                </a:solidFill>
                <a:latin typeface="Calibri" pitchFamily="34" charset="0"/>
                <a:ea typeface="Calibri" pitchFamily="34" charset="-122"/>
                <a:cs typeface="Calibri" pitchFamily="34" charset="-120"/>
              </a:rPr>
              <a:t>ROOT CAUSE ANALYSIS</a:t>
            </a:r>
            <a:endParaRPr lang="en-US" sz="1600" dirty="0"/>
          </a:p>
        </p:txBody>
      </p:sp>
      <p:sp>
        <p:nvSpPr>
          <p:cNvPr id="8" name="Text 5"/>
          <p:cNvSpPr/>
          <p:nvPr/>
        </p:nvSpPr>
        <p:spPr>
          <a:xfrm>
            <a:off x="777240" y="2377440"/>
            <a:ext cx="9875520" cy="118872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InstaSafe Login Failure</a:t>
            </a:r>
            <a:endParaRPr lang="en-US" sz="4400" dirty="0"/>
          </a:p>
        </p:txBody>
      </p:sp>
      <p:sp>
        <p:nvSpPr>
          <p:cNvPr id="9" name="Shape 6"/>
          <p:cNvSpPr/>
          <p:nvPr/>
        </p:nvSpPr>
        <p:spPr>
          <a:xfrm>
            <a:off x="822960" y="3611880"/>
            <a:ext cx="2743200" cy="0"/>
          </a:xfrm>
          <a:prstGeom prst="line">
            <a:avLst/>
          </a:prstGeom>
          <a:noFill/>
          <a:ln w="28575">
            <a:solidFill>
              <a:srgbClr val="3B5BA5"/>
            </a:solidFill>
            <a:prstDash val="solid"/>
          </a:ln>
        </p:spPr>
      </p:sp>
      <p:sp>
        <p:nvSpPr>
          <p:cNvPr id="10" name="Text 7"/>
          <p:cNvSpPr/>
          <p:nvPr/>
        </p:nvSpPr>
        <p:spPr>
          <a:xfrm>
            <a:off x="822960" y="3886200"/>
            <a:ext cx="8046720" cy="1737360"/>
          </a:xfrm>
          <a:prstGeom prst="rect">
            <a:avLst/>
          </a:prstGeom>
          <a:noFill/>
          <a:ln/>
        </p:spPr>
        <p:txBody>
          <a:bodyPr wrap="square" lIns="0" tIns="0" rIns="0" bIns="0" rtlCol="0" anchor="ctr"/>
          <a:lstStyle/>
          <a:p>
            <a:pPr marL="342900" indent="-342900" algn="l">
              <a:lnSpc>
                <a:spcPct val="110000"/>
              </a:lnSpc>
              <a:spcAft>
                <a:spcPts val="1000"/>
              </a:spcAft>
              <a:buSzPct val="100000"/>
              <a:buChar char="●"/>
            </a:pPr>
            <a:r>
              <a:rPr lang="en-US" sz="1500" dirty="0">
                <a:solidFill>
                  <a:srgbClr val="CADCFC"/>
                </a:solidFill>
                <a:latin typeface="Calibri" pitchFamily="34" charset="0"/>
                <a:ea typeface="Calibri" pitchFamily="34" charset="-122"/>
                <a:cs typeface="Calibri" pitchFamily="34" charset="-120"/>
              </a:rPr>
              <a:t>Incident: Users Unable to Login to InstaSafe Portal</a:t>
            </a:r>
            <a:endParaRPr lang="en-US" sz="1500" dirty="0"/>
          </a:p>
          <a:p>
            <a:pPr marL="342900" indent="-342900" algn="l">
              <a:lnSpc>
                <a:spcPct val="110000"/>
              </a:lnSpc>
              <a:spcAft>
                <a:spcPts val="1000"/>
              </a:spcAft>
              <a:buSzPct val="100000"/>
              <a:buChar char="●"/>
            </a:pPr>
            <a:r>
              <a:rPr lang="en-US" sz="1500" dirty="0">
                <a:solidFill>
                  <a:srgbClr val="CADCFC"/>
                </a:solidFill>
                <a:latin typeface="Calibri" pitchFamily="34" charset="0"/>
                <a:ea typeface="Calibri" pitchFamily="34" charset="-122"/>
                <a:cs typeface="Calibri" pitchFamily="34" charset="-120"/>
              </a:rPr>
              <a:t>Internship Lab Assignment</a:t>
            </a:r>
            <a:endParaRPr lang="en-US" sz="1500" dirty="0"/>
          </a:p>
          <a:p>
            <a:pPr marL="342900" indent="-342900" algn="l">
              <a:lnSpc>
                <a:spcPct val="110000"/>
              </a:lnSpc>
              <a:spcAft>
                <a:spcPts val="1000"/>
              </a:spcAft>
              <a:buSzPct val="100000"/>
              <a:buChar char="●"/>
            </a:pPr>
            <a:r>
              <a:rPr lang="en-US" sz="1500" dirty="0">
                <a:solidFill>
                  <a:srgbClr val="CADCFC"/>
                </a:solidFill>
                <a:latin typeface="Calibri" pitchFamily="34" charset="0"/>
                <a:ea typeface="Calibri" pitchFamily="34" charset="-122"/>
                <a:cs typeface="Calibri" pitchFamily="34" charset="-120"/>
              </a:rPr>
              <a:t>Presenter: [Srustimayee Dash]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54864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Problem Statement &amp; Impact</a:t>
            </a:r>
            <a:endParaRPr lang="en-US" sz="3000" dirty="0"/>
          </a:p>
        </p:txBody>
      </p:sp>
      <p:sp>
        <p:nvSpPr>
          <p:cNvPr id="3" name="Text 1"/>
          <p:cNvSpPr/>
          <p:nvPr/>
        </p:nvSpPr>
        <p:spPr>
          <a:xfrm>
            <a:off x="548640" y="932688"/>
            <a:ext cx="9601200" cy="320040"/>
          </a:xfrm>
          <a:prstGeom prst="rect">
            <a:avLst/>
          </a:prstGeom>
          <a:noFill/>
          <a:ln/>
        </p:spPr>
        <p:txBody>
          <a:bodyPr wrap="square" lIns="0" tIns="0" rIns="0" bIns="0" rtlCol="0" anchor="ctr"/>
          <a:lstStyle/>
          <a:p>
            <a:pPr marL="0" indent="0">
              <a:buNone/>
            </a:pPr>
            <a:r>
              <a:rPr lang="en-US" sz="1300" i="1" dirty="0">
                <a:solidFill>
                  <a:srgbClr val="3B5BA5"/>
                </a:solidFill>
                <a:latin typeface="Calibri" pitchFamily="34" charset="0"/>
                <a:ea typeface="Calibri" pitchFamily="34" charset="-122"/>
                <a:cs typeface="Calibri" pitchFamily="34" charset="-120"/>
              </a:rPr>
              <a:t>What happened, and who felt it</a:t>
            </a:r>
            <a:endParaRPr lang="en-US" sz="1300" dirty="0"/>
          </a:p>
        </p:txBody>
      </p:sp>
      <p:sp>
        <p:nvSpPr>
          <p:cNvPr id="4" name="Shape 2"/>
          <p:cNvSpPr/>
          <p:nvPr/>
        </p:nvSpPr>
        <p:spPr>
          <a:xfrm>
            <a:off x="548640" y="1463040"/>
            <a:ext cx="5074920" cy="1417320"/>
          </a:xfrm>
          <a:prstGeom prst="roundRect">
            <a:avLst>
              <a:gd name="adj" fmla="val 5161"/>
            </a:avLst>
          </a:prstGeom>
          <a:solidFill>
            <a:srgbClr val="EAF1FC"/>
          </a:solidFill>
          <a:ln/>
          <a:effectLst>
            <a:outerShdw blurRad="76200" dist="25400" dir="5400000" algn="bl" rotWithShape="0">
              <a:srgbClr val="1E2761">
                <a:alpha val="12000"/>
              </a:srgbClr>
            </a:outerShdw>
          </a:effectLst>
        </p:spPr>
      </p:sp>
      <p:sp>
        <p:nvSpPr>
          <p:cNvPr id="5" name="Shape 3"/>
          <p:cNvSpPr/>
          <p:nvPr/>
        </p:nvSpPr>
        <p:spPr>
          <a:xfrm>
            <a:off x="777240" y="1691640"/>
            <a:ext cx="548640" cy="548640"/>
          </a:xfrm>
          <a:prstGeom prst="ellipse">
            <a:avLst/>
          </a:prstGeom>
          <a:solidFill>
            <a:srgbClr val="1E2761"/>
          </a:solidFill>
          <a:ln/>
        </p:spPr>
      </p:sp>
      <p:pic>
        <p:nvPicPr>
          <p:cNvPr id="6" name="Image 0" descr="/home/claude/rca_pptx/icons/fingerprint.png"/>
          <p:cNvPicPr>
            <a:picLocks noChangeAspect="1"/>
          </p:cNvPicPr>
          <p:nvPr/>
        </p:nvPicPr>
        <p:blipFill>
          <a:blip r:embed="rId3"/>
          <a:stretch>
            <a:fillRect/>
          </a:stretch>
        </p:blipFill>
        <p:spPr>
          <a:xfrm>
            <a:off x="897941" y="1812341"/>
            <a:ext cx="307238" cy="307238"/>
          </a:xfrm>
          <a:prstGeom prst="rect">
            <a:avLst/>
          </a:prstGeom>
        </p:spPr>
      </p:pic>
      <p:sp>
        <p:nvSpPr>
          <p:cNvPr id="7" name="Text 4"/>
          <p:cNvSpPr/>
          <p:nvPr/>
        </p:nvSpPr>
        <p:spPr>
          <a:xfrm>
            <a:off x="1508760" y="1627632"/>
            <a:ext cx="393192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Issue</a:t>
            </a:r>
            <a:endParaRPr lang="en-US" sz="1500" dirty="0"/>
          </a:p>
        </p:txBody>
      </p:sp>
      <p:sp>
        <p:nvSpPr>
          <p:cNvPr id="8" name="Text 5"/>
          <p:cNvSpPr/>
          <p:nvPr/>
        </p:nvSpPr>
        <p:spPr>
          <a:xfrm>
            <a:off x="1508760" y="1938528"/>
            <a:ext cx="3977640" cy="868680"/>
          </a:xfrm>
          <a:prstGeom prst="rect">
            <a:avLst/>
          </a:prstGeom>
          <a:noFill/>
          <a:ln/>
        </p:spPr>
        <p:txBody>
          <a:bodyPr wrap="square" lIns="0" tIns="0" rIns="0" bIns="0" rtlCol="0" anchor="t"/>
          <a:lstStyle/>
          <a:p>
            <a:pPr marL="0" indent="0">
              <a:lnSpc>
                <a:spcPct val="115000"/>
              </a:lnSpc>
              <a:buNone/>
            </a:pPr>
            <a:r>
              <a:rPr lang="en-US" sz="1250" dirty="0">
                <a:solidFill>
                  <a:srgbClr val="4A4F63"/>
                </a:solidFill>
                <a:latin typeface="Calibri" pitchFamily="34" charset="0"/>
                <a:ea typeface="Calibri" pitchFamily="34" charset="-122"/>
                <a:cs typeface="Calibri" pitchFamily="34" charset="-120"/>
              </a:rPr>
              <a:t>Users reported that they were unable to log in to the InstaSafe Portal, blocking access to core services.</a:t>
            </a:r>
            <a:endParaRPr lang="en-US" sz="1250" dirty="0"/>
          </a:p>
        </p:txBody>
      </p:sp>
      <p:sp>
        <p:nvSpPr>
          <p:cNvPr id="9" name="Text 6"/>
          <p:cNvSpPr/>
          <p:nvPr/>
        </p:nvSpPr>
        <p:spPr>
          <a:xfrm>
            <a:off x="548640" y="3108960"/>
            <a:ext cx="457200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Business Impact</a:t>
            </a:r>
            <a:endParaRPr lang="en-US" sz="1500" dirty="0"/>
          </a:p>
        </p:txBody>
      </p:sp>
      <p:sp>
        <p:nvSpPr>
          <p:cNvPr id="10" name="Shape 7"/>
          <p:cNvSpPr/>
          <p:nvPr/>
        </p:nvSpPr>
        <p:spPr>
          <a:xfrm>
            <a:off x="548640" y="3520440"/>
            <a:ext cx="457200" cy="457200"/>
          </a:xfrm>
          <a:prstGeom prst="ellipse">
            <a:avLst/>
          </a:prstGeom>
          <a:solidFill>
            <a:srgbClr val="CADCFC"/>
          </a:solidFill>
          <a:ln/>
        </p:spPr>
      </p:sp>
      <p:pic>
        <p:nvPicPr>
          <p:cNvPr id="11" name="Image 1" descr="/home/claude/rca_pptx/icons/lock.png"/>
          <p:cNvPicPr>
            <a:picLocks noChangeAspect="1"/>
          </p:cNvPicPr>
          <p:nvPr/>
        </p:nvPicPr>
        <p:blipFill>
          <a:blip r:embed="rId4"/>
          <a:stretch>
            <a:fillRect/>
          </a:stretch>
        </p:blipFill>
        <p:spPr>
          <a:xfrm>
            <a:off x="658368" y="3630168"/>
            <a:ext cx="237744" cy="237744"/>
          </a:xfrm>
          <a:prstGeom prst="rect">
            <a:avLst/>
          </a:prstGeom>
        </p:spPr>
      </p:pic>
      <p:sp>
        <p:nvSpPr>
          <p:cNvPr id="12" name="Text 8"/>
          <p:cNvSpPr/>
          <p:nvPr/>
        </p:nvSpPr>
        <p:spPr>
          <a:xfrm>
            <a:off x="1170432" y="3493008"/>
            <a:ext cx="429768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Access blocked</a:t>
            </a:r>
            <a:endParaRPr lang="en-US" sz="1250" dirty="0"/>
          </a:p>
        </p:txBody>
      </p:sp>
      <p:sp>
        <p:nvSpPr>
          <p:cNvPr id="13" name="Text 9"/>
          <p:cNvSpPr/>
          <p:nvPr/>
        </p:nvSpPr>
        <p:spPr>
          <a:xfrm>
            <a:off x="1161467" y="3749040"/>
            <a:ext cx="4343400" cy="384048"/>
          </a:xfrm>
          <a:prstGeom prst="rect">
            <a:avLst/>
          </a:prstGeom>
          <a:noFill/>
          <a:ln/>
        </p:spPr>
        <p:txBody>
          <a:bodyPr wrap="square" lIns="0" tIns="0" rIns="0" bIns="0" rtlCol="0" anchor="ctr"/>
          <a:lstStyle/>
          <a:p>
            <a:pPr marL="0" indent="0">
              <a:lnSpc>
                <a:spcPct val="105000"/>
              </a:lnSpc>
              <a:buNone/>
            </a:pPr>
            <a:r>
              <a:rPr lang="en-US" sz="1050" dirty="0">
                <a:solidFill>
                  <a:srgbClr val="4A4F63"/>
                </a:solidFill>
                <a:latin typeface="Calibri" pitchFamily="34" charset="0"/>
                <a:ea typeface="Calibri" pitchFamily="34" charset="-122"/>
                <a:cs typeface="Calibri" pitchFamily="34" charset="-120"/>
              </a:rPr>
              <a:t>Portal services became unreachable for affected users.</a:t>
            </a:r>
            <a:endParaRPr lang="en-US" sz="1050" dirty="0"/>
          </a:p>
        </p:txBody>
      </p:sp>
      <p:sp>
        <p:nvSpPr>
          <p:cNvPr id="14" name="Shape 10"/>
          <p:cNvSpPr/>
          <p:nvPr/>
        </p:nvSpPr>
        <p:spPr>
          <a:xfrm>
            <a:off x="548640" y="4215384"/>
            <a:ext cx="457200" cy="457200"/>
          </a:xfrm>
          <a:prstGeom prst="ellipse">
            <a:avLst/>
          </a:prstGeom>
          <a:solidFill>
            <a:srgbClr val="CADCFC"/>
          </a:solidFill>
          <a:ln/>
        </p:spPr>
      </p:sp>
      <p:pic>
        <p:nvPicPr>
          <p:cNvPr id="15" name="Image 2" descr="/home/claude/rca_pptx/icons/chart_down.png"/>
          <p:cNvPicPr>
            <a:picLocks noChangeAspect="1"/>
          </p:cNvPicPr>
          <p:nvPr/>
        </p:nvPicPr>
        <p:blipFill>
          <a:blip r:embed="rId5"/>
          <a:stretch>
            <a:fillRect/>
          </a:stretch>
        </p:blipFill>
        <p:spPr>
          <a:xfrm>
            <a:off x="658368" y="4325112"/>
            <a:ext cx="237744" cy="237744"/>
          </a:xfrm>
          <a:prstGeom prst="rect">
            <a:avLst/>
          </a:prstGeom>
        </p:spPr>
      </p:pic>
      <p:sp>
        <p:nvSpPr>
          <p:cNvPr id="16" name="Text 11"/>
          <p:cNvSpPr/>
          <p:nvPr/>
        </p:nvSpPr>
        <p:spPr>
          <a:xfrm>
            <a:off x="1170432" y="4187952"/>
            <a:ext cx="429768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Productivity affected</a:t>
            </a:r>
            <a:endParaRPr lang="en-US" sz="1250" dirty="0"/>
          </a:p>
        </p:txBody>
      </p:sp>
      <p:sp>
        <p:nvSpPr>
          <p:cNvPr id="17" name="Text 12"/>
          <p:cNvSpPr/>
          <p:nvPr/>
        </p:nvSpPr>
        <p:spPr>
          <a:xfrm>
            <a:off x="1170432" y="4443984"/>
            <a:ext cx="4343400" cy="384048"/>
          </a:xfrm>
          <a:prstGeom prst="rect">
            <a:avLst/>
          </a:prstGeom>
          <a:noFill/>
          <a:ln/>
        </p:spPr>
        <p:txBody>
          <a:bodyPr wrap="square" lIns="0" tIns="0" rIns="0" bIns="0" rtlCol="0" anchor="ctr"/>
          <a:lstStyle/>
          <a:p>
            <a:pPr marL="0" indent="0">
              <a:lnSpc>
                <a:spcPct val="105000"/>
              </a:lnSpc>
              <a:buNone/>
            </a:pPr>
            <a:r>
              <a:rPr lang="en-US" sz="1050" dirty="0">
                <a:solidFill>
                  <a:srgbClr val="4A4F63"/>
                </a:solidFill>
                <a:latin typeface="Calibri" pitchFamily="34" charset="0"/>
                <a:ea typeface="Calibri" pitchFamily="34" charset="-122"/>
                <a:cs typeface="Calibri" pitchFamily="34" charset="-120"/>
              </a:rPr>
              <a:t>Teams could not complete time-sensitive work.</a:t>
            </a:r>
            <a:endParaRPr lang="en-US" sz="1050" dirty="0"/>
          </a:p>
        </p:txBody>
      </p:sp>
      <p:sp>
        <p:nvSpPr>
          <p:cNvPr id="18" name="Shape 13"/>
          <p:cNvSpPr/>
          <p:nvPr/>
        </p:nvSpPr>
        <p:spPr>
          <a:xfrm>
            <a:off x="548640" y="4910328"/>
            <a:ext cx="457200" cy="457200"/>
          </a:xfrm>
          <a:prstGeom prst="ellipse">
            <a:avLst/>
          </a:prstGeom>
          <a:solidFill>
            <a:srgbClr val="CADCFC"/>
          </a:solidFill>
          <a:ln/>
        </p:spPr>
      </p:sp>
      <p:pic>
        <p:nvPicPr>
          <p:cNvPr id="19" name="Image 3" descr="/home/claude/rca_pptx/icons/ticket.png"/>
          <p:cNvPicPr>
            <a:picLocks noChangeAspect="1"/>
          </p:cNvPicPr>
          <p:nvPr/>
        </p:nvPicPr>
        <p:blipFill>
          <a:blip r:embed="rId6"/>
          <a:stretch>
            <a:fillRect/>
          </a:stretch>
        </p:blipFill>
        <p:spPr>
          <a:xfrm>
            <a:off x="658368" y="5020056"/>
            <a:ext cx="237744" cy="237744"/>
          </a:xfrm>
          <a:prstGeom prst="rect">
            <a:avLst/>
          </a:prstGeom>
        </p:spPr>
      </p:pic>
      <p:sp>
        <p:nvSpPr>
          <p:cNvPr id="20" name="Text 14"/>
          <p:cNvSpPr/>
          <p:nvPr/>
        </p:nvSpPr>
        <p:spPr>
          <a:xfrm>
            <a:off x="1170432" y="4882896"/>
            <a:ext cx="429768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Support tickets rose</a:t>
            </a:r>
            <a:endParaRPr lang="en-US" sz="1250" dirty="0"/>
          </a:p>
        </p:txBody>
      </p:sp>
      <p:sp>
        <p:nvSpPr>
          <p:cNvPr id="21" name="Text 15"/>
          <p:cNvSpPr/>
          <p:nvPr/>
        </p:nvSpPr>
        <p:spPr>
          <a:xfrm>
            <a:off x="1170432" y="5138928"/>
            <a:ext cx="4343400" cy="384048"/>
          </a:xfrm>
          <a:prstGeom prst="rect">
            <a:avLst/>
          </a:prstGeom>
          <a:noFill/>
          <a:ln/>
        </p:spPr>
        <p:txBody>
          <a:bodyPr wrap="square" lIns="0" tIns="0" rIns="0" bIns="0" rtlCol="0" anchor="ctr"/>
          <a:lstStyle/>
          <a:p>
            <a:pPr marL="0" indent="0">
              <a:lnSpc>
                <a:spcPct val="105000"/>
              </a:lnSpc>
              <a:buNone/>
            </a:pPr>
            <a:r>
              <a:rPr lang="en-US" sz="1050" dirty="0">
                <a:solidFill>
                  <a:srgbClr val="4A4F63"/>
                </a:solidFill>
                <a:latin typeface="Calibri" pitchFamily="34" charset="0"/>
                <a:ea typeface="Calibri" pitchFamily="34" charset="-122"/>
                <a:cs typeface="Calibri" pitchFamily="34" charset="-120"/>
              </a:rPr>
              <a:t>A sharp increase in login-related tickets was logged.</a:t>
            </a:r>
            <a:endParaRPr lang="en-US" sz="1050" dirty="0"/>
          </a:p>
        </p:txBody>
      </p:sp>
      <p:sp>
        <p:nvSpPr>
          <p:cNvPr id="22" name="Shape 16"/>
          <p:cNvSpPr/>
          <p:nvPr/>
        </p:nvSpPr>
        <p:spPr>
          <a:xfrm>
            <a:off x="548640" y="5605272"/>
            <a:ext cx="457200" cy="457200"/>
          </a:xfrm>
          <a:prstGeom prst="ellipse">
            <a:avLst/>
          </a:prstGeom>
          <a:solidFill>
            <a:srgbClr val="CADCFC"/>
          </a:solidFill>
          <a:ln/>
        </p:spPr>
      </p:sp>
      <p:pic>
        <p:nvPicPr>
          <p:cNvPr id="23" name="Image 4" descr="/home/claude/rca_pptx/icons/frown.png"/>
          <p:cNvPicPr>
            <a:picLocks noChangeAspect="1"/>
          </p:cNvPicPr>
          <p:nvPr/>
        </p:nvPicPr>
        <p:blipFill>
          <a:blip r:embed="rId7"/>
          <a:stretch>
            <a:fillRect/>
          </a:stretch>
        </p:blipFill>
        <p:spPr>
          <a:xfrm>
            <a:off x="658368" y="5715000"/>
            <a:ext cx="237744" cy="237744"/>
          </a:xfrm>
          <a:prstGeom prst="rect">
            <a:avLst/>
          </a:prstGeom>
        </p:spPr>
      </p:pic>
      <p:sp>
        <p:nvSpPr>
          <p:cNvPr id="24" name="Text 17"/>
          <p:cNvSpPr/>
          <p:nvPr/>
        </p:nvSpPr>
        <p:spPr>
          <a:xfrm>
            <a:off x="1170432" y="5577840"/>
            <a:ext cx="429768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User dissatisfaction</a:t>
            </a:r>
            <a:endParaRPr lang="en-US" sz="1250" dirty="0"/>
          </a:p>
        </p:txBody>
      </p:sp>
      <p:sp>
        <p:nvSpPr>
          <p:cNvPr id="25" name="Text 18"/>
          <p:cNvSpPr/>
          <p:nvPr/>
        </p:nvSpPr>
        <p:spPr>
          <a:xfrm>
            <a:off x="1170432" y="5833872"/>
            <a:ext cx="4343400" cy="384048"/>
          </a:xfrm>
          <a:prstGeom prst="rect">
            <a:avLst/>
          </a:prstGeom>
          <a:noFill/>
          <a:ln/>
        </p:spPr>
        <p:txBody>
          <a:bodyPr wrap="square" lIns="0" tIns="0" rIns="0" bIns="0" rtlCol="0" anchor="ctr"/>
          <a:lstStyle/>
          <a:p>
            <a:pPr marL="0" indent="0">
              <a:lnSpc>
                <a:spcPct val="105000"/>
              </a:lnSpc>
              <a:buNone/>
            </a:pPr>
            <a:r>
              <a:rPr lang="en-US" sz="1050" dirty="0">
                <a:solidFill>
                  <a:srgbClr val="4A4F63"/>
                </a:solidFill>
                <a:latin typeface="Calibri" pitchFamily="34" charset="0"/>
                <a:ea typeface="Calibri" pitchFamily="34" charset="-122"/>
                <a:cs typeface="Calibri" pitchFamily="34" charset="-120"/>
              </a:rPr>
              <a:t>Confidence in portal reliability declined.</a:t>
            </a:r>
            <a:endParaRPr lang="en-US" sz="1050" dirty="0"/>
          </a:p>
        </p:txBody>
      </p:sp>
      <p:sp>
        <p:nvSpPr>
          <p:cNvPr id="26" name="Shape 19"/>
          <p:cNvSpPr/>
          <p:nvPr/>
        </p:nvSpPr>
        <p:spPr>
          <a:xfrm>
            <a:off x="5989320" y="1463040"/>
            <a:ext cx="5623560" cy="4709160"/>
          </a:xfrm>
          <a:prstGeom prst="roundRect">
            <a:avLst>
              <a:gd name="adj" fmla="val 1553"/>
            </a:avLst>
          </a:prstGeom>
          <a:solidFill>
            <a:srgbClr val="1E2761"/>
          </a:solidFill>
          <a:ln/>
        </p:spPr>
      </p:sp>
      <p:sp>
        <p:nvSpPr>
          <p:cNvPr id="27" name="Text 20"/>
          <p:cNvSpPr/>
          <p:nvPr/>
        </p:nvSpPr>
        <p:spPr>
          <a:xfrm>
            <a:off x="6309360" y="169164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Impact Snapshot</a:t>
            </a:r>
            <a:endParaRPr lang="en-US" sz="1400" dirty="0"/>
          </a:p>
        </p:txBody>
      </p:sp>
      <p:sp>
        <p:nvSpPr>
          <p:cNvPr id="28" name="Shape 21"/>
          <p:cNvSpPr/>
          <p:nvPr/>
        </p:nvSpPr>
        <p:spPr>
          <a:xfrm>
            <a:off x="6309360" y="2240280"/>
            <a:ext cx="2468880" cy="1600200"/>
          </a:xfrm>
          <a:prstGeom prst="roundRect">
            <a:avLst>
              <a:gd name="adj" fmla="val 4000"/>
            </a:avLst>
          </a:prstGeom>
          <a:solidFill>
            <a:srgbClr val="3B5BA5"/>
          </a:solidFill>
          <a:ln/>
        </p:spPr>
      </p:sp>
      <p:sp>
        <p:nvSpPr>
          <p:cNvPr id="29" name="Shape 22"/>
          <p:cNvSpPr/>
          <p:nvPr/>
        </p:nvSpPr>
        <p:spPr>
          <a:xfrm>
            <a:off x="6510528" y="2441448"/>
            <a:ext cx="457200" cy="457200"/>
          </a:xfrm>
          <a:prstGeom prst="ellipse">
            <a:avLst/>
          </a:prstGeom>
          <a:solidFill>
            <a:srgbClr val="141A47"/>
          </a:solidFill>
          <a:ln/>
        </p:spPr>
      </p:sp>
      <p:pic>
        <p:nvPicPr>
          <p:cNvPr id="30" name="Image 5" descr="/home/claude/rca_pptx/icons/users_white.png"/>
          <p:cNvPicPr>
            <a:picLocks noChangeAspect="1"/>
          </p:cNvPicPr>
          <p:nvPr/>
        </p:nvPicPr>
        <p:blipFill>
          <a:blip r:embed="rId8"/>
          <a:stretch>
            <a:fillRect/>
          </a:stretch>
        </p:blipFill>
        <p:spPr>
          <a:xfrm>
            <a:off x="6613398" y="2544318"/>
            <a:ext cx="251460" cy="251460"/>
          </a:xfrm>
          <a:prstGeom prst="rect">
            <a:avLst/>
          </a:prstGeom>
        </p:spPr>
      </p:pic>
      <p:sp>
        <p:nvSpPr>
          <p:cNvPr id="31" name="Text 23"/>
          <p:cNvSpPr/>
          <p:nvPr/>
        </p:nvSpPr>
        <p:spPr>
          <a:xfrm>
            <a:off x="6492240" y="2990088"/>
            <a:ext cx="210312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Multiple</a:t>
            </a:r>
            <a:endParaRPr lang="en-US" sz="1900" dirty="0"/>
          </a:p>
        </p:txBody>
      </p:sp>
      <p:sp>
        <p:nvSpPr>
          <p:cNvPr id="32" name="Text 24"/>
          <p:cNvSpPr/>
          <p:nvPr/>
        </p:nvSpPr>
        <p:spPr>
          <a:xfrm>
            <a:off x="6492240" y="3374136"/>
            <a:ext cx="2103120" cy="384048"/>
          </a:xfrm>
          <a:prstGeom prst="rect">
            <a:avLst/>
          </a:prstGeom>
          <a:noFill/>
          <a:ln/>
        </p:spPr>
        <p:txBody>
          <a:bodyPr wrap="square" lIns="0" tIns="0" rIns="0" bIns="0" rtlCol="0" anchor="ctr"/>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business units affected</a:t>
            </a:r>
            <a:endParaRPr lang="en-US" sz="1050" dirty="0"/>
          </a:p>
        </p:txBody>
      </p:sp>
      <p:sp>
        <p:nvSpPr>
          <p:cNvPr id="33" name="Shape 25"/>
          <p:cNvSpPr/>
          <p:nvPr/>
        </p:nvSpPr>
        <p:spPr>
          <a:xfrm>
            <a:off x="9006840" y="2240280"/>
            <a:ext cx="2468880" cy="1600200"/>
          </a:xfrm>
          <a:prstGeom prst="roundRect">
            <a:avLst>
              <a:gd name="adj" fmla="val 4000"/>
            </a:avLst>
          </a:prstGeom>
          <a:solidFill>
            <a:srgbClr val="3B5BA5"/>
          </a:solidFill>
          <a:ln/>
        </p:spPr>
      </p:sp>
      <p:sp>
        <p:nvSpPr>
          <p:cNvPr id="34" name="Shape 26"/>
          <p:cNvSpPr/>
          <p:nvPr/>
        </p:nvSpPr>
        <p:spPr>
          <a:xfrm>
            <a:off x="9208008" y="2441448"/>
            <a:ext cx="457200" cy="457200"/>
          </a:xfrm>
          <a:prstGeom prst="ellipse">
            <a:avLst/>
          </a:prstGeom>
          <a:solidFill>
            <a:srgbClr val="141A47"/>
          </a:solidFill>
          <a:ln/>
        </p:spPr>
      </p:sp>
      <p:pic>
        <p:nvPicPr>
          <p:cNvPr id="35" name="Image 6" descr="/home/claude/rca_pptx/icons/ticket_white.png"/>
          <p:cNvPicPr>
            <a:picLocks noChangeAspect="1"/>
          </p:cNvPicPr>
          <p:nvPr/>
        </p:nvPicPr>
        <p:blipFill>
          <a:blip r:embed="rId9"/>
          <a:stretch>
            <a:fillRect/>
          </a:stretch>
        </p:blipFill>
        <p:spPr>
          <a:xfrm>
            <a:off x="9310878" y="2544318"/>
            <a:ext cx="251460" cy="251460"/>
          </a:xfrm>
          <a:prstGeom prst="rect">
            <a:avLst/>
          </a:prstGeom>
        </p:spPr>
      </p:pic>
      <p:sp>
        <p:nvSpPr>
          <p:cNvPr id="36" name="Text 27"/>
          <p:cNvSpPr/>
          <p:nvPr/>
        </p:nvSpPr>
        <p:spPr>
          <a:xfrm>
            <a:off x="9189720" y="2990088"/>
            <a:ext cx="210312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Spike</a:t>
            </a:r>
            <a:endParaRPr lang="en-US" sz="1900" dirty="0"/>
          </a:p>
        </p:txBody>
      </p:sp>
      <p:sp>
        <p:nvSpPr>
          <p:cNvPr id="37" name="Text 28"/>
          <p:cNvSpPr/>
          <p:nvPr/>
        </p:nvSpPr>
        <p:spPr>
          <a:xfrm>
            <a:off x="9189720" y="3374136"/>
            <a:ext cx="2103120" cy="384048"/>
          </a:xfrm>
          <a:prstGeom prst="rect">
            <a:avLst/>
          </a:prstGeom>
          <a:noFill/>
          <a:ln/>
        </p:spPr>
        <p:txBody>
          <a:bodyPr wrap="square" lIns="0" tIns="0" rIns="0" bIns="0" rtlCol="0" anchor="ctr"/>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in support ticket volume</a:t>
            </a:r>
            <a:endParaRPr lang="en-US" sz="1050" dirty="0"/>
          </a:p>
        </p:txBody>
      </p:sp>
      <p:sp>
        <p:nvSpPr>
          <p:cNvPr id="38" name="Shape 29"/>
          <p:cNvSpPr/>
          <p:nvPr/>
        </p:nvSpPr>
        <p:spPr>
          <a:xfrm>
            <a:off x="6309360" y="4069080"/>
            <a:ext cx="2468880" cy="1600200"/>
          </a:xfrm>
          <a:prstGeom prst="roundRect">
            <a:avLst>
              <a:gd name="adj" fmla="val 4000"/>
            </a:avLst>
          </a:prstGeom>
          <a:solidFill>
            <a:srgbClr val="3B5BA5"/>
          </a:solidFill>
          <a:ln/>
        </p:spPr>
      </p:sp>
      <p:sp>
        <p:nvSpPr>
          <p:cNvPr id="39" name="Shape 30"/>
          <p:cNvSpPr/>
          <p:nvPr/>
        </p:nvSpPr>
        <p:spPr>
          <a:xfrm>
            <a:off x="6510528" y="4270248"/>
            <a:ext cx="457200" cy="457200"/>
          </a:xfrm>
          <a:prstGeom prst="ellipse">
            <a:avLst/>
          </a:prstGeom>
          <a:solidFill>
            <a:srgbClr val="141A47"/>
          </a:solidFill>
          <a:ln/>
        </p:spPr>
      </p:sp>
      <p:pic>
        <p:nvPicPr>
          <p:cNvPr id="40" name="Image 7" descr="/home/claude/rca_pptx/icons/chart_down_white.png"/>
          <p:cNvPicPr>
            <a:picLocks noChangeAspect="1"/>
          </p:cNvPicPr>
          <p:nvPr/>
        </p:nvPicPr>
        <p:blipFill>
          <a:blip r:embed="rId10"/>
          <a:stretch>
            <a:fillRect/>
          </a:stretch>
        </p:blipFill>
        <p:spPr>
          <a:xfrm>
            <a:off x="6613398" y="4373118"/>
            <a:ext cx="251460" cy="251460"/>
          </a:xfrm>
          <a:prstGeom prst="rect">
            <a:avLst/>
          </a:prstGeom>
        </p:spPr>
      </p:pic>
      <p:sp>
        <p:nvSpPr>
          <p:cNvPr id="41" name="Text 31"/>
          <p:cNvSpPr/>
          <p:nvPr/>
        </p:nvSpPr>
        <p:spPr>
          <a:xfrm>
            <a:off x="6492240" y="4818888"/>
            <a:ext cx="210312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Downtime</a:t>
            </a:r>
            <a:endParaRPr lang="en-US" sz="1900" dirty="0"/>
          </a:p>
        </p:txBody>
      </p:sp>
      <p:sp>
        <p:nvSpPr>
          <p:cNvPr id="42" name="Text 32"/>
          <p:cNvSpPr/>
          <p:nvPr/>
        </p:nvSpPr>
        <p:spPr>
          <a:xfrm>
            <a:off x="6492240" y="5202936"/>
            <a:ext cx="2103120" cy="384048"/>
          </a:xfrm>
          <a:prstGeom prst="rect">
            <a:avLst/>
          </a:prstGeom>
          <a:noFill/>
          <a:ln/>
        </p:spPr>
        <p:txBody>
          <a:bodyPr wrap="square" lIns="0" tIns="0" rIns="0" bIns="0" rtlCol="0" anchor="ctr"/>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across working hours</a:t>
            </a:r>
            <a:endParaRPr lang="en-US" sz="1050" dirty="0"/>
          </a:p>
        </p:txBody>
      </p:sp>
      <p:sp>
        <p:nvSpPr>
          <p:cNvPr id="43" name="Shape 33"/>
          <p:cNvSpPr/>
          <p:nvPr/>
        </p:nvSpPr>
        <p:spPr>
          <a:xfrm>
            <a:off x="9006840" y="4069080"/>
            <a:ext cx="2468880" cy="1600200"/>
          </a:xfrm>
          <a:prstGeom prst="roundRect">
            <a:avLst>
              <a:gd name="adj" fmla="val 4000"/>
            </a:avLst>
          </a:prstGeom>
          <a:solidFill>
            <a:srgbClr val="3B5BA5"/>
          </a:solidFill>
          <a:ln/>
        </p:spPr>
      </p:sp>
      <p:sp>
        <p:nvSpPr>
          <p:cNvPr id="44" name="Shape 34"/>
          <p:cNvSpPr/>
          <p:nvPr/>
        </p:nvSpPr>
        <p:spPr>
          <a:xfrm>
            <a:off x="9208008" y="4270248"/>
            <a:ext cx="457200" cy="457200"/>
          </a:xfrm>
          <a:prstGeom prst="ellipse">
            <a:avLst/>
          </a:prstGeom>
          <a:solidFill>
            <a:srgbClr val="141A47"/>
          </a:solidFill>
          <a:ln/>
        </p:spPr>
      </p:sp>
      <p:pic>
        <p:nvPicPr>
          <p:cNvPr id="45" name="Image 8" descr="/home/claude/rca_pptx/icons/frown_white.png"/>
          <p:cNvPicPr>
            <a:picLocks noChangeAspect="1"/>
          </p:cNvPicPr>
          <p:nvPr/>
        </p:nvPicPr>
        <p:blipFill>
          <a:blip r:embed="rId11"/>
          <a:stretch>
            <a:fillRect/>
          </a:stretch>
        </p:blipFill>
        <p:spPr>
          <a:xfrm>
            <a:off x="9310878" y="4373118"/>
            <a:ext cx="251460" cy="251460"/>
          </a:xfrm>
          <a:prstGeom prst="rect">
            <a:avLst/>
          </a:prstGeom>
        </p:spPr>
      </p:pic>
      <p:sp>
        <p:nvSpPr>
          <p:cNvPr id="46" name="Text 35"/>
          <p:cNvSpPr/>
          <p:nvPr/>
        </p:nvSpPr>
        <p:spPr>
          <a:xfrm>
            <a:off x="9189720" y="4818888"/>
            <a:ext cx="210312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Trust dip</a:t>
            </a:r>
            <a:endParaRPr lang="en-US" sz="1900" dirty="0"/>
          </a:p>
        </p:txBody>
      </p:sp>
      <p:sp>
        <p:nvSpPr>
          <p:cNvPr id="47" name="Text 36"/>
          <p:cNvSpPr/>
          <p:nvPr/>
        </p:nvSpPr>
        <p:spPr>
          <a:xfrm>
            <a:off x="9189720" y="5202936"/>
            <a:ext cx="2103120" cy="384048"/>
          </a:xfrm>
          <a:prstGeom prst="rect">
            <a:avLst/>
          </a:prstGeom>
          <a:noFill/>
          <a:ln/>
        </p:spPr>
        <p:txBody>
          <a:bodyPr wrap="square" lIns="0" tIns="0" rIns="0" bIns="0" rtlCol="0" anchor="ctr"/>
          <a:lstStyle/>
          <a:p>
            <a:pPr marL="0" indent="0">
              <a:lnSpc>
                <a:spcPct val="105000"/>
              </a:lnSpc>
              <a:buNone/>
            </a:pPr>
            <a:r>
              <a:rPr lang="en-US" sz="1050" dirty="0">
                <a:solidFill>
                  <a:srgbClr val="CADCFC"/>
                </a:solidFill>
                <a:latin typeface="Calibri" pitchFamily="34" charset="0"/>
                <a:ea typeface="Calibri" pitchFamily="34" charset="-122"/>
                <a:cs typeface="Calibri" pitchFamily="34" charset="-120"/>
              </a:rPr>
              <a:t>in portal reliability</a:t>
            </a:r>
            <a:endParaRPr lang="en-US" sz="1050" dirty="0"/>
          </a:p>
        </p:txBody>
      </p:sp>
      <p:sp>
        <p:nvSpPr>
          <p:cNvPr id="48" name="Text 37"/>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1000" dirty="0"/>
          </a:p>
        </p:txBody>
      </p:sp>
      <p:sp>
        <p:nvSpPr>
          <p:cNvPr id="49" name="Text 3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rgbClr val="1E2761">
                    <a:alpha val="70000"/>
                  </a:srgbClr>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5029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5 Whys Analysis</a:t>
            </a:r>
            <a:endParaRPr lang="en-US" sz="3000" dirty="0"/>
          </a:p>
        </p:txBody>
      </p:sp>
      <p:sp>
        <p:nvSpPr>
          <p:cNvPr id="3" name="Text 1"/>
          <p:cNvSpPr/>
          <p:nvPr/>
        </p:nvSpPr>
        <p:spPr>
          <a:xfrm>
            <a:off x="548640" y="868680"/>
            <a:ext cx="7315200" cy="320040"/>
          </a:xfrm>
          <a:prstGeom prst="rect">
            <a:avLst/>
          </a:prstGeom>
          <a:noFill/>
          <a:ln/>
        </p:spPr>
        <p:txBody>
          <a:bodyPr wrap="square" lIns="0" tIns="0" rIns="0" bIns="0" rtlCol="0" anchor="ctr"/>
          <a:lstStyle/>
          <a:p>
            <a:pPr marL="0" indent="0">
              <a:buNone/>
            </a:pPr>
            <a:r>
              <a:rPr lang="en-US" sz="1300" i="1" dirty="0">
                <a:solidFill>
                  <a:srgbClr val="3B5BA5"/>
                </a:solidFill>
                <a:latin typeface="Calibri" pitchFamily="34" charset="0"/>
                <a:ea typeface="Calibri" pitchFamily="34" charset="-122"/>
                <a:cs typeface="Calibri" pitchFamily="34" charset="-120"/>
              </a:rPr>
              <a:t>Tracing the failure back to its origin</a:t>
            </a:r>
            <a:endParaRPr lang="en-US" sz="1300" dirty="0"/>
          </a:p>
        </p:txBody>
      </p:sp>
      <p:sp>
        <p:nvSpPr>
          <p:cNvPr id="4" name="Shape 2"/>
          <p:cNvSpPr/>
          <p:nvPr/>
        </p:nvSpPr>
        <p:spPr>
          <a:xfrm>
            <a:off x="548640" y="1417320"/>
            <a:ext cx="6492240" cy="658368"/>
          </a:xfrm>
          <a:prstGeom prst="roundRect">
            <a:avLst>
              <a:gd name="adj" fmla="val 12500"/>
            </a:avLst>
          </a:prstGeom>
          <a:solidFill>
            <a:srgbClr val="1E2761"/>
          </a:solidFill>
          <a:ln/>
          <a:effectLst>
            <a:outerShdw blurRad="63500" dist="25400" dir="5400000" algn="bl" rotWithShape="0">
              <a:srgbClr val="1E2761">
                <a:alpha val="15000"/>
              </a:srgbClr>
            </a:outerShdw>
          </a:effectLst>
        </p:spPr>
      </p:sp>
      <p:sp>
        <p:nvSpPr>
          <p:cNvPr id="5" name="Shape 3"/>
          <p:cNvSpPr/>
          <p:nvPr/>
        </p:nvSpPr>
        <p:spPr>
          <a:xfrm>
            <a:off x="676656" y="1517904"/>
            <a:ext cx="457200" cy="457200"/>
          </a:xfrm>
          <a:prstGeom prst="ellipse">
            <a:avLst/>
          </a:prstGeom>
          <a:solidFill>
            <a:srgbClr val="141A47"/>
          </a:solidFill>
          <a:ln/>
        </p:spPr>
      </p:sp>
      <p:pic>
        <p:nvPicPr>
          <p:cNvPr id="6" name="Image 0" descr="/home/claude/rca_pptx/icons/lock_white.png"/>
          <p:cNvPicPr>
            <a:picLocks noChangeAspect="1"/>
          </p:cNvPicPr>
          <p:nvPr/>
        </p:nvPicPr>
        <p:blipFill>
          <a:blip r:embed="rId3"/>
          <a:stretch>
            <a:fillRect/>
          </a:stretch>
        </p:blipFill>
        <p:spPr>
          <a:xfrm>
            <a:off x="779526" y="1620774"/>
            <a:ext cx="251460" cy="251460"/>
          </a:xfrm>
          <a:prstGeom prst="rect">
            <a:avLst/>
          </a:prstGeom>
        </p:spPr>
      </p:pic>
      <p:sp>
        <p:nvSpPr>
          <p:cNvPr id="7" name="Text 4"/>
          <p:cNvSpPr/>
          <p:nvPr/>
        </p:nvSpPr>
        <p:spPr>
          <a:xfrm>
            <a:off x="1261872" y="1472184"/>
            <a:ext cx="1188720" cy="256032"/>
          </a:xfrm>
          <a:prstGeom prst="rect">
            <a:avLst/>
          </a:prstGeom>
          <a:noFill/>
          <a:ln/>
        </p:spPr>
        <p:txBody>
          <a:bodyPr wrap="square" lIns="0" tIns="0" rIns="0" bIns="0" rtlCol="0" anchor="ctr"/>
          <a:lstStyle/>
          <a:p>
            <a:pPr marL="0" indent="0">
              <a:buNone/>
            </a:pPr>
            <a:r>
              <a:rPr lang="en-US" sz="1050" b="1" dirty="0">
                <a:solidFill>
                  <a:srgbClr val="CADCFC"/>
                </a:solidFill>
                <a:latin typeface="Calibri" pitchFamily="34" charset="0"/>
                <a:ea typeface="Calibri" pitchFamily="34" charset="-122"/>
                <a:cs typeface="Calibri" pitchFamily="34" charset="-120"/>
              </a:rPr>
              <a:t>Why 1</a:t>
            </a:r>
            <a:endParaRPr lang="en-US" sz="1050" dirty="0"/>
          </a:p>
        </p:txBody>
      </p:sp>
      <p:sp>
        <p:nvSpPr>
          <p:cNvPr id="8" name="Text 5"/>
          <p:cNvSpPr/>
          <p:nvPr/>
        </p:nvSpPr>
        <p:spPr>
          <a:xfrm>
            <a:off x="1261872" y="1700784"/>
            <a:ext cx="5623560" cy="32918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Users are unable to login.</a:t>
            </a:r>
            <a:endParaRPr lang="en-US" sz="1350" dirty="0"/>
          </a:p>
        </p:txBody>
      </p:sp>
      <p:sp>
        <p:nvSpPr>
          <p:cNvPr id="9" name="Shape 6"/>
          <p:cNvSpPr/>
          <p:nvPr/>
        </p:nvSpPr>
        <p:spPr>
          <a:xfrm>
            <a:off x="3694176" y="2093976"/>
            <a:ext cx="201168" cy="182880"/>
          </a:xfrm>
          <a:prstGeom prst="downArrow">
            <a:avLst/>
          </a:prstGeom>
          <a:solidFill>
            <a:srgbClr val="3B5BA5"/>
          </a:solidFill>
          <a:ln/>
        </p:spPr>
      </p:sp>
      <p:sp>
        <p:nvSpPr>
          <p:cNvPr id="10" name="Shape 7"/>
          <p:cNvSpPr/>
          <p:nvPr/>
        </p:nvSpPr>
        <p:spPr>
          <a:xfrm>
            <a:off x="548640" y="2295144"/>
            <a:ext cx="6492240" cy="658368"/>
          </a:xfrm>
          <a:prstGeom prst="roundRect">
            <a:avLst>
              <a:gd name="adj" fmla="val 12500"/>
            </a:avLst>
          </a:prstGeom>
          <a:solidFill>
            <a:srgbClr val="1E2761"/>
          </a:solidFill>
          <a:ln/>
          <a:effectLst>
            <a:outerShdw blurRad="63500" dist="25400" dir="5400000" algn="bl" rotWithShape="0">
              <a:srgbClr val="1E2761">
                <a:alpha val="15000"/>
              </a:srgbClr>
            </a:outerShdw>
          </a:effectLst>
        </p:spPr>
      </p:sp>
      <p:sp>
        <p:nvSpPr>
          <p:cNvPr id="11" name="Shape 8"/>
          <p:cNvSpPr/>
          <p:nvPr/>
        </p:nvSpPr>
        <p:spPr>
          <a:xfrm>
            <a:off x="676656" y="2395728"/>
            <a:ext cx="457200" cy="457200"/>
          </a:xfrm>
          <a:prstGeom prst="ellipse">
            <a:avLst/>
          </a:prstGeom>
          <a:solidFill>
            <a:srgbClr val="141A47"/>
          </a:solidFill>
          <a:ln/>
        </p:spPr>
      </p:sp>
      <p:pic>
        <p:nvPicPr>
          <p:cNvPr id="12" name="Image 1" descr="/home/claude/rca_pptx/icons/fingerprint.png"/>
          <p:cNvPicPr>
            <a:picLocks noChangeAspect="1"/>
          </p:cNvPicPr>
          <p:nvPr/>
        </p:nvPicPr>
        <p:blipFill>
          <a:blip r:embed="rId4"/>
          <a:stretch>
            <a:fillRect/>
          </a:stretch>
        </p:blipFill>
        <p:spPr>
          <a:xfrm>
            <a:off x="779526" y="2498598"/>
            <a:ext cx="251460" cy="251460"/>
          </a:xfrm>
          <a:prstGeom prst="rect">
            <a:avLst/>
          </a:prstGeom>
        </p:spPr>
      </p:pic>
      <p:sp>
        <p:nvSpPr>
          <p:cNvPr id="13" name="Text 9"/>
          <p:cNvSpPr/>
          <p:nvPr/>
        </p:nvSpPr>
        <p:spPr>
          <a:xfrm>
            <a:off x="1261872" y="2350008"/>
            <a:ext cx="1188720" cy="256032"/>
          </a:xfrm>
          <a:prstGeom prst="rect">
            <a:avLst/>
          </a:prstGeom>
          <a:noFill/>
          <a:ln/>
        </p:spPr>
        <p:txBody>
          <a:bodyPr wrap="square" lIns="0" tIns="0" rIns="0" bIns="0" rtlCol="0" anchor="ctr"/>
          <a:lstStyle/>
          <a:p>
            <a:pPr marL="0" indent="0">
              <a:buNone/>
            </a:pPr>
            <a:r>
              <a:rPr lang="en-US" sz="1050" b="1" dirty="0">
                <a:solidFill>
                  <a:srgbClr val="CADCFC"/>
                </a:solidFill>
                <a:latin typeface="Calibri" pitchFamily="34" charset="0"/>
                <a:ea typeface="Calibri" pitchFamily="34" charset="-122"/>
                <a:cs typeface="Calibri" pitchFamily="34" charset="-120"/>
              </a:rPr>
              <a:t>Why 2</a:t>
            </a:r>
            <a:endParaRPr lang="en-US" sz="1050" dirty="0"/>
          </a:p>
        </p:txBody>
      </p:sp>
      <p:sp>
        <p:nvSpPr>
          <p:cNvPr id="14" name="Text 10"/>
          <p:cNvSpPr/>
          <p:nvPr/>
        </p:nvSpPr>
        <p:spPr>
          <a:xfrm>
            <a:off x="1261872" y="2578608"/>
            <a:ext cx="5623560" cy="32918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Authentication requests are failing.</a:t>
            </a:r>
            <a:endParaRPr lang="en-US" sz="1350" dirty="0"/>
          </a:p>
        </p:txBody>
      </p:sp>
      <p:sp>
        <p:nvSpPr>
          <p:cNvPr id="15" name="Shape 11"/>
          <p:cNvSpPr/>
          <p:nvPr/>
        </p:nvSpPr>
        <p:spPr>
          <a:xfrm>
            <a:off x="3694176" y="2971800"/>
            <a:ext cx="201168" cy="182880"/>
          </a:xfrm>
          <a:prstGeom prst="downArrow">
            <a:avLst/>
          </a:prstGeom>
          <a:solidFill>
            <a:srgbClr val="3B5BA5"/>
          </a:solidFill>
          <a:ln/>
        </p:spPr>
      </p:sp>
      <p:sp>
        <p:nvSpPr>
          <p:cNvPr id="16" name="Shape 12"/>
          <p:cNvSpPr/>
          <p:nvPr/>
        </p:nvSpPr>
        <p:spPr>
          <a:xfrm>
            <a:off x="548640" y="3172968"/>
            <a:ext cx="6492240" cy="658368"/>
          </a:xfrm>
          <a:prstGeom prst="roundRect">
            <a:avLst>
              <a:gd name="adj" fmla="val 12500"/>
            </a:avLst>
          </a:prstGeom>
          <a:solidFill>
            <a:srgbClr val="1E2761"/>
          </a:solidFill>
          <a:ln/>
          <a:effectLst>
            <a:outerShdw blurRad="63500" dist="25400" dir="5400000" algn="bl" rotWithShape="0">
              <a:srgbClr val="1E2761">
                <a:alpha val="15000"/>
              </a:srgbClr>
            </a:outerShdw>
          </a:effectLst>
        </p:spPr>
      </p:sp>
      <p:sp>
        <p:nvSpPr>
          <p:cNvPr id="17" name="Shape 13"/>
          <p:cNvSpPr/>
          <p:nvPr/>
        </p:nvSpPr>
        <p:spPr>
          <a:xfrm>
            <a:off x="676656" y="3273552"/>
            <a:ext cx="457200" cy="457200"/>
          </a:xfrm>
          <a:prstGeom prst="ellipse">
            <a:avLst/>
          </a:prstGeom>
          <a:solidFill>
            <a:srgbClr val="141A47"/>
          </a:solidFill>
          <a:ln/>
        </p:spPr>
      </p:sp>
      <p:pic>
        <p:nvPicPr>
          <p:cNvPr id="18" name="Image 2" descr="/home/claude/rca_pptx/icons/key.png"/>
          <p:cNvPicPr>
            <a:picLocks noChangeAspect="1"/>
          </p:cNvPicPr>
          <p:nvPr/>
        </p:nvPicPr>
        <p:blipFill>
          <a:blip r:embed="rId5"/>
          <a:stretch>
            <a:fillRect/>
          </a:stretch>
        </p:blipFill>
        <p:spPr>
          <a:xfrm>
            <a:off x="779526" y="3376422"/>
            <a:ext cx="251460" cy="251460"/>
          </a:xfrm>
          <a:prstGeom prst="rect">
            <a:avLst/>
          </a:prstGeom>
        </p:spPr>
      </p:pic>
      <p:sp>
        <p:nvSpPr>
          <p:cNvPr id="19" name="Text 14"/>
          <p:cNvSpPr/>
          <p:nvPr/>
        </p:nvSpPr>
        <p:spPr>
          <a:xfrm>
            <a:off x="1261872" y="3227832"/>
            <a:ext cx="1188720" cy="256032"/>
          </a:xfrm>
          <a:prstGeom prst="rect">
            <a:avLst/>
          </a:prstGeom>
          <a:noFill/>
          <a:ln/>
        </p:spPr>
        <p:txBody>
          <a:bodyPr wrap="square" lIns="0" tIns="0" rIns="0" bIns="0" rtlCol="0" anchor="ctr"/>
          <a:lstStyle/>
          <a:p>
            <a:pPr marL="0" indent="0">
              <a:buNone/>
            </a:pPr>
            <a:r>
              <a:rPr lang="en-US" sz="1050" b="1" dirty="0">
                <a:solidFill>
                  <a:srgbClr val="CADCFC"/>
                </a:solidFill>
                <a:latin typeface="Calibri" pitchFamily="34" charset="0"/>
                <a:ea typeface="Calibri" pitchFamily="34" charset="-122"/>
                <a:cs typeface="Calibri" pitchFamily="34" charset="-120"/>
              </a:rPr>
              <a:t>Why 3</a:t>
            </a:r>
            <a:endParaRPr lang="en-US" sz="1050" dirty="0"/>
          </a:p>
        </p:txBody>
      </p:sp>
      <p:sp>
        <p:nvSpPr>
          <p:cNvPr id="20" name="Text 15"/>
          <p:cNvSpPr/>
          <p:nvPr/>
        </p:nvSpPr>
        <p:spPr>
          <a:xfrm>
            <a:off x="1261872" y="3456432"/>
            <a:ext cx="5623560" cy="32918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Credentials cannot be validated.</a:t>
            </a:r>
            <a:endParaRPr lang="en-US" sz="1350" dirty="0"/>
          </a:p>
        </p:txBody>
      </p:sp>
      <p:sp>
        <p:nvSpPr>
          <p:cNvPr id="21" name="Shape 16"/>
          <p:cNvSpPr/>
          <p:nvPr/>
        </p:nvSpPr>
        <p:spPr>
          <a:xfrm>
            <a:off x="3694176" y="3849624"/>
            <a:ext cx="201168" cy="182880"/>
          </a:xfrm>
          <a:prstGeom prst="downArrow">
            <a:avLst/>
          </a:prstGeom>
          <a:solidFill>
            <a:srgbClr val="3B5BA5"/>
          </a:solidFill>
          <a:ln/>
        </p:spPr>
      </p:sp>
      <p:sp>
        <p:nvSpPr>
          <p:cNvPr id="22" name="Shape 17"/>
          <p:cNvSpPr/>
          <p:nvPr/>
        </p:nvSpPr>
        <p:spPr>
          <a:xfrm>
            <a:off x="548640" y="4050792"/>
            <a:ext cx="6492240" cy="658368"/>
          </a:xfrm>
          <a:prstGeom prst="roundRect">
            <a:avLst>
              <a:gd name="adj" fmla="val 12500"/>
            </a:avLst>
          </a:prstGeom>
          <a:solidFill>
            <a:srgbClr val="1E2761"/>
          </a:solidFill>
          <a:ln/>
          <a:effectLst>
            <a:outerShdw blurRad="63500" dist="25400" dir="5400000" algn="bl" rotWithShape="0">
              <a:srgbClr val="1E2761">
                <a:alpha val="15000"/>
              </a:srgbClr>
            </a:outerShdw>
          </a:effectLst>
        </p:spPr>
      </p:sp>
      <p:sp>
        <p:nvSpPr>
          <p:cNvPr id="23" name="Shape 18"/>
          <p:cNvSpPr/>
          <p:nvPr/>
        </p:nvSpPr>
        <p:spPr>
          <a:xfrm>
            <a:off x="676656" y="4151376"/>
            <a:ext cx="457200" cy="457200"/>
          </a:xfrm>
          <a:prstGeom prst="ellipse">
            <a:avLst/>
          </a:prstGeom>
          <a:solidFill>
            <a:srgbClr val="141A47"/>
          </a:solidFill>
          <a:ln/>
        </p:spPr>
      </p:sp>
      <p:pic>
        <p:nvPicPr>
          <p:cNvPr id="24" name="Image 3" descr="/home/claude/rca_pptx/icons/plug.png"/>
          <p:cNvPicPr>
            <a:picLocks noChangeAspect="1"/>
          </p:cNvPicPr>
          <p:nvPr/>
        </p:nvPicPr>
        <p:blipFill>
          <a:blip r:embed="rId6"/>
          <a:stretch>
            <a:fillRect/>
          </a:stretch>
        </p:blipFill>
        <p:spPr>
          <a:xfrm>
            <a:off x="779526" y="4254246"/>
            <a:ext cx="251460" cy="251460"/>
          </a:xfrm>
          <a:prstGeom prst="rect">
            <a:avLst/>
          </a:prstGeom>
        </p:spPr>
      </p:pic>
      <p:sp>
        <p:nvSpPr>
          <p:cNvPr id="25" name="Text 19"/>
          <p:cNvSpPr/>
          <p:nvPr/>
        </p:nvSpPr>
        <p:spPr>
          <a:xfrm>
            <a:off x="1261872" y="4105656"/>
            <a:ext cx="1188720" cy="256032"/>
          </a:xfrm>
          <a:prstGeom prst="rect">
            <a:avLst/>
          </a:prstGeom>
          <a:noFill/>
          <a:ln/>
        </p:spPr>
        <p:txBody>
          <a:bodyPr wrap="square" lIns="0" tIns="0" rIns="0" bIns="0" rtlCol="0" anchor="ctr"/>
          <a:lstStyle/>
          <a:p>
            <a:pPr marL="0" indent="0">
              <a:buNone/>
            </a:pPr>
            <a:r>
              <a:rPr lang="en-US" sz="1050" b="1" dirty="0">
                <a:solidFill>
                  <a:srgbClr val="CADCFC"/>
                </a:solidFill>
                <a:latin typeface="Calibri" pitchFamily="34" charset="0"/>
                <a:ea typeface="Calibri" pitchFamily="34" charset="-122"/>
                <a:cs typeface="Calibri" pitchFamily="34" charset="-120"/>
              </a:rPr>
              <a:t>Why 4</a:t>
            </a:r>
            <a:endParaRPr lang="en-US" sz="1050" dirty="0"/>
          </a:p>
        </p:txBody>
      </p:sp>
      <p:sp>
        <p:nvSpPr>
          <p:cNvPr id="26" name="Text 20"/>
          <p:cNvSpPr/>
          <p:nvPr/>
        </p:nvSpPr>
        <p:spPr>
          <a:xfrm>
            <a:off x="1261872" y="4334256"/>
            <a:ext cx="5623560" cy="32918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Auth service cannot connect to the database.</a:t>
            </a:r>
            <a:endParaRPr lang="en-US" sz="1350" dirty="0"/>
          </a:p>
        </p:txBody>
      </p:sp>
      <p:sp>
        <p:nvSpPr>
          <p:cNvPr id="27" name="Shape 21"/>
          <p:cNvSpPr/>
          <p:nvPr/>
        </p:nvSpPr>
        <p:spPr>
          <a:xfrm>
            <a:off x="3694176" y="4727448"/>
            <a:ext cx="201168" cy="182880"/>
          </a:xfrm>
          <a:prstGeom prst="downArrow">
            <a:avLst/>
          </a:prstGeom>
          <a:solidFill>
            <a:srgbClr val="3B5BA5"/>
          </a:solidFill>
          <a:ln/>
        </p:spPr>
      </p:sp>
      <p:sp>
        <p:nvSpPr>
          <p:cNvPr id="28" name="Shape 22"/>
          <p:cNvSpPr/>
          <p:nvPr/>
        </p:nvSpPr>
        <p:spPr>
          <a:xfrm>
            <a:off x="548640" y="4928616"/>
            <a:ext cx="6492240" cy="658368"/>
          </a:xfrm>
          <a:prstGeom prst="roundRect">
            <a:avLst>
              <a:gd name="adj" fmla="val 12500"/>
            </a:avLst>
          </a:prstGeom>
          <a:solidFill>
            <a:srgbClr val="3B5BA5"/>
          </a:solidFill>
          <a:ln/>
          <a:effectLst>
            <a:outerShdw blurRad="63500" dist="25400" dir="5400000" algn="bl" rotWithShape="0">
              <a:srgbClr val="1E2761">
                <a:alpha val="15000"/>
              </a:srgbClr>
            </a:outerShdw>
          </a:effectLst>
        </p:spPr>
      </p:sp>
      <p:sp>
        <p:nvSpPr>
          <p:cNvPr id="29" name="Shape 23"/>
          <p:cNvSpPr/>
          <p:nvPr/>
        </p:nvSpPr>
        <p:spPr>
          <a:xfrm>
            <a:off x="676656" y="5029200"/>
            <a:ext cx="457200" cy="457200"/>
          </a:xfrm>
          <a:prstGeom prst="ellipse">
            <a:avLst/>
          </a:prstGeom>
          <a:solidFill>
            <a:srgbClr val="141A47"/>
          </a:solidFill>
          <a:ln/>
        </p:spPr>
      </p:sp>
      <p:pic>
        <p:nvPicPr>
          <p:cNvPr id="30" name="Image 4" descr="/home/claude/rca_pptx/icons/database.png"/>
          <p:cNvPicPr>
            <a:picLocks noChangeAspect="1"/>
          </p:cNvPicPr>
          <p:nvPr/>
        </p:nvPicPr>
        <p:blipFill>
          <a:blip r:embed="rId7"/>
          <a:stretch>
            <a:fillRect/>
          </a:stretch>
        </p:blipFill>
        <p:spPr>
          <a:xfrm>
            <a:off x="779526" y="5132070"/>
            <a:ext cx="251460" cy="251460"/>
          </a:xfrm>
          <a:prstGeom prst="rect">
            <a:avLst/>
          </a:prstGeom>
        </p:spPr>
      </p:pic>
      <p:sp>
        <p:nvSpPr>
          <p:cNvPr id="31" name="Text 24"/>
          <p:cNvSpPr/>
          <p:nvPr/>
        </p:nvSpPr>
        <p:spPr>
          <a:xfrm>
            <a:off x="1261872" y="4983480"/>
            <a:ext cx="1188720" cy="256032"/>
          </a:xfrm>
          <a:prstGeom prst="rect">
            <a:avLst/>
          </a:prstGeom>
          <a:noFill/>
          <a:ln/>
        </p:spPr>
        <p:txBody>
          <a:bodyPr wrap="square" lIns="0" tIns="0" rIns="0" bIns="0" rtlCol="0" anchor="ctr"/>
          <a:lstStyle/>
          <a:p>
            <a:pPr marL="0" indent="0">
              <a:buNone/>
            </a:pPr>
            <a:r>
              <a:rPr lang="en-US" sz="1050" b="1" dirty="0">
                <a:solidFill>
                  <a:srgbClr val="CADCFC"/>
                </a:solidFill>
                <a:latin typeface="Calibri" pitchFamily="34" charset="0"/>
                <a:ea typeface="Calibri" pitchFamily="34" charset="-122"/>
                <a:cs typeface="Calibri" pitchFamily="34" charset="-120"/>
              </a:rPr>
              <a:t>Why 5</a:t>
            </a:r>
            <a:endParaRPr lang="en-US" sz="1050" dirty="0"/>
          </a:p>
        </p:txBody>
      </p:sp>
      <p:sp>
        <p:nvSpPr>
          <p:cNvPr id="32" name="Text 25"/>
          <p:cNvSpPr/>
          <p:nvPr/>
        </p:nvSpPr>
        <p:spPr>
          <a:xfrm>
            <a:off x="1261872" y="5212080"/>
            <a:ext cx="5623560" cy="32918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Database connection pool is exhausted.</a:t>
            </a:r>
            <a:endParaRPr lang="en-US" sz="1350" dirty="0"/>
          </a:p>
        </p:txBody>
      </p:sp>
      <p:sp>
        <p:nvSpPr>
          <p:cNvPr id="33" name="Shape 26"/>
          <p:cNvSpPr/>
          <p:nvPr/>
        </p:nvSpPr>
        <p:spPr>
          <a:xfrm>
            <a:off x="548640" y="5824728"/>
            <a:ext cx="6492240" cy="566928"/>
          </a:xfrm>
          <a:prstGeom prst="roundRect">
            <a:avLst>
              <a:gd name="adj" fmla="val 14516"/>
            </a:avLst>
          </a:prstGeom>
          <a:solidFill>
            <a:srgbClr val="EAF1FC"/>
          </a:solidFill>
          <a:ln w="15875">
            <a:solidFill>
              <a:srgbClr val="3B5BA5"/>
            </a:solidFill>
            <a:prstDash val="solid"/>
          </a:ln>
        </p:spPr>
      </p:sp>
      <p:sp>
        <p:nvSpPr>
          <p:cNvPr id="34" name="Text 27"/>
          <p:cNvSpPr/>
          <p:nvPr/>
        </p:nvSpPr>
        <p:spPr>
          <a:xfrm>
            <a:off x="731520" y="5824728"/>
            <a:ext cx="6126480" cy="566928"/>
          </a:xfrm>
          <a:prstGeom prst="rect">
            <a:avLst/>
          </a:prstGeom>
          <a:noFill/>
          <a:ln/>
        </p:spPr>
        <p:txBody>
          <a:bodyPr wrap="square" lIns="0" tIns="0" rIns="0" bIns="0"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Root cause: connection leak introduced after deployment</a:t>
            </a:r>
            <a:endParaRPr lang="en-US" sz="1250" dirty="0"/>
          </a:p>
        </p:txBody>
      </p:sp>
      <p:sp>
        <p:nvSpPr>
          <p:cNvPr id="35" name="Shape 28"/>
          <p:cNvSpPr/>
          <p:nvPr/>
        </p:nvSpPr>
        <p:spPr>
          <a:xfrm>
            <a:off x="7452360" y="1417320"/>
            <a:ext cx="4160520" cy="4709160"/>
          </a:xfrm>
          <a:prstGeom prst="roundRect">
            <a:avLst>
              <a:gd name="adj" fmla="val 1758"/>
            </a:avLst>
          </a:prstGeom>
          <a:solidFill>
            <a:srgbClr val="1E2761"/>
          </a:solidFill>
          <a:ln/>
        </p:spPr>
      </p:sp>
      <p:sp>
        <p:nvSpPr>
          <p:cNvPr id="36" name="Shape 29"/>
          <p:cNvSpPr/>
          <p:nvPr/>
        </p:nvSpPr>
        <p:spPr>
          <a:xfrm>
            <a:off x="7772400" y="1737360"/>
            <a:ext cx="640080" cy="640080"/>
          </a:xfrm>
          <a:prstGeom prst="ellipse">
            <a:avLst/>
          </a:prstGeom>
          <a:solidFill>
            <a:srgbClr val="3B5BA5"/>
          </a:solidFill>
          <a:ln/>
        </p:spPr>
      </p:sp>
      <p:pic>
        <p:nvPicPr>
          <p:cNvPr id="37" name="Image 5" descr="/home/claude/rca_pptx/icons/bug.png"/>
          <p:cNvPicPr>
            <a:picLocks noChangeAspect="1"/>
          </p:cNvPicPr>
          <p:nvPr/>
        </p:nvPicPr>
        <p:blipFill>
          <a:blip r:embed="rId8"/>
          <a:stretch>
            <a:fillRect/>
          </a:stretch>
        </p:blipFill>
        <p:spPr>
          <a:xfrm>
            <a:off x="7913218" y="1878178"/>
            <a:ext cx="358445" cy="358445"/>
          </a:xfrm>
          <a:prstGeom prst="rect">
            <a:avLst/>
          </a:prstGeom>
        </p:spPr>
      </p:pic>
      <p:sp>
        <p:nvSpPr>
          <p:cNvPr id="38" name="Text 30"/>
          <p:cNvSpPr/>
          <p:nvPr/>
        </p:nvSpPr>
        <p:spPr>
          <a:xfrm>
            <a:off x="8549640" y="1783080"/>
            <a:ext cx="2880360" cy="4572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Conclusion</a:t>
            </a:r>
            <a:endParaRPr lang="en-US" sz="1700" dirty="0"/>
          </a:p>
        </p:txBody>
      </p:sp>
      <p:sp>
        <p:nvSpPr>
          <p:cNvPr id="39" name="Text 31"/>
          <p:cNvSpPr/>
          <p:nvPr/>
        </p:nvSpPr>
        <p:spPr>
          <a:xfrm>
            <a:off x="7772400" y="2560320"/>
            <a:ext cx="3520440" cy="1645920"/>
          </a:xfrm>
          <a:prstGeom prst="rect">
            <a:avLst/>
          </a:prstGeom>
          <a:noFill/>
          <a:ln/>
        </p:spPr>
        <p:txBody>
          <a:bodyPr wrap="square" lIns="0" tIns="0" rIns="0" bIns="0" rtlCol="0" anchor="ctr"/>
          <a:lstStyle/>
          <a:p>
            <a:pPr marL="0" indent="0">
              <a:lnSpc>
                <a:spcPct val="125000"/>
              </a:lnSpc>
              <a:buNone/>
            </a:pPr>
            <a:r>
              <a:rPr lang="en-US" sz="1300" dirty="0">
                <a:solidFill>
                  <a:srgbClr val="CADCFC"/>
                </a:solidFill>
                <a:latin typeface="Calibri" pitchFamily="34" charset="0"/>
                <a:ea typeface="Calibri" pitchFamily="34" charset="-122"/>
                <a:cs typeface="Calibri" pitchFamily="34" charset="-120"/>
              </a:rPr>
              <a:t>The 5 Whys trace ends at a database connection leak that began after a recent deployment. Unreleased connections steadily exhausted the pool until authentication could no longer reach the database — blocking every login.</a:t>
            </a:r>
            <a:endParaRPr lang="en-US" sz="1300" dirty="0"/>
          </a:p>
        </p:txBody>
      </p:sp>
      <p:sp>
        <p:nvSpPr>
          <p:cNvPr id="40" name="Shape 32"/>
          <p:cNvSpPr/>
          <p:nvPr/>
        </p:nvSpPr>
        <p:spPr>
          <a:xfrm>
            <a:off x="7772400" y="4434840"/>
            <a:ext cx="3520440" cy="0"/>
          </a:xfrm>
          <a:prstGeom prst="line">
            <a:avLst/>
          </a:prstGeom>
          <a:noFill/>
          <a:ln w="12700">
            <a:solidFill>
              <a:srgbClr val="3B5BA5"/>
            </a:solidFill>
            <a:prstDash val="solid"/>
          </a:ln>
        </p:spPr>
      </p:sp>
      <p:sp>
        <p:nvSpPr>
          <p:cNvPr id="41" name="Text 33"/>
          <p:cNvSpPr/>
          <p:nvPr/>
        </p:nvSpPr>
        <p:spPr>
          <a:xfrm>
            <a:off x="7772400" y="4617720"/>
            <a:ext cx="3520440" cy="292608"/>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Root Cause Identified</a:t>
            </a:r>
            <a:endParaRPr lang="en-US" sz="1200" dirty="0"/>
          </a:p>
        </p:txBody>
      </p:sp>
      <p:sp>
        <p:nvSpPr>
          <p:cNvPr id="42" name="Text 34"/>
          <p:cNvSpPr/>
          <p:nvPr/>
        </p:nvSpPr>
        <p:spPr>
          <a:xfrm>
            <a:off x="7772400" y="4892040"/>
            <a:ext cx="3520440" cy="640080"/>
          </a:xfrm>
          <a:prstGeom prst="rect">
            <a:avLst/>
          </a:prstGeom>
          <a:noFill/>
          <a:ln/>
        </p:spPr>
        <p:txBody>
          <a:bodyPr wrap="square" lIns="0" tIns="0" rIns="0" bIns="0" rtlCol="0" anchor="ctr"/>
          <a:lstStyle/>
          <a:p>
            <a:pPr marL="0" indent="0">
              <a:lnSpc>
                <a:spcPct val="110000"/>
              </a:lnSpc>
              <a:buNone/>
            </a:pPr>
            <a:r>
              <a:rPr lang="en-US" sz="1600" b="1" dirty="0">
                <a:solidFill>
                  <a:srgbClr val="FFFFFF"/>
                </a:solidFill>
                <a:latin typeface="Cambria" pitchFamily="34" charset="0"/>
                <a:ea typeface="Cambria" pitchFamily="34" charset="-122"/>
                <a:cs typeface="Cambria" pitchFamily="34" charset="-120"/>
              </a:rPr>
              <a:t>Database connection leak after deployment</a:t>
            </a:r>
            <a:endParaRPr lang="en-US" sz="1600" dirty="0"/>
          </a:p>
        </p:txBody>
      </p:sp>
      <p:sp>
        <p:nvSpPr>
          <p:cNvPr id="43" name="Text 35"/>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1000" dirty="0"/>
          </a:p>
        </p:txBody>
      </p:sp>
      <p:sp>
        <p:nvSpPr>
          <p:cNvPr id="44" name="Text 36"/>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rgbClr val="1E2761">
                    <a:alpha val="70000"/>
                  </a:srgbClr>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029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Root Cause Analysis (RCA)</a:t>
            </a:r>
            <a:endParaRPr lang="en-US" sz="3000" dirty="0"/>
          </a:p>
        </p:txBody>
      </p:sp>
      <p:sp>
        <p:nvSpPr>
          <p:cNvPr id="3" name="Text 1"/>
          <p:cNvSpPr/>
          <p:nvPr/>
        </p:nvSpPr>
        <p:spPr>
          <a:xfrm>
            <a:off x="548640" y="868680"/>
            <a:ext cx="9144000" cy="320040"/>
          </a:xfrm>
          <a:prstGeom prst="rect">
            <a:avLst/>
          </a:prstGeom>
          <a:noFill/>
          <a:ln/>
        </p:spPr>
        <p:txBody>
          <a:bodyPr wrap="square" lIns="0" tIns="0" rIns="0" bIns="0" rtlCol="0" anchor="ctr"/>
          <a:lstStyle/>
          <a:p>
            <a:pPr marL="0" indent="0">
              <a:buNone/>
            </a:pPr>
            <a:r>
              <a:rPr lang="en-US" sz="1300" i="1" dirty="0">
                <a:solidFill>
                  <a:srgbClr val="3B5BA5"/>
                </a:solidFill>
                <a:latin typeface="Calibri" pitchFamily="34" charset="0"/>
                <a:ea typeface="Calibri" pitchFamily="34" charset="-122"/>
                <a:cs typeface="Calibri" pitchFamily="34" charset="-120"/>
              </a:rPr>
              <a:t>Cause-and-effect view of the incident</a:t>
            </a:r>
            <a:endParaRPr lang="en-US" sz="1300" dirty="0"/>
          </a:p>
        </p:txBody>
      </p:sp>
      <p:sp>
        <p:nvSpPr>
          <p:cNvPr id="4" name="Shape 2"/>
          <p:cNvSpPr/>
          <p:nvPr/>
        </p:nvSpPr>
        <p:spPr>
          <a:xfrm>
            <a:off x="548640" y="1234440"/>
            <a:ext cx="11109960" cy="777240"/>
          </a:xfrm>
          <a:prstGeom prst="roundRect">
            <a:avLst>
              <a:gd name="adj" fmla="val 9412"/>
            </a:avLst>
          </a:prstGeom>
          <a:solidFill>
            <a:srgbClr val="EAF1FC"/>
          </a:solidFill>
          <a:ln w="12700">
            <a:solidFill>
              <a:srgbClr val="3B5BA5"/>
            </a:solidFill>
            <a:prstDash val="solid"/>
          </a:ln>
        </p:spPr>
      </p:sp>
      <p:sp>
        <p:nvSpPr>
          <p:cNvPr id="5" name="Shape 3"/>
          <p:cNvSpPr/>
          <p:nvPr/>
        </p:nvSpPr>
        <p:spPr>
          <a:xfrm>
            <a:off x="731520" y="1353312"/>
            <a:ext cx="548640" cy="548640"/>
          </a:xfrm>
          <a:prstGeom prst="ellipse">
            <a:avLst/>
          </a:prstGeom>
          <a:solidFill>
            <a:srgbClr val="1E2761"/>
          </a:solidFill>
          <a:ln/>
        </p:spPr>
      </p:sp>
      <p:pic>
        <p:nvPicPr>
          <p:cNvPr id="6" name="Image 0" descr="/home/claude/rca_pptx/icons/database.png"/>
          <p:cNvPicPr>
            <a:picLocks noChangeAspect="1"/>
          </p:cNvPicPr>
          <p:nvPr/>
        </p:nvPicPr>
        <p:blipFill>
          <a:blip r:embed="rId3"/>
          <a:stretch>
            <a:fillRect/>
          </a:stretch>
        </p:blipFill>
        <p:spPr>
          <a:xfrm>
            <a:off x="852221" y="1474013"/>
            <a:ext cx="307238" cy="307238"/>
          </a:xfrm>
          <a:prstGeom prst="rect">
            <a:avLst/>
          </a:prstGeom>
        </p:spPr>
      </p:pic>
      <p:sp>
        <p:nvSpPr>
          <p:cNvPr id="7" name="Text 4"/>
          <p:cNvSpPr/>
          <p:nvPr/>
        </p:nvSpPr>
        <p:spPr>
          <a:xfrm>
            <a:off x="1463040" y="1298448"/>
            <a:ext cx="9966960" cy="658368"/>
          </a:xfrm>
          <a:prstGeom prst="rect">
            <a:avLst/>
          </a:prstGeom>
          <a:noFill/>
          <a:ln/>
        </p:spPr>
        <p:txBody>
          <a:bodyPr wrap="square" lIns="0" tIns="0" rIns="0" bIns="0" rtlCol="0" anchor="ctr"/>
          <a:lstStyle/>
          <a:p>
            <a:pPr marL="0" indent="0">
              <a:lnSpc>
                <a:spcPct val="112000"/>
              </a:lnSpc>
              <a:buNone/>
            </a:pPr>
            <a:r>
              <a:rPr lang="en-US" sz="1200" b="1" dirty="0">
                <a:solidFill>
                  <a:srgbClr val="1E2761"/>
                </a:solidFill>
                <a:latin typeface="Calibri" pitchFamily="34" charset="0"/>
                <a:ea typeface="Calibri" pitchFamily="34" charset="-122"/>
                <a:cs typeface="Calibri" pitchFamily="34" charset="-120"/>
              </a:rPr>
              <a:t>Root Cause: </a:t>
            </a:r>
            <a:r>
              <a:rPr lang="en-US" sz="1200" dirty="0">
                <a:solidFill>
                  <a:srgbClr val="4A4F63"/>
                </a:solidFill>
                <a:latin typeface="Calibri" pitchFamily="34" charset="0"/>
                <a:ea typeface="Calibri" pitchFamily="34" charset="-122"/>
                <a:cs typeface="Calibri" pitchFamily="34" charset="-120"/>
              </a:rPr>
              <a:t>A recent deployment introduced a database connection leak, exhausting the connection pool and preventing authentication requests from accessing user data.</a:t>
            </a:r>
            <a:endParaRPr lang="en-US" sz="1200" dirty="0"/>
          </a:p>
        </p:txBody>
      </p:sp>
      <p:sp>
        <p:nvSpPr>
          <p:cNvPr id="8" name="Shape 5"/>
          <p:cNvSpPr/>
          <p:nvPr/>
        </p:nvSpPr>
        <p:spPr>
          <a:xfrm>
            <a:off x="1371600" y="4114800"/>
            <a:ext cx="8595360" cy="0"/>
          </a:xfrm>
          <a:prstGeom prst="line">
            <a:avLst/>
          </a:prstGeom>
          <a:noFill/>
          <a:ln w="31750">
            <a:solidFill>
              <a:srgbClr val="1E2761"/>
            </a:solidFill>
            <a:prstDash val="solid"/>
          </a:ln>
        </p:spPr>
      </p:sp>
      <p:sp>
        <p:nvSpPr>
          <p:cNvPr id="9" name="Shape 6"/>
          <p:cNvSpPr/>
          <p:nvPr/>
        </p:nvSpPr>
        <p:spPr>
          <a:xfrm rot="5400000">
            <a:off x="9921240" y="3913632"/>
            <a:ext cx="402336" cy="402336"/>
          </a:xfrm>
          <a:prstGeom prst="triangle">
            <a:avLst/>
          </a:prstGeom>
          <a:solidFill>
            <a:srgbClr val="1E2761"/>
          </a:solidFill>
          <a:ln/>
        </p:spPr>
      </p:sp>
      <p:sp>
        <p:nvSpPr>
          <p:cNvPr id="10" name="Shape 7"/>
          <p:cNvSpPr/>
          <p:nvPr/>
        </p:nvSpPr>
        <p:spPr>
          <a:xfrm>
            <a:off x="10104120" y="3657600"/>
            <a:ext cx="1783080" cy="914400"/>
          </a:xfrm>
          <a:prstGeom prst="roundRect">
            <a:avLst>
              <a:gd name="adj" fmla="val 8000"/>
            </a:avLst>
          </a:prstGeom>
          <a:solidFill>
            <a:srgbClr val="1E2761"/>
          </a:solidFill>
          <a:ln/>
        </p:spPr>
      </p:sp>
      <p:sp>
        <p:nvSpPr>
          <p:cNvPr id="11" name="Text 8"/>
          <p:cNvSpPr/>
          <p:nvPr/>
        </p:nvSpPr>
        <p:spPr>
          <a:xfrm>
            <a:off x="10104120" y="3657600"/>
            <a:ext cx="1783080"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Login</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Failure</a:t>
            </a:r>
            <a:endParaRPr lang="en-US" sz="1400" dirty="0"/>
          </a:p>
        </p:txBody>
      </p:sp>
      <p:sp>
        <p:nvSpPr>
          <p:cNvPr id="12" name="Shape 9"/>
          <p:cNvSpPr/>
          <p:nvPr/>
        </p:nvSpPr>
        <p:spPr>
          <a:xfrm>
            <a:off x="457200" y="3858768"/>
            <a:ext cx="914400" cy="512064"/>
          </a:xfrm>
          <a:prstGeom prst="roundRect">
            <a:avLst>
              <a:gd name="adj" fmla="val 10714"/>
            </a:avLst>
          </a:prstGeom>
          <a:solidFill>
            <a:srgbClr val="3B5BA5"/>
          </a:solidFill>
          <a:ln/>
        </p:spPr>
      </p:sp>
      <p:sp>
        <p:nvSpPr>
          <p:cNvPr id="13" name="Text 10"/>
          <p:cNvSpPr/>
          <p:nvPr/>
        </p:nvSpPr>
        <p:spPr>
          <a:xfrm>
            <a:off x="457200" y="3858768"/>
            <a:ext cx="9144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Cause</a:t>
            </a:r>
            <a:endParaRPr lang="en-US" sz="1000" dirty="0"/>
          </a:p>
        </p:txBody>
      </p:sp>
      <p:sp>
        <p:nvSpPr>
          <p:cNvPr id="14" name="Shape 11"/>
          <p:cNvSpPr/>
          <p:nvPr/>
        </p:nvSpPr>
        <p:spPr>
          <a:xfrm flipV="1">
            <a:off x="2880360" y="3108960"/>
            <a:ext cx="822960" cy="1005840"/>
          </a:xfrm>
          <a:prstGeom prst="line">
            <a:avLst/>
          </a:prstGeom>
          <a:noFill/>
          <a:ln w="25400">
            <a:solidFill>
              <a:srgbClr val="3B5BA5"/>
            </a:solidFill>
            <a:prstDash val="solid"/>
          </a:ln>
        </p:spPr>
      </p:sp>
      <p:sp>
        <p:nvSpPr>
          <p:cNvPr id="15" name="Shape 12"/>
          <p:cNvSpPr/>
          <p:nvPr/>
        </p:nvSpPr>
        <p:spPr>
          <a:xfrm>
            <a:off x="2377440" y="2331720"/>
            <a:ext cx="1828800" cy="777240"/>
          </a:xfrm>
          <a:prstGeom prst="roundRect">
            <a:avLst>
              <a:gd name="adj" fmla="val 8235"/>
            </a:avLst>
          </a:prstGeom>
          <a:solidFill>
            <a:srgbClr val="EAF1FC"/>
          </a:solidFill>
          <a:ln w="9525">
            <a:solidFill>
              <a:srgbClr val="3B5BA5"/>
            </a:solidFill>
            <a:prstDash val="solid"/>
          </a:ln>
        </p:spPr>
      </p:sp>
      <p:sp>
        <p:nvSpPr>
          <p:cNvPr id="16" name="Shape 13"/>
          <p:cNvSpPr/>
          <p:nvPr/>
        </p:nvSpPr>
        <p:spPr>
          <a:xfrm>
            <a:off x="2514600" y="2423160"/>
            <a:ext cx="365760" cy="365760"/>
          </a:xfrm>
          <a:prstGeom prst="ellipse">
            <a:avLst/>
          </a:prstGeom>
          <a:solidFill>
            <a:srgbClr val="3B5BA5"/>
          </a:solidFill>
          <a:ln/>
        </p:spPr>
      </p:sp>
      <p:pic>
        <p:nvPicPr>
          <p:cNvPr id="17" name="Image 1" descr="/home/claude/rca_pptx/icons/bell.png"/>
          <p:cNvPicPr>
            <a:picLocks noChangeAspect="1"/>
          </p:cNvPicPr>
          <p:nvPr/>
        </p:nvPicPr>
        <p:blipFill>
          <a:blip r:embed="rId4"/>
          <a:stretch>
            <a:fillRect/>
          </a:stretch>
        </p:blipFill>
        <p:spPr>
          <a:xfrm>
            <a:off x="2595067" y="2503627"/>
            <a:ext cx="204826" cy="204826"/>
          </a:xfrm>
          <a:prstGeom prst="rect">
            <a:avLst/>
          </a:prstGeom>
        </p:spPr>
      </p:pic>
      <p:sp>
        <p:nvSpPr>
          <p:cNvPr id="18" name="Text 14"/>
          <p:cNvSpPr/>
          <p:nvPr/>
        </p:nvSpPr>
        <p:spPr>
          <a:xfrm>
            <a:off x="2935224" y="2386584"/>
            <a:ext cx="118872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Monitoring</a:t>
            </a:r>
            <a:endParaRPr lang="en-US" sz="1050" dirty="0"/>
          </a:p>
        </p:txBody>
      </p:sp>
      <p:sp>
        <p:nvSpPr>
          <p:cNvPr id="19" name="Text 15"/>
          <p:cNvSpPr/>
          <p:nvPr/>
        </p:nvSpPr>
        <p:spPr>
          <a:xfrm>
            <a:off x="2423160" y="2715768"/>
            <a:ext cx="1783080" cy="384048"/>
          </a:xfrm>
          <a:prstGeom prst="rect">
            <a:avLst/>
          </a:prstGeom>
          <a:noFill/>
          <a:ln/>
        </p:spPr>
        <p:txBody>
          <a:bodyPr wrap="square" lIns="0" tIns="0" rIns="0" bIns="0" rtlCol="0" anchor="ctr"/>
          <a:lstStyle/>
          <a:p>
            <a:pPr marL="0" indent="0" algn="l">
              <a:lnSpc>
                <a:spcPct val="105000"/>
              </a:lnSpc>
              <a:buNone/>
            </a:pPr>
            <a:r>
              <a:rPr lang="en-US" sz="950" dirty="0">
                <a:solidFill>
                  <a:srgbClr val="4A4F63"/>
                </a:solidFill>
                <a:latin typeface="Calibri" pitchFamily="34" charset="0"/>
                <a:ea typeface="Calibri" pitchFamily="34" charset="-122"/>
                <a:cs typeface="Calibri" pitchFamily="34" charset="-120"/>
              </a:rPr>
              <a:t>Lack of monitoring</a:t>
            </a:r>
            <a:endParaRPr lang="en-US" sz="950" dirty="0"/>
          </a:p>
        </p:txBody>
      </p:sp>
      <p:sp>
        <p:nvSpPr>
          <p:cNvPr id="20" name="Shape 16"/>
          <p:cNvSpPr/>
          <p:nvPr/>
        </p:nvSpPr>
        <p:spPr>
          <a:xfrm flipV="1">
            <a:off x="6035040" y="3108960"/>
            <a:ext cx="822960" cy="1005840"/>
          </a:xfrm>
          <a:prstGeom prst="line">
            <a:avLst/>
          </a:prstGeom>
          <a:noFill/>
          <a:ln w="25400">
            <a:solidFill>
              <a:srgbClr val="3B5BA5"/>
            </a:solidFill>
            <a:prstDash val="solid"/>
          </a:ln>
        </p:spPr>
      </p:sp>
      <p:sp>
        <p:nvSpPr>
          <p:cNvPr id="21" name="Shape 17"/>
          <p:cNvSpPr/>
          <p:nvPr/>
        </p:nvSpPr>
        <p:spPr>
          <a:xfrm>
            <a:off x="5532120" y="2331720"/>
            <a:ext cx="1828800" cy="777240"/>
          </a:xfrm>
          <a:prstGeom prst="roundRect">
            <a:avLst>
              <a:gd name="adj" fmla="val 8235"/>
            </a:avLst>
          </a:prstGeom>
          <a:solidFill>
            <a:srgbClr val="EAF1FC"/>
          </a:solidFill>
          <a:ln w="9525">
            <a:solidFill>
              <a:srgbClr val="3B5BA5"/>
            </a:solidFill>
            <a:prstDash val="solid"/>
          </a:ln>
        </p:spPr>
      </p:sp>
      <p:sp>
        <p:nvSpPr>
          <p:cNvPr id="22" name="Shape 18"/>
          <p:cNvSpPr/>
          <p:nvPr/>
        </p:nvSpPr>
        <p:spPr>
          <a:xfrm>
            <a:off x="5669280" y="2423160"/>
            <a:ext cx="365760" cy="365760"/>
          </a:xfrm>
          <a:prstGeom prst="ellipse">
            <a:avLst/>
          </a:prstGeom>
          <a:solidFill>
            <a:srgbClr val="3B5BA5"/>
          </a:solidFill>
          <a:ln/>
        </p:spPr>
      </p:sp>
      <p:pic>
        <p:nvPicPr>
          <p:cNvPr id="23" name="Image 2" descr="/home/claude/rca_pptx/icons/flask.png"/>
          <p:cNvPicPr>
            <a:picLocks noChangeAspect="1"/>
          </p:cNvPicPr>
          <p:nvPr/>
        </p:nvPicPr>
        <p:blipFill>
          <a:blip r:embed="rId5"/>
          <a:stretch>
            <a:fillRect/>
          </a:stretch>
        </p:blipFill>
        <p:spPr>
          <a:xfrm>
            <a:off x="5749747" y="2503627"/>
            <a:ext cx="204826" cy="204826"/>
          </a:xfrm>
          <a:prstGeom prst="rect">
            <a:avLst/>
          </a:prstGeom>
        </p:spPr>
      </p:pic>
      <p:sp>
        <p:nvSpPr>
          <p:cNvPr id="24" name="Text 19"/>
          <p:cNvSpPr/>
          <p:nvPr/>
        </p:nvSpPr>
        <p:spPr>
          <a:xfrm>
            <a:off x="6089904" y="2386584"/>
            <a:ext cx="118872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Testing</a:t>
            </a:r>
            <a:endParaRPr lang="en-US" sz="1050" dirty="0"/>
          </a:p>
        </p:txBody>
      </p:sp>
      <p:sp>
        <p:nvSpPr>
          <p:cNvPr id="25" name="Text 20"/>
          <p:cNvSpPr/>
          <p:nvPr/>
        </p:nvSpPr>
        <p:spPr>
          <a:xfrm>
            <a:off x="5577840" y="2715768"/>
            <a:ext cx="1783080" cy="384048"/>
          </a:xfrm>
          <a:prstGeom prst="rect">
            <a:avLst/>
          </a:prstGeom>
          <a:noFill/>
          <a:ln/>
        </p:spPr>
        <p:txBody>
          <a:bodyPr wrap="square" lIns="0" tIns="0" rIns="0" bIns="0" rtlCol="0" anchor="ctr"/>
          <a:lstStyle/>
          <a:p>
            <a:pPr marL="0" indent="0" algn="l">
              <a:lnSpc>
                <a:spcPct val="105000"/>
              </a:lnSpc>
              <a:buNone/>
            </a:pPr>
            <a:r>
              <a:rPr lang="en-US" sz="950" dirty="0">
                <a:solidFill>
                  <a:srgbClr val="4A4F63"/>
                </a:solidFill>
                <a:latin typeface="Calibri" pitchFamily="34" charset="0"/>
                <a:ea typeface="Calibri" pitchFamily="34" charset="-122"/>
                <a:cs typeface="Calibri" pitchFamily="34" charset="-120"/>
              </a:rPr>
              <a:t>Insufficient pre-deploy testing</a:t>
            </a:r>
            <a:endParaRPr lang="en-US" sz="950" dirty="0"/>
          </a:p>
        </p:txBody>
      </p:sp>
      <p:sp>
        <p:nvSpPr>
          <p:cNvPr id="26" name="Shape 21"/>
          <p:cNvSpPr/>
          <p:nvPr/>
        </p:nvSpPr>
        <p:spPr>
          <a:xfrm>
            <a:off x="2880360" y="4114800"/>
            <a:ext cx="822960" cy="1005840"/>
          </a:xfrm>
          <a:prstGeom prst="line">
            <a:avLst/>
          </a:prstGeom>
          <a:noFill/>
          <a:ln w="25400">
            <a:solidFill>
              <a:srgbClr val="3B5BA5"/>
            </a:solidFill>
            <a:prstDash val="solid"/>
          </a:ln>
        </p:spPr>
      </p:sp>
      <p:sp>
        <p:nvSpPr>
          <p:cNvPr id="27" name="Shape 22"/>
          <p:cNvSpPr/>
          <p:nvPr/>
        </p:nvSpPr>
        <p:spPr>
          <a:xfrm>
            <a:off x="2377440" y="5285232"/>
            <a:ext cx="1828800" cy="777240"/>
          </a:xfrm>
          <a:prstGeom prst="roundRect">
            <a:avLst>
              <a:gd name="adj" fmla="val 8235"/>
            </a:avLst>
          </a:prstGeom>
          <a:solidFill>
            <a:srgbClr val="EAF1FC"/>
          </a:solidFill>
          <a:ln w="9525">
            <a:solidFill>
              <a:srgbClr val="3B5BA5"/>
            </a:solidFill>
            <a:prstDash val="solid"/>
          </a:ln>
        </p:spPr>
      </p:sp>
      <p:sp>
        <p:nvSpPr>
          <p:cNvPr id="28" name="Shape 23"/>
          <p:cNvSpPr/>
          <p:nvPr/>
        </p:nvSpPr>
        <p:spPr>
          <a:xfrm>
            <a:off x="2514600" y="5376672"/>
            <a:ext cx="365760" cy="365760"/>
          </a:xfrm>
          <a:prstGeom prst="ellipse">
            <a:avLst/>
          </a:prstGeom>
          <a:solidFill>
            <a:srgbClr val="3B5BA5"/>
          </a:solidFill>
          <a:ln/>
        </p:spPr>
      </p:sp>
      <p:pic>
        <p:nvPicPr>
          <p:cNvPr id="29" name="Image 3" descr="/home/claude/rca_pptx/icons/redo.png"/>
          <p:cNvPicPr>
            <a:picLocks noChangeAspect="1"/>
          </p:cNvPicPr>
          <p:nvPr/>
        </p:nvPicPr>
        <p:blipFill>
          <a:blip r:embed="rId6"/>
          <a:stretch>
            <a:fillRect/>
          </a:stretch>
        </p:blipFill>
        <p:spPr>
          <a:xfrm>
            <a:off x="2595067" y="5457139"/>
            <a:ext cx="204826" cy="204826"/>
          </a:xfrm>
          <a:prstGeom prst="rect">
            <a:avLst/>
          </a:prstGeom>
        </p:spPr>
      </p:pic>
      <p:sp>
        <p:nvSpPr>
          <p:cNvPr id="30" name="Text 24"/>
          <p:cNvSpPr/>
          <p:nvPr/>
        </p:nvSpPr>
        <p:spPr>
          <a:xfrm>
            <a:off x="2935224" y="5340096"/>
            <a:ext cx="118872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Deployment</a:t>
            </a:r>
            <a:endParaRPr lang="en-US" sz="1050" dirty="0"/>
          </a:p>
        </p:txBody>
      </p:sp>
      <p:sp>
        <p:nvSpPr>
          <p:cNvPr id="31" name="Text 25"/>
          <p:cNvSpPr/>
          <p:nvPr/>
        </p:nvSpPr>
        <p:spPr>
          <a:xfrm>
            <a:off x="2423160" y="5669280"/>
            <a:ext cx="1783080" cy="384048"/>
          </a:xfrm>
          <a:prstGeom prst="rect">
            <a:avLst/>
          </a:prstGeom>
          <a:noFill/>
          <a:ln/>
        </p:spPr>
        <p:txBody>
          <a:bodyPr wrap="square" lIns="0" tIns="0" rIns="0" bIns="0" rtlCol="0" anchor="ctr"/>
          <a:lstStyle/>
          <a:p>
            <a:pPr marL="0" indent="0" algn="l">
              <a:lnSpc>
                <a:spcPct val="105000"/>
              </a:lnSpc>
              <a:buNone/>
            </a:pPr>
            <a:r>
              <a:rPr lang="en-US" sz="950" dirty="0">
                <a:solidFill>
                  <a:srgbClr val="4A4F63"/>
                </a:solidFill>
                <a:latin typeface="Calibri" pitchFamily="34" charset="0"/>
                <a:ea typeface="Calibri" pitchFamily="34" charset="-122"/>
                <a:cs typeface="Calibri" pitchFamily="34" charset="-120"/>
              </a:rPr>
              <a:t>No automatic rollback mechanism</a:t>
            </a:r>
            <a:endParaRPr lang="en-US" sz="950" dirty="0"/>
          </a:p>
        </p:txBody>
      </p:sp>
      <p:sp>
        <p:nvSpPr>
          <p:cNvPr id="32" name="Shape 26"/>
          <p:cNvSpPr/>
          <p:nvPr/>
        </p:nvSpPr>
        <p:spPr>
          <a:xfrm>
            <a:off x="6035040" y="4114800"/>
            <a:ext cx="822960" cy="1005840"/>
          </a:xfrm>
          <a:prstGeom prst="line">
            <a:avLst/>
          </a:prstGeom>
          <a:noFill/>
          <a:ln w="25400">
            <a:solidFill>
              <a:srgbClr val="3B5BA5"/>
            </a:solidFill>
            <a:prstDash val="solid"/>
          </a:ln>
        </p:spPr>
      </p:sp>
      <p:sp>
        <p:nvSpPr>
          <p:cNvPr id="33" name="Shape 27"/>
          <p:cNvSpPr/>
          <p:nvPr/>
        </p:nvSpPr>
        <p:spPr>
          <a:xfrm>
            <a:off x="5532120" y="5285232"/>
            <a:ext cx="1828800" cy="777240"/>
          </a:xfrm>
          <a:prstGeom prst="roundRect">
            <a:avLst>
              <a:gd name="adj" fmla="val 8235"/>
            </a:avLst>
          </a:prstGeom>
          <a:solidFill>
            <a:srgbClr val="EAF1FC"/>
          </a:solidFill>
          <a:ln w="9525">
            <a:solidFill>
              <a:srgbClr val="3B5BA5"/>
            </a:solidFill>
            <a:prstDash val="solid"/>
          </a:ln>
        </p:spPr>
      </p:sp>
      <p:sp>
        <p:nvSpPr>
          <p:cNvPr id="34" name="Shape 28"/>
          <p:cNvSpPr/>
          <p:nvPr/>
        </p:nvSpPr>
        <p:spPr>
          <a:xfrm>
            <a:off x="5669280" y="5376672"/>
            <a:ext cx="365760" cy="365760"/>
          </a:xfrm>
          <a:prstGeom prst="ellipse">
            <a:avLst/>
          </a:prstGeom>
          <a:solidFill>
            <a:srgbClr val="3B5BA5"/>
          </a:solidFill>
          <a:ln/>
        </p:spPr>
      </p:sp>
      <p:pic>
        <p:nvPicPr>
          <p:cNvPr id="35" name="Image 4" descr="/home/claude/rca_pptx/icons/clock.png"/>
          <p:cNvPicPr>
            <a:picLocks noChangeAspect="1"/>
          </p:cNvPicPr>
          <p:nvPr/>
        </p:nvPicPr>
        <p:blipFill>
          <a:blip r:embed="rId7"/>
          <a:stretch>
            <a:fillRect/>
          </a:stretch>
        </p:blipFill>
        <p:spPr>
          <a:xfrm>
            <a:off x="5749747" y="5457139"/>
            <a:ext cx="204826" cy="204826"/>
          </a:xfrm>
          <a:prstGeom prst="rect">
            <a:avLst/>
          </a:prstGeom>
        </p:spPr>
      </p:pic>
      <p:sp>
        <p:nvSpPr>
          <p:cNvPr id="36" name="Text 29"/>
          <p:cNvSpPr/>
          <p:nvPr/>
        </p:nvSpPr>
        <p:spPr>
          <a:xfrm>
            <a:off x="6089904" y="5340096"/>
            <a:ext cx="118872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Detection</a:t>
            </a:r>
            <a:endParaRPr lang="en-US" sz="1050" dirty="0"/>
          </a:p>
        </p:txBody>
      </p:sp>
      <p:sp>
        <p:nvSpPr>
          <p:cNvPr id="37" name="Text 30"/>
          <p:cNvSpPr/>
          <p:nvPr/>
        </p:nvSpPr>
        <p:spPr>
          <a:xfrm>
            <a:off x="5577840" y="5669280"/>
            <a:ext cx="1783080" cy="384048"/>
          </a:xfrm>
          <a:prstGeom prst="rect">
            <a:avLst/>
          </a:prstGeom>
          <a:noFill/>
          <a:ln/>
        </p:spPr>
        <p:txBody>
          <a:bodyPr wrap="square" lIns="0" tIns="0" rIns="0" bIns="0" rtlCol="0" anchor="ctr"/>
          <a:lstStyle/>
          <a:p>
            <a:pPr marL="0" indent="0" algn="l">
              <a:lnSpc>
                <a:spcPct val="105000"/>
              </a:lnSpc>
              <a:buNone/>
            </a:pPr>
            <a:r>
              <a:rPr lang="en-US" sz="950" dirty="0">
                <a:solidFill>
                  <a:srgbClr val="4A4F63"/>
                </a:solidFill>
                <a:latin typeface="Calibri" pitchFamily="34" charset="0"/>
                <a:ea typeface="Calibri" pitchFamily="34" charset="-122"/>
                <a:cs typeface="Calibri" pitchFamily="34" charset="-120"/>
              </a:rPr>
              <a:t>Delayed detection of the issue</a:t>
            </a:r>
            <a:endParaRPr lang="en-US" sz="950" dirty="0"/>
          </a:p>
        </p:txBody>
      </p:sp>
      <p:sp>
        <p:nvSpPr>
          <p:cNvPr id="38" name="Text 31"/>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1000" dirty="0"/>
          </a:p>
        </p:txBody>
      </p:sp>
      <p:sp>
        <p:nvSpPr>
          <p:cNvPr id="39" name="Text 3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rgbClr val="1E2761">
                    <a:alpha val="70000"/>
                  </a:srgbClr>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029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Resolution Steps</a:t>
            </a:r>
            <a:endParaRPr lang="en-US" sz="3000" dirty="0"/>
          </a:p>
        </p:txBody>
      </p:sp>
      <p:sp>
        <p:nvSpPr>
          <p:cNvPr id="3" name="Text 1"/>
          <p:cNvSpPr/>
          <p:nvPr/>
        </p:nvSpPr>
        <p:spPr>
          <a:xfrm>
            <a:off x="548640" y="868680"/>
            <a:ext cx="9144000" cy="320040"/>
          </a:xfrm>
          <a:prstGeom prst="rect">
            <a:avLst/>
          </a:prstGeom>
          <a:noFill/>
          <a:ln/>
        </p:spPr>
        <p:txBody>
          <a:bodyPr wrap="square" lIns="0" tIns="0" rIns="0" bIns="0" rtlCol="0" anchor="ctr"/>
          <a:lstStyle/>
          <a:p>
            <a:pPr marL="0" indent="0">
              <a:buNone/>
            </a:pPr>
            <a:r>
              <a:rPr lang="en-US" sz="1300" i="1" dirty="0">
                <a:solidFill>
                  <a:srgbClr val="3B5BA5"/>
                </a:solidFill>
                <a:latin typeface="Calibri" pitchFamily="34" charset="0"/>
                <a:ea typeface="Calibri" pitchFamily="34" charset="-122"/>
                <a:cs typeface="Calibri" pitchFamily="34" charset="-120"/>
              </a:rPr>
              <a:t>Incident response timeline</a:t>
            </a:r>
            <a:endParaRPr lang="en-US" sz="1300" dirty="0"/>
          </a:p>
        </p:txBody>
      </p:sp>
      <p:sp>
        <p:nvSpPr>
          <p:cNvPr id="4" name="Shape 2"/>
          <p:cNvSpPr/>
          <p:nvPr/>
        </p:nvSpPr>
        <p:spPr>
          <a:xfrm>
            <a:off x="1051560" y="2880360"/>
            <a:ext cx="10104120" cy="0"/>
          </a:xfrm>
          <a:prstGeom prst="line">
            <a:avLst/>
          </a:prstGeom>
          <a:noFill/>
          <a:ln w="50800">
            <a:solidFill>
              <a:srgbClr val="CADCFC"/>
            </a:solidFill>
            <a:prstDash val="solid"/>
          </a:ln>
        </p:spPr>
      </p:sp>
      <p:sp>
        <p:nvSpPr>
          <p:cNvPr id="5" name="Shape 3"/>
          <p:cNvSpPr/>
          <p:nvPr/>
        </p:nvSpPr>
        <p:spPr>
          <a:xfrm>
            <a:off x="731520" y="2560320"/>
            <a:ext cx="640080" cy="640080"/>
          </a:xfrm>
          <a:prstGeom prst="ellipse">
            <a:avLst/>
          </a:prstGeom>
          <a:solidFill>
            <a:srgbClr val="1E2761"/>
          </a:solidFill>
          <a:ln/>
        </p:spPr>
      </p:sp>
      <p:pic>
        <p:nvPicPr>
          <p:cNvPr id="6" name="Image 0" descr="/home/claude/rca_pptx/icons/search.png"/>
          <p:cNvPicPr>
            <a:picLocks noChangeAspect="1"/>
          </p:cNvPicPr>
          <p:nvPr/>
        </p:nvPicPr>
        <p:blipFill>
          <a:blip r:embed="rId3"/>
          <a:stretch>
            <a:fillRect/>
          </a:stretch>
        </p:blipFill>
        <p:spPr>
          <a:xfrm>
            <a:off x="885139" y="2713939"/>
            <a:ext cx="332842" cy="332842"/>
          </a:xfrm>
          <a:prstGeom prst="rect">
            <a:avLst/>
          </a:prstGeom>
        </p:spPr>
      </p:pic>
      <p:sp>
        <p:nvSpPr>
          <p:cNvPr id="7" name="Shape 4"/>
          <p:cNvSpPr/>
          <p:nvPr/>
        </p:nvSpPr>
        <p:spPr>
          <a:xfrm>
            <a:off x="996696" y="2825496"/>
            <a:ext cx="109728" cy="109728"/>
          </a:xfrm>
          <a:prstGeom prst="ellipse">
            <a:avLst/>
          </a:prstGeom>
          <a:solidFill>
            <a:srgbClr val="3B5BA5"/>
          </a:solidFill>
          <a:ln/>
        </p:spPr>
      </p:sp>
      <p:sp>
        <p:nvSpPr>
          <p:cNvPr id="8" name="Text 5"/>
          <p:cNvSpPr/>
          <p:nvPr/>
        </p:nvSpPr>
        <p:spPr>
          <a:xfrm>
            <a:off x="182880" y="3337560"/>
            <a:ext cx="173736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1E2761"/>
                </a:solidFill>
                <a:latin typeface="Calibri" pitchFamily="34" charset="0"/>
                <a:ea typeface="Calibri" pitchFamily="34" charset="-122"/>
                <a:cs typeface="Calibri" pitchFamily="34" charset="-120"/>
              </a:rPr>
              <a:t>1. Investigated logs</a:t>
            </a:r>
            <a:endParaRPr lang="en-US" sz="1150" dirty="0"/>
          </a:p>
        </p:txBody>
      </p:sp>
      <p:sp>
        <p:nvSpPr>
          <p:cNvPr id="9" name="Text 6"/>
          <p:cNvSpPr/>
          <p:nvPr/>
        </p:nvSpPr>
        <p:spPr>
          <a:xfrm>
            <a:off x="182880" y="3776472"/>
            <a:ext cx="1737360" cy="822960"/>
          </a:xfrm>
          <a:prstGeom prst="rect">
            <a:avLst/>
          </a:prstGeom>
          <a:noFill/>
          <a:ln/>
        </p:spPr>
        <p:txBody>
          <a:bodyPr wrap="square" lIns="0" tIns="0" rIns="0" bIns="0" rtlCol="0" anchor="ctr"/>
          <a:lstStyle/>
          <a:p>
            <a:pPr marL="0" indent="0" algn="ctr">
              <a:lnSpc>
                <a:spcPct val="105000"/>
              </a:lnSpc>
              <a:buNone/>
            </a:pPr>
            <a:r>
              <a:rPr lang="en-US" sz="950" dirty="0">
                <a:solidFill>
                  <a:srgbClr val="4A4F63"/>
                </a:solidFill>
                <a:latin typeface="Calibri" pitchFamily="34" charset="0"/>
                <a:ea typeface="Calibri" pitchFamily="34" charset="-122"/>
                <a:cs typeface="Calibri" pitchFamily="34" charset="-120"/>
              </a:rPr>
              <a:t>Reviewed authentication &amp; application logs.</a:t>
            </a:r>
            <a:endParaRPr lang="en-US" sz="950" dirty="0"/>
          </a:p>
        </p:txBody>
      </p:sp>
      <p:sp>
        <p:nvSpPr>
          <p:cNvPr id="10" name="Shape 7"/>
          <p:cNvSpPr/>
          <p:nvPr/>
        </p:nvSpPr>
        <p:spPr>
          <a:xfrm>
            <a:off x="2752344" y="2560320"/>
            <a:ext cx="640080" cy="640080"/>
          </a:xfrm>
          <a:prstGeom prst="ellipse">
            <a:avLst/>
          </a:prstGeom>
          <a:solidFill>
            <a:srgbClr val="1E2761"/>
          </a:solidFill>
          <a:ln/>
        </p:spPr>
      </p:sp>
      <p:pic>
        <p:nvPicPr>
          <p:cNvPr id="11" name="Image 1" descr="/home/claude/rca_pptx/icons/database.png"/>
          <p:cNvPicPr>
            <a:picLocks noChangeAspect="1"/>
          </p:cNvPicPr>
          <p:nvPr/>
        </p:nvPicPr>
        <p:blipFill>
          <a:blip r:embed="rId4"/>
          <a:stretch>
            <a:fillRect/>
          </a:stretch>
        </p:blipFill>
        <p:spPr>
          <a:xfrm>
            <a:off x="2905963" y="2713939"/>
            <a:ext cx="332842" cy="332842"/>
          </a:xfrm>
          <a:prstGeom prst="rect">
            <a:avLst/>
          </a:prstGeom>
        </p:spPr>
      </p:pic>
      <p:sp>
        <p:nvSpPr>
          <p:cNvPr id="12" name="Shape 8"/>
          <p:cNvSpPr/>
          <p:nvPr/>
        </p:nvSpPr>
        <p:spPr>
          <a:xfrm>
            <a:off x="3017520" y="2825496"/>
            <a:ext cx="109728" cy="109728"/>
          </a:xfrm>
          <a:prstGeom prst="ellipse">
            <a:avLst/>
          </a:prstGeom>
          <a:solidFill>
            <a:srgbClr val="3B5BA5"/>
          </a:solidFill>
          <a:ln/>
        </p:spPr>
      </p:sp>
      <p:sp>
        <p:nvSpPr>
          <p:cNvPr id="13" name="Text 9"/>
          <p:cNvSpPr/>
          <p:nvPr/>
        </p:nvSpPr>
        <p:spPr>
          <a:xfrm>
            <a:off x="2203704" y="1188720"/>
            <a:ext cx="1737360" cy="822960"/>
          </a:xfrm>
          <a:prstGeom prst="rect">
            <a:avLst/>
          </a:prstGeom>
          <a:noFill/>
          <a:ln/>
        </p:spPr>
        <p:txBody>
          <a:bodyPr wrap="square" lIns="0" tIns="0" rIns="0" bIns="0" rtlCol="0" anchor="ctr"/>
          <a:lstStyle/>
          <a:p>
            <a:pPr marL="0" indent="0" algn="ctr">
              <a:lnSpc>
                <a:spcPct val="105000"/>
              </a:lnSpc>
              <a:buNone/>
            </a:pPr>
            <a:r>
              <a:rPr lang="en-US" sz="950" dirty="0">
                <a:solidFill>
                  <a:srgbClr val="4A4F63"/>
                </a:solidFill>
                <a:latin typeface="Calibri" pitchFamily="34" charset="0"/>
                <a:ea typeface="Calibri" pitchFamily="34" charset="-122"/>
                <a:cs typeface="Calibri" pitchFamily="34" charset="-120"/>
              </a:rPr>
              <a:t>Found the database connection leak.</a:t>
            </a:r>
            <a:endParaRPr lang="en-US" sz="950" dirty="0"/>
          </a:p>
        </p:txBody>
      </p:sp>
      <p:sp>
        <p:nvSpPr>
          <p:cNvPr id="14" name="Text 10"/>
          <p:cNvSpPr/>
          <p:nvPr/>
        </p:nvSpPr>
        <p:spPr>
          <a:xfrm>
            <a:off x="2203704" y="2011680"/>
            <a:ext cx="173736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1E2761"/>
                </a:solidFill>
                <a:latin typeface="Calibri" pitchFamily="34" charset="0"/>
                <a:ea typeface="Calibri" pitchFamily="34" charset="-122"/>
                <a:cs typeface="Calibri" pitchFamily="34" charset="-120"/>
              </a:rPr>
              <a:t>2. Identified leak</a:t>
            </a:r>
            <a:endParaRPr lang="en-US" sz="1150" dirty="0"/>
          </a:p>
        </p:txBody>
      </p:sp>
      <p:sp>
        <p:nvSpPr>
          <p:cNvPr id="15" name="Shape 11"/>
          <p:cNvSpPr/>
          <p:nvPr/>
        </p:nvSpPr>
        <p:spPr>
          <a:xfrm>
            <a:off x="4773168" y="2560320"/>
            <a:ext cx="640080" cy="640080"/>
          </a:xfrm>
          <a:prstGeom prst="ellipse">
            <a:avLst/>
          </a:prstGeom>
          <a:solidFill>
            <a:srgbClr val="1E2761"/>
          </a:solidFill>
          <a:ln/>
        </p:spPr>
      </p:sp>
      <p:pic>
        <p:nvPicPr>
          <p:cNvPr id="16" name="Image 2" descr="/home/claude/rca_pptx/icons/sync.png"/>
          <p:cNvPicPr>
            <a:picLocks noChangeAspect="1"/>
          </p:cNvPicPr>
          <p:nvPr/>
        </p:nvPicPr>
        <p:blipFill>
          <a:blip r:embed="rId5"/>
          <a:stretch>
            <a:fillRect/>
          </a:stretch>
        </p:blipFill>
        <p:spPr>
          <a:xfrm>
            <a:off x="4926787" y="2713939"/>
            <a:ext cx="332842" cy="332842"/>
          </a:xfrm>
          <a:prstGeom prst="rect">
            <a:avLst/>
          </a:prstGeom>
        </p:spPr>
      </p:pic>
      <p:sp>
        <p:nvSpPr>
          <p:cNvPr id="17" name="Shape 12"/>
          <p:cNvSpPr/>
          <p:nvPr/>
        </p:nvSpPr>
        <p:spPr>
          <a:xfrm>
            <a:off x="5038344" y="2825496"/>
            <a:ext cx="109728" cy="109728"/>
          </a:xfrm>
          <a:prstGeom prst="ellipse">
            <a:avLst/>
          </a:prstGeom>
          <a:solidFill>
            <a:srgbClr val="3B5BA5"/>
          </a:solidFill>
          <a:ln/>
        </p:spPr>
      </p:sp>
      <p:sp>
        <p:nvSpPr>
          <p:cNvPr id="18" name="Text 13"/>
          <p:cNvSpPr/>
          <p:nvPr/>
        </p:nvSpPr>
        <p:spPr>
          <a:xfrm>
            <a:off x="4224528" y="3337560"/>
            <a:ext cx="173736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1E2761"/>
                </a:solidFill>
                <a:latin typeface="Calibri" pitchFamily="34" charset="0"/>
                <a:ea typeface="Calibri" pitchFamily="34" charset="-122"/>
                <a:cs typeface="Calibri" pitchFamily="34" charset="-120"/>
              </a:rPr>
              <a:t>3. Restarted services</a:t>
            </a:r>
            <a:endParaRPr lang="en-US" sz="1150" dirty="0"/>
          </a:p>
        </p:txBody>
      </p:sp>
      <p:sp>
        <p:nvSpPr>
          <p:cNvPr id="19" name="Text 14"/>
          <p:cNvSpPr/>
          <p:nvPr/>
        </p:nvSpPr>
        <p:spPr>
          <a:xfrm>
            <a:off x="4224528" y="3776472"/>
            <a:ext cx="1737360" cy="822960"/>
          </a:xfrm>
          <a:prstGeom prst="rect">
            <a:avLst/>
          </a:prstGeom>
          <a:noFill/>
          <a:ln/>
        </p:spPr>
        <p:txBody>
          <a:bodyPr wrap="square" lIns="0" tIns="0" rIns="0" bIns="0" rtlCol="0" anchor="ctr"/>
          <a:lstStyle/>
          <a:p>
            <a:pPr marL="0" indent="0" algn="ctr">
              <a:lnSpc>
                <a:spcPct val="105000"/>
              </a:lnSpc>
              <a:buNone/>
            </a:pPr>
            <a:r>
              <a:rPr lang="en-US" sz="950" dirty="0">
                <a:solidFill>
                  <a:srgbClr val="4A4F63"/>
                </a:solidFill>
                <a:latin typeface="Calibri" pitchFamily="34" charset="0"/>
                <a:ea typeface="Calibri" pitchFamily="34" charset="-122"/>
                <a:cs typeface="Calibri" pitchFamily="34" charset="-120"/>
              </a:rPr>
              <a:t>Restarted affected services to restore capacity.</a:t>
            </a:r>
            <a:endParaRPr lang="en-US" sz="950" dirty="0"/>
          </a:p>
        </p:txBody>
      </p:sp>
      <p:sp>
        <p:nvSpPr>
          <p:cNvPr id="20" name="Shape 15"/>
          <p:cNvSpPr/>
          <p:nvPr/>
        </p:nvSpPr>
        <p:spPr>
          <a:xfrm>
            <a:off x="6793992" y="2560320"/>
            <a:ext cx="640080" cy="640080"/>
          </a:xfrm>
          <a:prstGeom prst="ellipse">
            <a:avLst/>
          </a:prstGeom>
          <a:solidFill>
            <a:srgbClr val="1E2761"/>
          </a:solidFill>
          <a:ln/>
        </p:spPr>
      </p:sp>
      <p:pic>
        <p:nvPicPr>
          <p:cNvPr id="21" name="Image 3" descr="/home/claude/rca_pptx/icons/wrench.png"/>
          <p:cNvPicPr>
            <a:picLocks noChangeAspect="1"/>
          </p:cNvPicPr>
          <p:nvPr/>
        </p:nvPicPr>
        <p:blipFill>
          <a:blip r:embed="rId6"/>
          <a:stretch>
            <a:fillRect/>
          </a:stretch>
        </p:blipFill>
        <p:spPr>
          <a:xfrm>
            <a:off x="6947611" y="2713939"/>
            <a:ext cx="332842" cy="332842"/>
          </a:xfrm>
          <a:prstGeom prst="rect">
            <a:avLst/>
          </a:prstGeom>
        </p:spPr>
      </p:pic>
      <p:sp>
        <p:nvSpPr>
          <p:cNvPr id="22" name="Shape 16"/>
          <p:cNvSpPr/>
          <p:nvPr/>
        </p:nvSpPr>
        <p:spPr>
          <a:xfrm>
            <a:off x="7059168" y="2825496"/>
            <a:ext cx="109728" cy="109728"/>
          </a:xfrm>
          <a:prstGeom prst="ellipse">
            <a:avLst/>
          </a:prstGeom>
          <a:solidFill>
            <a:srgbClr val="3B5BA5"/>
          </a:solidFill>
          <a:ln/>
        </p:spPr>
      </p:sp>
      <p:sp>
        <p:nvSpPr>
          <p:cNvPr id="23" name="Text 17"/>
          <p:cNvSpPr/>
          <p:nvPr/>
        </p:nvSpPr>
        <p:spPr>
          <a:xfrm>
            <a:off x="6245352" y="1188720"/>
            <a:ext cx="1737360" cy="822960"/>
          </a:xfrm>
          <a:prstGeom prst="rect">
            <a:avLst/>
          </a:prstGeom>
          <a:noFill/>
          <a:ln/>
        </p:spPr>
        <p:txBody>
          <a:bodyPr wrap="square" lIns="0" tIns="0" rIns="0" bIns="0" rtlCol="0" anchor="ctr"/>
          <a:lstStyle/>
          <a:p>
            <a:pPr marL="0" indent="0" algn="ctr">
              <a:lnSpc>
                <a:spcPct val="105000"/>
              </a:lnSpc>
              <a:buNone/>
            </a:pPr>
            <a:r>
              <a:rPr lang="en-US" sz="950" dirty="0">
                <a:solidFill>
                  <a:srgbClr val="4A4F63"/>
                </a:solidFill>
                <a:latin typeface="Calibri" pitchFamily="34" charset="0"/>
                <a:ea typeface="Calibri" pitchFamily="34" charset="-122"/>
                <a:cs typeface="Calibri" pitchFamily="34" charset="-120"/>
              </a:rPr>
              <a:t>Patched the connection-handling defect.</a:t>
            </a:r>
            <a:endParaRPr lang="en-US" sz="950" dirty="0"/>
          </a:p>
        </p:txBody>
      </p:sp>
      <p:sp>
        <p:nvSpPr>
          <p:cNvPr id="24" name="Text 18"/>
          <p:cNvSpPr/>
          <p:nvPr/>
        </p:nvSpPr>
        <p:spPr>
          <a:xfrm>
            <a:off x="6245352" y="2011680"/>
            <a:ext cx="173736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1E2761"/>
                </a:solidFill>
                <a:latin typeface="Calibri" pitchFamily="34" charset="0"/>
                <a:ea typeface="Calibri" pitchFamily="34" charset="-122"/>
                <a:cs typeface="Calibri" pitchFamily="34" charset="-120"/>
              </a:rPr>
              <a:t>4. Fixed the code</a:t>
            </a:r>
            <a:endParaRPr lang="en-US" sz="1150" dirty="0"/>
          </a:p>
        </p:txBody>
      </p:sp>
      <p:sp>
        <p:nvSpPr>
          <p:cNvPr id="25" name="Shape 19"/>
          <p:cNvSpPr/>
          <p:nvPr/>
        </p:nvSpPr>
        <p:spPr>
          <a:xfrm>
            <a:off x="8814816" y="2560320"/>
            <a:ext cx="640080" cy="640080"/>
          </a:xfrm>
          <a:prstGeom prst="ellipse">
            <a:avLst/>
          </a:prstGeom>
          <a:solidFill>
            <a:srgbClr val="1E2761"/>
          </a:solidFill>
          <a:ln/>
        </p:spPr>
      </p:sp>
      <p:pic>
        <p:nvPicPr>
          <p:cNvPr id="26" name="Image 4" descr="/home/claude/rca_pptx/icons/codebranch.png"/>
          <p:cNvPicPr>
            <a:picLocks noChangeAspect="1"/>
          </p:cNvPicPr>
          <p:nvPr/>
        </p:nvPicPr>
        <p:blipFill>
          <a:blip r:embed="rId7"/>
          <a:stretch>
            <a:fillRect/>
          </a:stretch>
        </p:blipFill>
        <p:spPr>
          <a:xfrm>
            <a:off x="8968435" y="2713939"/>
            <a:ext cx="332842" cy="332842"/>
          </a:xfrm>
          <a:prstGeom prst="rect">
            <a:avLst/>
          </a:prstGeom>
        </p:spPr>
      </p:pic>
      <p:sp>
        <p:nvSpPr>
          <p:cNvPr id="27" name="Shape 20"/>
          <p:cNvSpPr/>
          <p:nvPr/>
        </p:nvSpPr>
        <p:spPr>
          <a:xfrm>
            <a:off x="9079992" y="2825496"/>
            <a:ext cx="109728" cy="109728"/>
          </a:xfrm>
          <a:prstGeom prst="ellipse">
            <a:avLst/>
          </a:prstGeom>
          <a:solidFill>
            <a:srgbClr val="3B5BA5"/>
          </a:solidFill>
          <a:ln/>
        </p:spPr>
      </p:sp>
      <p:sp>
        <p:nvSpPr>
          <p:cNvPr id="28" name="Text 21"/>
          <p:cNvSpPr/>
          <p:nvPr/>
        </p:nvSpPr>
        <p:spPr>
          <a:xfrm>
            <a:off x="8266176" y="3337560"/>
            <a:ext cx="173736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1E2761"/>
                </a:solidFill>
                <a:latin typeface="Calibri" pitchFamily="34" charset="0"/>
                <a:ea typeface="Calibri" pitchFamily="34" charset="-122"/>
                <a:cs typeface="Calibri" pitchFamily="34" charset="-120"/>
              </a:rPr>
              <a:t>5. Deployed patch</a:t>
            </a:r>
            <a:endParaRPr lang="en-US" sz="1150" dirty="0"/>
          </a:p>
        </p:txBody>
      </p:sp>
      <p:sp>
        <p:nvSpPr>
          <p:cNvPr id="29" name="Text 22"/>
          <p:cNvSpPr/>
          <p:nvPr/>
        </p:nvSpPr>
        <p:spPr>
          <a:xfrm>
            <a:off x="8266176" y="3776472"/>
            <a:ext cx="1737360" cy="822960"/>
          </a:xfrm>
          <a:prstGeom prst="rect">
            <a:avLst/>
          </a:prstGeom>
          <a:noFill/>
          <a:ln/>
        </p:spPr>
        <p:txBody>
          <a:bodyPr wrap="square" lIns="0" tIns="0" rIns="0" bIns="0" rtlCol="0" anchor="ctr"/>
          <a:lstStyle/>
          <a:p>
            <a:pPr marL="0" indent="0" algn="ctr">
              <a:lnSpc>
                <a:spcPct val="105000"/>
              </a:lnSpc>
              <a:buNone/>
            </a:pPr>
            <a:r>
              <a:rPr lang="en-US" sz="950" dirty="0">
                <a:solidFill>
                  <a:srgbClr val="4A4F63"/>
                </a:solidFill>
                <a:latin typeface="Calibri" pitchFamily="34" charset="0"/>
                <a:ea typeface="Calibri" pitchFamily="34" charset="-122"/>
                <a:cs typeface="Calibri" pitchFamily="34" charset="-120"/>
              </a:rPr>
              <a:t>Rolled out the patched version.</a:t>
            </a:r>
            <a:endParaRPr lang="en-US" sz="950" dirty="0"/>
          </a:p>
        </p:txBody>
      </p:sp>
      <p:sp>
        <p:nvSpPr>
          <p:cNvPr id="30" name="Shape 23"/>
          <p:cNvSpPr/>
          <p:nvPr/>
        </p:nvSpPr>
        <p:spPr>
          <a:xfrm>
            <a:off x="10835640" y="2560320"/>
            <a:ext cx="640080" cy="640080"/>
          </a:xfrm>
          <a:prstGeom prst="ellipse">
            <a:avLst/>
          </a:prstGeom>
          <a:solidFill>
            <a:srgbClr val="1E2761"/>
          </a:solidFill>
          <a:ln/>
        </p:spPr>
      </p:sp>
      <p:pic>
        <p:nvPicPr>
          <p:cNvPr id="31" name="Image 5" descr="/home/claude/rca_pptx/icons/check.png"/>
          <p:cNvPicPr>
            <a:picLocks noChangeAspect="1"/>
          </p:cNvPicPr>
          <p:nvPr/>
        </p:nvPicPr>
        <p:blipFill>
          <a:blip r:embed="rId8"/>
          <a:stretch>
            <a:fillRect/>
          </a:stretch>
        </p:blipFill>
        <p:spPr>
          <a:xfrm>
            <a:off x="10989259" y="2713939"/>
            <a:ext cx="332842" cy="332842"/>
          </a:xfrm>
          <a:prstGeom prst="rect">
            <a:avLst/>
          </a:prstGeom>
        </p:spPr>
      </p:pic>
      <p:sp>
        <p:nvSpPr>
          <p:cNvPr id="32" name="Shape 24"/>
          <p:cNvSpPr/>
          <p:nvPr/>
        </p:nvSpPr>
        <p:spPr>
          <a:xfrm>
            <a:off x="11100816" y="2825496"/>
            <a:ext cx="109728" cy="109728"/>
          </a:xfrm>
          <a:prstGeom prst="ellipse">
            <a:avLst/>
          </a:prstGeom>
          <a:solidFill>
            <a:srgbClr val="3B5BA5"/>
          </a:solidFill>
          <a:ln/>
        </p:spPr>
      </p:sp>
      <p:sp>
        <p:nvSpPr>
          <p:cNvPr id="33" name="Text 25"/>
          <p:cNvSpPr/>
          <p:nvPr/>
        </p:nvSpPr>
        <p:spPr>
          <a:xfrm>
            <a:off x="10287000" y="1188720"/>
            <a:ext cx="1737360" cy="822960"/>
          </a:xfrm>
          <a:prstGeom prst="rect">
            <a:avLst/>
          </a:prstGeom>
          <a:noFill/>
          <a:ln/>
        </p:spPr>
        <p:txBody>
          <a:bodyPr wrap="square" lIns="0" tIns="0" rIns="0" bIns="0" rtlCol="0" anchor="ctr"/>
          <a:lstStyle/>
          <a:p>
            <a:pPr marL="0" indent="0" algn="ctr">
              <a:lnSpc>
                <a:spcPct val="105000"/>
              </a:lnSpc>
              <a:buNone/>
            </a:pPr>
            <a:r>
              <a:rPr lang="en-US" sz="950" dirty="0">
                <a:solidFill>
                  <a:srgbClr val="4A4F63"/>
                </a:solidFill>
                <a:latin typeface="Calibri" pitchFamily="34" charset="0"/>
                <a:ea typeface="Calibri" pitchFamily="34" charset="-122"/>
                <a:cs typeface="Calibri" pitchFamily="34" charset="-120"/>
              </a:rPr>
              <a:t>Confirmed successful user logins.</a:t>
            </a:r>
            <a:endParaRPr lang="en-US" sz="950" dirty="0"/>
          </a:p>
        </p:txBody>
      </p:sp>
      <p:sp>
        <p:nvSpPr>
          <p:cNvPr id="34" name="Text 26"/>
          <p:cNvSpPr/>
          <p:nvPr/>
        </p:nvSpPr>
        <p:spPr>
          <a:xfrm>
            <a:off x="10287000" y="2011680"/>
            <a:ext cx="1737360" cy="457200"/>
          </a:xfrm>
          <a:prstGeom prst="rect">
            <a:avLst/>
          </a:prstGeom>
          <a:noFill/>
          <a:ln/>
        </p:spPr>
        <p:txBody>
          <a:bodyPr wrap="square" lIns="0" tIns="0" rIns="0" bIns="0" rtlCol="0" anchor="ctr"/>
          <a:lstStyle/>
          <a:p>
            <a:pPr marL="0" indent="0" algn="ctr">
              <a:lnSpc>
                <a:spcPct val="105000"/>
              </a:lnSpc>
              <a:buNone/>
            </a:pPr>
            <a:r>
              <a:rPr lang="en-US" sz="1150" b="1" dirty="0">
                <a:solidFill>
                  <a:srgbClr val="1E2761"/>
                </a:solidFill>
                <a:latin typeface="Calibri" pitchFamily="34" charset="0"/>
                <a:ea typeface="Calibri" pitchFamily="34" charset="-122"/>
                <a:cs typeface="Calibri" pitchFamily="34" charset="-120"/>
              </a:rPr>
              <a:t>6. Verified logins</a:t>
            </a:r>
            <a:endParaRPr lang="en-US" sz="1150" dirty="0"/>
          </a:p>
        </p:txBody>
      </p:sp>
      <p:sp>
        <p:nvSpPr>
          <p:cNvPr id="35" name="Shape 27"/>
          <p:cNvSpPr/>
          <p:nvPr/>
        </p:nvSpPr>
        <p:spPr>
          <a:xfrm>
            <a:off x="548640" y="5257800"/>
            <a:ext cx="11109960" cy="868680"/>
          </a:xfrm>
          <a:prstGeom prst="roundRect">
            <a:avLst>
              <a:gd name="adj" fmla="val 8421"/>
            </a:avLst>
          </a:prstGeom>
          <a:solidFill>
            <a:srgbClr val="1E2761"/>
          </a:solidFill>
          <a:ln/>
        </p:spPr>
      </p:sp>
      <p:sp>
        <p:nvSpPr>
          <p:cNvPr id="36" name="Shape 28"/>
          <p:cNvSpPr/>
          <p:nvPr/>
        </p:nvSpPr>
        <p:spPr>
          <a:xfrm>
            <a:off x="749808" y="5422392"/>
            <a:ext cx="548640" cy="548640"/>
          </a:xfrm>
          <a:prstGeom prst="ellipse">
            <a:avLst/>
          </a:prstGeom>
          <a:solidFill>
            <a:srgbClr val="3B5BA5"/>
          </a:solidFill>
          <a:ln/>
        </p:spPr>
      </p:sp>
      <p:pic>
        <p:nvPicPr>
          <p:cNvPr id="37" name="Image 6" descr="/home/claude/rca_pptx/icons/check.png"/>
          <p:cNvPicPr>
            <a:picLocks noChangeAspect="1"/>
          </p:cNvPicPr>
          <p:nvPr/>
        </p:nvPicPr>
        <p:blipFill>
          <a:blip r:embed="rId8"/>
          <a:stretch>
            <a:fillRect/>
          </a:stretch>
        </p:blipFill>
        <p:spPr>
          <a:xfrm>
            <a:off x="870509" y="5543093"/>
            <a:ext cx="307238" cy="307238"/>
          </a:xfrm>
          <a:prstGeom prst="rect">
            <a:avLst/>
          </a:prstGeom>
        </p:spPr>
      </p:pic>
      <p:sp>
        <p:nvSpPr>
          <p:cNvPr id="38" name="Text 29"/>
          <p:cNvSpPr/>
          <p:nvPr/>
        </p:nvSpPr>
        <p:spPr>
          <a:xfrm>
            <a:off x="1508760" y="5349240"/>
            <a:ext cx="9966960" cy="685800"/>
          </a:xfrm>
          <a:prstGeom prst="rect">
            <a:avLst/>
          </a:prstGeom>
          <a:noFill/>
          <a:ln/>
        </p:spPr>
        <p:txBody>
          <a:bodyPr wrap="square" lIns="0" tIns="0" rIns="0" bIns="0" rtlCol="0" anchor="ctr"/>
          <a:lstStyle/>
          <a:p>
            <a:pPr marL="0" indent="0">
              <a:lnSpc>
                <a:spcPct val="115000"/>
              </a:lnSpc>
              <a:buNone/>
            </a:pPr>
            <a:r>
              <a:rPr lang="en-US" sz="1300" b="1" dirty="0">
                <a:solidFill>
                  <a:srgbClr val="CADCFC"/>
                </a:solidFill>
                <a:latin typeface="Calibri" pitchFamily="34" charset="0"/>
                <a:ea typeface="Calibri" pitchFamily="34" charset="-122"/>
                <a:cs typeface="Calibri" pitchFamily="34" charset="-120"/>
              </a:rPr>
              <a:t>Outcome: </a:t>
            </a:r>
            <a:r>
              <a:rPr lang="en-US" sz="1300" dirty="0">
                <a:solidFill>
                  <a:srgbClr val="FFFFFF"/>
                </a:solidFill>
                <a:latin typeface="Calibri" pitchFamily="34" charset="0"/>
                <a:ea typeface="Calibri" pitchFamily="34" charset="-122"/>
                <a:cs typeface="Calibri" pitchFamily="34" charset="-120"/>
              </a:rPr>
              <a:t>Login functionality was restored successfully, and normal authentication service was confirmed across the portal.</a:t>
            </a:r>
            <a:endParaRPr lang="en-US" sz="1300" dirty="0"/>
          </a:p>
        </p:txBody>
      </p:sp>
      <p:sp>
        <p:nvSpPr>
          <p:cNvPr id="39" name="Text 30"/>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1000" dirty="0"/>
          </a:p>
        </p:txBody>
      </p:sp>
      <p:sp>
        <p:nvSpPr>
          <p:cNvPr id="40" name="Text 3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rgbClr val="1E2761">
                    <a:alpha val="70000"/>
                  </a:srgbClr>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A47"/>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Preventive Actions &amp; Conclusion</a:t>
            </a:r>
            <a:endParaRPr lang="en-US" sz="3000" dirty="0"/>
          </a:p>
        </p:txBody>
      </p:sp>
      <p:sp>
        <p:nvSpPr>
          <p:cNvPr id="3" name="Text 1"/>
          <p:cNvSpPr/>
          <p:nvPr/>
        </p:nvSpPr>
        <p:spPr>
          <a:xfrm>
            <a:off x="548640" y="868680"/>
            <a:ext cx="10058400" cy="32004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Reducing the likelihood of recurrence</a:t>
            </a:r>
            <a:endParaRPr lang="en-US" sz="1300" dirty="0"/>
          </a:p>
        </p:txBody>
      </p:sp>
      <p:sp>
        <p:nvSpPr>
          <p:cNvPr id="4" name="Text 2"/>
          <p:cNvSpPr/>
          <p:nvPr/>
        </p:nvSpPr>
        <p:spPr>
          <a:xfrm>
            <a:off x="548640" y="1417320"/>
            <a:ext cx="5486400" cy="320040"/>
          </a:xfrm>
          <a:prstGeom prst="rect">
            <a:avLst/>
          </a:prstGeom>
          <a:noFill/>
          <a:ln/>
        </p:spPr>
        <p:txBody>
          <a:bodyPr wrap="square" lIns="0" tIns="0" rIns="0" bIns="0"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Preventive Measures</a:t>
            </a:r>
            <a:endParaRPr lang="en-US" sz="1500" dirty="0"/>
          </a:p>
        </p:txBody>
      </p:sp>
      <p:sp>
        <p:nvSpPr>
          <p:cNvPr id="5" name="Shape 3"/>
          <p:cNvSpPr/>
          <p:nvPr/>
        </p:nvSpPr>
        <p:spPr>
          <a:xfrm>
            <a:off x="548640" y="1828800"/>
            <a:ext cx="5623560" cy="566928"/>
          </a:xfrm>
          <a:prstGeom prst="roundRect">
            <a:avLst>
              <a:gd name="adj" fmla="val 9677"/>
            </a:avLst>
          </a:prstGeom>
          <a:solidFill>
            <a:srgbClr val="1E2761"/>
          </a:solidFill>
          <a:ln/>
        </p:spPr>
      </p:sp>
      <p:sp>
        <p:nvSpPr>
          <p:cNvPr id="6" name="Shape 4"/>
          <p:cNvSpPr/>
          <p:nvPr/>
        </p:nvSpPr>
        <p:spPr>
          <a:xfrm>
            <a:off x="676656" y="1911096"/>
            <a:ext cx="402336" cy="402336"/>
          </a:xfrm>
          <a:prstGeom prst="ellipse">
            <a:avLst/>
          </a:prstGeom>
          <a:solidFill>
            <a:srgbClr val="3B5BA5"/>
          </a:solidFill>
          <a:ln/>
        </p:spPr>
      </p:sp>
      <p:pic>
        <p:nvPicPr>
          <p:cNvPr id="7" name="Image 0" descr="/home/claude/rca_pptx/icons/sync.png"/>
          <p:cNvPicPr>
            <a:picLocks noChangeAspect="1"/>
          </p:cNvPicPr>
          <p:nvPr/>
        </p:nvPicPr>
        <p:blipFill>
          <a:blip r:embed="rId3"/>
          <a:stretch>
            <a:fillRect/>
          </a:stretch>
        </p:blipFill>
        <p:spPr>
          <a:xfrm>
            <a:off x="767182" y="2001622"/>
            <a:ext cx="221285" cy="221285"/>
          </a:xfrm>
          <a:prstGeom prst="rect">
            <a:avLst/>
          </a:prstGeom>
        </p:spPr>
      </p:pic>
      <p:sp>
        <p:nvSpPr>
          <p:cNvPr id="8" name="Text 5"/>
          <p:cNvSpPr/>
          <p:nvPr/>
        </p:nvSpPr>
        <p:spPr>
          <a:xfrm>
            <a:off x="1207008" y="1828800"/>
            <a:ext cx="484632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Implement database connection monitoring.</a:t>
            </a:r>
            <a:endParaRPr lang="en-US" sz="1200" dirty="0"/>
          </a:p>
        </p:txBody>
      </p:sp>
      <p:sp>
        <p:nvSpPr>
          <p:cNvPr id="9" name="Shape 6"/>
          <p:cNvSpPr/>
          <p:nvPr/>
        </p:nvSpPr>
        <p:spPr>
          <a:xfrm>
            <a:off x="548640" y="2487168"/>
            <a:ext cx="5623560" cy="566928"/>
          </a:xfrm>
          <a:prstGeom prst="roundRect">
            <a:avLst>
              <a:gd name="adj" fmla="val 9677"/>
            </a:avLst>
          </a:prstGeom>
          <a:solidFill>
            <a:srgbClr val="1E2761"/>
          </a:solidFill>
          <a:ln/>
        </p:spPr>
      </p:sp>
      <p:sp>
        <p:nvSpPr>
          <p:cNvPr id="10" name="Shape 7"/>
          <p:cNvSpPr/>
          <p:nvPr/>
        </p:nvSpPr>
        <p:spPr>
          <a:xfrm>
            <a:off x="676656" y="2569464"/>
            <a:ext cx="402336" cy="402336"/>
          </a:xfrm>
          <a:prstGeom prst="ellipse">
            <a:avLst/>
          </a:prstGeom>
          <a:solidFill>
            <a:srgbClr val="3B5BA5"/>
          </a:solidFill>
          <a:ln/>
        </p:spPr>
      </p:sp>
      <p:pic>
        <p:nvPicPr>
          <p:cNvPr id="11" name="Image 1" descr="/home/claude/rca_pptx/icons/bell.png"/>
          <p:cNvPicPr>
            <a:picLocks noChangeAspect="1"/>
          </p:cNvPicPr>
          <p:nvPr/>
        </p:nvPicPr>
        <p:blipFill>
          <a:blip r:embed="rId4"/>
          <a:stretch>
            <a:fillRect/>
          </a:stretch>
        </p:blipFill>
        <p:spPr>
          <a:xfrm>
            <a:off x="767182" y="2659990"/>
            <a:ext cx="221285" cy="221285"/>
          </a:xfrm>
          <a:prstGeom prst="rect">
            <a:avLst/>
          </a:prstGeom>
        </p:spPr>
      </p:pic>
      <p:sp>
        <p:nvSpPr>
          <p:cNvPr id="12" name="Text 8"/>
          <p:cNvSpPr/>
          <p:nvPr/>
        </p:nvSpPr>
        <p:spPr>
          <a:xfrm>
            <a:off x="1207008" y="2487168"/>
            <a:ext cx="484632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Configure real-time alerts.</a:t>
            </a:r>
            <a:endParaRPr lang="en-US" sz="1200" dirty="0"/>
          </a:p>
        </p:txBody>
      </p:sp>
      <p:sp>
        <p:nvSpPr>
          <p:cNvPr id="13" name="Shape 9"/>
          <p:cNvSpPr/>
          <p:nvPr/>
        </p:nvSpPr>
        <p:spPr>
          <a:xfrm>
            <a:off x="548640" y="3145536"/>
            <a:ext cx="5623560" cy="566928"/>
          </a:xfrm>
          <a:prstGeom prst="roundRect">
            <a:avLst>
              <a:gd name="adj" fmla="val 9677"/>
            </a:avLst>
          </a:prstGeom>
          <a:solidFill>
            <a:srgbClr val="1E2761"/>
          </a:solidFill>
          <a:ln/>
        </p:spPr>
      </p:sp>
      <p:sp>
        <p:nvSpPr>
          <p:cNvPr id="14" name="Shape 10"/>
          <p:cNvSpPr/>
          <p:nvPr/>
        </p:nvSpPr>
        <p:spPr>
          <a:xfrm>
            <a:off x="676656" y="3227832"/>
            <a:ext cx="402336" cy="402336"/>
          </a:xfrm>
          <a:prstGeom prst="ellipse">
            <a:avLst/>
          </a:prstGeom>
          <a:solidFill>
            <a:srgbClr val="3B5BA5"/>
          </a:solidFill>
          <a:ln/>
        </p:spPr>
      </p:sp>
      <p:pic>
        <p:nvPicPr>
          <p:cNvPr id="15" name="Image 2" descr="/home/claude/rca_pptx/icons/flask.png"/>
          <p:cNvPicPr>
            <a:picLocks noChangeAspect="1"/>
          </p:cNvPicPr>
          <p:nvPr/>
        </p:nvPicPr>
        <p:blipFill>
          <a:blip r:embed="rId5"/>
          <a:stretch>
            <a:fillRect/>
          </a:stretch>
        </p:blipFill>
        <p:spPr>
          <a:xfrm>
            <a:off x="767182" y="3318358"/>
            <a:ext cx="221285" cy="221285"/>
          </a:xfrm>
          <a:prstGeom prst="rect">
            <a:avLst/>
          </a:prstGeom>
        </p:spPr>
      </p:pic>
      <p:sp>
        <p:nvSpPr>
          <p:cNvPr id="16" name="Text 11"/>
          <p:cNvSpPr/>
          <p:nvPr/>
        </p:nvSpPr>
        <p:spPr>
          <a:xfrm>
            <a:off x="1207008" y="3145536"/>
            <a:ext cx="484632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Improve QA and regression testing.</a:t>
            </a:r>
            <a:endParaRPr lang="en-US" sz="1200" dirty="0"/>
          </a:p>
        </p:txBody>
      </p:sp>
      <p:sp>
        <p:nvSpPr>
          <p:cNvPr id="17" name="Shape 12"/>
          <p:cNvSpPr/>
          <p:nvPr/>
        </p:nvSpPr>
        <p:spPr>
          <a:xfrm>
            <a:off x="548640" y="3803904"/>
            <a:ext cx="5623560" cy="566928"/>
          </a:xfrm>
          <a:prstGeom prst="roundRect">
            <a:avLst>
              <a:gd name="adj" fmla="val 9677"/>
            </a:avLst>
          </a:prstGeom>
          <a:solidFill>
            <a:srgbClr val="1E2761"/>
          </a:solidFill>
          <a:ln/>
        </p:spPr>
      </p:sp>
      <p:sp>
        <p:nvSpPr>
          <p:cNvPr id="18" name="Shape 13"/>
          <p:cNvSpPr/>
          <p:nvPr/>
        </p:nvSpPr>
        <p:spPr>
          <a:xfrm>
            <a:off x="676656" y="3886200"/>
            <a:ext cx="402336" cy="402336"/>
          </a:xfrm>
          <a:prstGeom prst="ellipse">
            <a:avLst/>
          </a:prstGeom>
          <a:solidFill>
            <a:srgbClr val="3B5BA5"/>
          </a:solidFill>
          <a:ln/>
        </p:spPr>
      </p:sp>
      <p:pic>
        <p:nvPicPr>
          <p:cNvPr id="19" name="Image 3" descr="/home/claude/rca_pptx/icons/chart_down.png"/>
          <p:cNvPicPr>
            <a:picLocks noChangeAspect="1"/>
          </p:cNvPicPr>
          <p:nvPr/>
        </p:nvPicPr>
        <p:blipFill>
          <a:blip r:embed="rId6"/>
          <a:stretch>
            <a:fillRect/>
          </a:stretch>
        </p:blipFill>
        <p:spPr>
          <a:xfrm>
            <a:off x="767182" y="3976726"/>
            <a:ext cx="221285" cy="221285"/>
          </a:xfrm>
          <a:prstGeom prst="rect">
            <a:avLst/>
          </a:prstGeom>
        </p:spPr>
      </p:pic>
      <p:sp>
        <p:nvSpPr>
          <p:cNvPr id="20" name="Text 14"/>
          <p:cNvSpPr/>
          <p:nvPr/>
        </p:nvSpPr>
        <p:spPr>
          <a:xfrm>
            <a:off x="1207008" y="3803904"/>
            <a:ext cx="484632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Conduct regular load testing.</a:t>
            </a:r>
            <a:endParaRPr lang="en-US" sz="1200" dirty="0"/>
          </a:p>
        </p:txBody>
      </p:sp>
      <p:sp>
        <p:nvSpPr>
          <p:cNvPr id="21" name="Shape 15"/>
          <p:cNvSpPr/>
          <p:nvPr/>
        </p:nvSpPr>
        <p:spPr>
          <a:xfrm>
            <a:off x="548640" y="4462272"/>
            <a:ext cx="5623560" cy="566928"/>
          </a:xfrm>
          <a:prstGeom prst="roundRect">
            <a:avLst>
              <a:gd name="adj" fmla="val 9677"/>
            </a:avLst>
          </a:prstGeom>
          <a:solidFill>
            <a:srgbClr val="1E2761"/>
          </a:solidFill>
          <a:ln/>
        </p:spPr>
      </p:sp>
      <p:sp>
        <p:nvSpPr>
          <p:cNvPr id="22" name="Shape 16"/>
          <p:cNvSpPr/>
          <p:nvPr/>
        </p:nvSpPr>
        <p:spPr>
          <a:xfrm>
            <a:off x="676656" y="4544568"/>
            <a:ext cx="402336" cy="402336"/>
          </a:xfrm>
          <a:prstGeom prst="ellipse">
            <a:avLst/>
          </a:prstGeom>
          <a:solidFill>
            <a:srgbClr val="3B5BA5"/>
          </a:solidFill>
          <a:ln/>
        </p:spPr>
      </p:sp>
      <p:pic>
        <p:nvPicPr>
          <p:cNvPr id="23" name="Image 4" descr="/home/claude/rca_pptx/icons/undo.png"/>
          <p:cNvPicPr>
            <a:picLocks noChangeAspect="1"/>
          </p:cNvPicPr>
          <p:nvPr/>
        </p:nvPicPr>
        <p:blipFill>
          <a:blip r:embed="rId7"/>
          <a:stretch>
            <a:fillRect/>
          </a:stretch>
        </p:blipFill>
        <p:spPr>
          <a:xfrm>
            <a:off x="767182" y="4635094"/>
            <a:ext cx="221285" cy="221285"/>
          </a:xfrm>
          <a:prstGeom prst="rect">
            <a:avLst/>
          </a:prstGeom>
        </p:spPr>
      </p:pic>
      <p:sp>
        <p:nvSpPr>
          <p:cNvPr id="24" name="Text 17"/>
          <p:cNvSpPr/>
          <p:nvPr/>
        </p:nvSpPr>
        <p:spPr>
          <a:xfrm>
            <a:off x="1207008" y="4462272"/>
            <a:ext cx="484632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Introduce automated rollback mechanisms.</a:t>
            </a:r>
            <a:endParaRPr lang="en-US" sz="1200" dirty="0"/>
          </a:p>
        </p:txBody>
      </p:sp>
      <p:sp>
        <p:nvSpPr>
          <p:cNvPr id="25" name="Shape 18"/>
          <p:cNvSpPr/>
          <p:nvPr/>
        </p:nvSpPr>
        <p:spPr>
          <a:xfrm>
            <a:off x="548640" y="5120640"/>
            <a:ext cx="5623560" cy="566928"/>
          </a:xfrm>
          <a:prstGeom prst="roundRect">
            <a:avLst>
              <a:gd name="adj" fmla="val 9677"/>
            </a:avLst>
          </a:prstGeom>
          <a:solidFill>
            <a:srgbClr val="1E2761"/>
          </a:solidFill>
          <a:ln/>
        </p:spPr>
      </p:sp>
      <p:sp>
        <p:nvSpPr>
          <p:cNvPr id="26" name="Shape 19"/>
          <p:cNvSpPr/>
          <p:nvPr/>
        </p:nvSpPr>
        <p:spPr>
          <a:xfrm>
            <a:off x="676656" y="5202936"/>
            <a:ext cx="402336" cy="402336"/>
          </a:xfrm>
          <a:prstGeom prst="ellipse">
            <a:avLst/>
          </a:prstGeom>
          <a:solidFill>
            <a:srgbClr val="3B5BA5"/>
          </a:solidFill>
          <a:ln/>
        </p:spPr>
      </p:sp>
      <p:pic>
        <p:nvPicPr>
          <p:cNvPr id="27" name="Image 5" descr="/home/claude/rca_pptx/icons/clipboard.png"/>
          <p:cNvPicPr>
            <a:picLocks noChangeAspect="1"/>
          </p:cNvPicPr>
          <p:nvPr/>
        </p:nvPicPr>
        <p:blipFill>
          <a:blip r:embed="rId8"/>
          <a:stretch>
            <a:fillRect/>
          </a:stretch>
        </p:blipFill>
        <p:spPr>
          <a:xfrm>
            <a:off x="767182" y="5293462"/>
            <a:ext cx="221285" cy="221285"/>
          </a:xfrm>
          <a:prstGeom prst="rect">
            <a:avLst/>
          </a:prstGeom>
        </p:spPr>
      </p:pic>
      <p:sp>
        <p:nvSpPr>
          <p:cNvPr id="28" name="Text 20"/>
          <p:cNvSpPr/>
          <p:nvPr/>
        </p:nvSpPr>
        <p:spPr>
          <a:xfrm>
            <a:off x="1207008" y="5120640"/>
            <a:ext cx="484632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Strengthen code review practices.</a:t>
            </a:r>
            <a:endParaRPr lang="en-US" sz="1200" dirty="0"/>
          </a:p>
        </p:txBody>
      </p:sp>
      <p:sp>
        <p:nvSpPr>
          <p:cNvPr id="29" name="Text 21"/>
          <p:cNvSpPr/>
          <p:nvPr/>
        </p:nvSpPr>
        <p:spPr>
          <a:xfrm>
            <a:off x="6675120" y="1417320"/>
            <a:ext cx="5029200" cy="320040"/>
          </a:xfrm>
          <a:prstGeom prst="rect">
            <a:avLst/>
          </a:prstGeom>
          <a:noFill/>
          <a:ln/>
        </p:spPr>
        <p:txBody>
          <a:bodyPr wrap="square" lIns="0" tIns="0" rIns="0" bIns="0" rtlCol="0" anchor="ctr"/>
          <a:lstStyle/>
          <a:p>
            <a:pPr marL="0" indent="0" algn="ctr">
              <a:buNone/>
            </a:pPr>
            <a:r>
              <a:rPr lang="en-US" sz="1500" b="1" dirty="0">
                <a:solidFill>
                  <a:srgbClr val="CADCFC"/>
                </a:solidFill>
                <a:latin typeface="Calibri" pitchFamily="34" charset="0"/>
                <a:ea typeface="Calibri" pitchFamily="34" charset="-122"/>
                <a:cs typeface="Calibri" pitchFamily="34" charset="-120"/>
              </a:rPr>
              <a:t>Continuous Improvement Cycle</a:t>
            </a:r>
            <a:endParaRPr lang="en-US" sz="1500" dirty="0"/>
          </a:p>
        </p:txBody>
      </p:sp>
      <p:sp>
        <p:nvSpPr>
          <p:cNvPr id="30" name="Shape 22"/>
          <p:cNvSpPr/>
          <p:nvPr/>
        </p:nvSpPr>
        <p:spPr>
          <a:xfrm>
            <a:off x="8366760" y="2651760"/>
            <a:ext cx="1737360" cy="1737360"/>
          </a:xfrm>
          <a:prstGeom prst="ellipse">
            <a:avLst/>
          </a:prstGeom>
          <a:ln w="38100">
            <a:solidFill>
              <a:srgbClr val="3B5BA5"/>
            </a:solidFill>
            <a:prstDash val="solid"/>
          </a:ln>
        </p:spPr>
      </p:sp>
      <p:sp>
        <p:nvSpPr>
          <p:cNvPr id="31" name="Shape 23"/>
          <p:cNvSpPr/>
          <p:nvPr/>
        </p:nvSpPr>
        <p:spPr>
          <a:xfrm>
            <a:off x="8851392" y="2267712"/>
            <a:ext cx="768096" cy="768096"/>
          </a:xfrm>
          <a:prstGeom prst="ellipse">
            <a:avLst/>
          </a:prstGeom>
          <a:solidFill>
            <a:srgbClr val="1E2761"/>
          </a:solidFill>
          <a:ln/>
        </p:spPr>
      </p:sp>
      <p:pic>
        <p:nvPicPr>
          <p:cNvPr id="32" name="Image 6" descr="/home/claude/rca_pptx/icons/clipboard.png"/>
          <p:cNvPicPr>
            <a:picLocks noChangeAspect="1"/>
          </p:cNvPicPr>
          <p:nvPr/>
        </p:nvPicPr>
        <p:blipFill>
          <a:blip r:embed="rId8"/>
          <a:stretch>
            <a:fillRect/>
          </a:stretch>
        </p:blipFill>
        <p:spPr>
          <a:xfrm>
            <a:off x="9043416" y="2459736"/>
            <a:ext cx="384048" cy="384048"/>
          </a:xfrm>
          <a:prstGeom prst="rect">
            <a:avLst/>
          </a:prstGeom>
        </p:spPr>
      </p:pic>
      <p:sp>
        <p:nvSpPr>
          <p:cNvPr id="33" name="Text 24"/>
          <p:cNvSpPr/>
          <p:nvPr/>
        </p:nvSpPr>
        <p:spPr>
          <a:xfrm>
            <a:off x="8732520" y="1874520"/>
            <a:ext cx="100584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Plan</a:t>
            </a:r>
            <a:endParaRPr lang="en-US" sz="1200" dirty="0"/>
          </a:p>
        </p:txBody>
      </p:sp>
      <p:sp>
        <p:nvSpPr>
          <p:cNvPr id="34" name="Shape 25"/>
          <p:cNvSpPr/>
          <p:nvPr/>
        </p:nvSpPr>
        <p:spPr>
          <a:xfrm>
            <a:off x="9720072" y="3136392"/>
            <a:ext cx="768096" cy="768096"/>
          </a:xfrm>
          <a:prstGeom prst="ellipse">
            <a:avLst/>
          </a:prstGeom>
          <a:solidFill>
            <a:srgbClr val="1E2761"/>
          </a:solidFill>
          <a:ln/>
        </p:spPr>
      </p:sp>
      <p:pic>
        <p:nvPicPr>
          <p:cNvPr id="35" name="Image 7" descr="/home/claude/rca_pptx/icons/wrench.png"/>
          <p:cNvPicPr>
            <a:picLocks noChangeAspect="1"/>
          </p:cNvPicPr>
          <p:nvPr/>
        </p:nvPicPr>
        <p:blipFill>
          <a:blip r:embed="rId9"/>
          <a:stretch>
            <a:fillRect/>
          </a:stretch>
        </p:blipFill>
        <p:spPr>
          <a:xfrm>
            <a:off x="9912096" y="3328416"/>
            <a:ext cx="384048" cy="384048"/>
          </a:xfrm>
          <a:prstGeom prst="rect">
            <a:avLst/>
          </a:prstGeom>
        </p:spPr>
      </p:pic>
      <p:sp>
        <p:nvSpPr>
          <p:cNvPr id="36" name="Text 26"/>
          <p:cNvSpPr/>
          <p:nvPr/>
        </p:nvSpPr>
        <p:spPr>
          <a:xfrm>
            <a:off x="10607040" y="3374136"/>
            <a:ext cx="100584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Do</a:t>
            </a:r>
            <a:endParaRPr lang="en-US" sz="1200" dirty="0"/>
          </a:p>
        </p:txBody>
      </p:sp>
      <p:sp>
        <p:nvSpPr>
          <p:cNvPr id="37" name="Shape 27"/>
          <p:cNvSpPr/>
          <p:nvPr/>
        </p:nvSpPr>
        <p:spPr>
          <a:xfrm>
            <a:off x="8851392" y="4005072"/>
            <a:ext cx="768096" cy="768096"/>
          </a:xfrm>
          <a:prstGeom prst="ellipse">
            <a:avLst/>
          </a:prstGeom>
          <a:solidFill>
            <a:srgbClr val="1E2761"/>
          </a:solidFill>
          <a:ln/>
        </p:spPr>
      </p:sp>
      <p:pic>
        <p:nvPicPr>
          <p:cNvPr id="38" name="Image 8" descr="/home/claude/rca_pptx/icons/search.png"/>
          <p:cNvPicPr>
            <a:picLocks noChangeAspect="1"/>
          </p:cNvPicPr>
          <p:nvPr/>
        </p:nvPicPr>
        <p:blipFill>
          <a:blip r:embed="rId10"/>
          <a:stretch>
            <a:fillRect/>
          </a:stretch>
        </p:blipFill>
        <p:spPr>
          <a:xfrm>
            <a:off x="9043416" y="4197096"/>
            <a:ext cx="384048" cy="384048"/>
          </a:xfrm>
          <a:prstGeom prst="rect">
            <a:avLst/>
          </a:prstGeom>
        </p:spPr>
      </p:pic>
      <p:sp>
        <p:nvSpPr>
          <p:cNvPr id="39" name="Text 28"/>
          <p:cNvSpPr/>
          <p:nvPr/>
        </p:nvSpPr>
        <p:spPr>
          <a:xfrm>
            <a:off x="8732520" y="4828032"/>
            <a:ext cx="100584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40" name="Shape 29"/>
          <p:cNvSpPr/>
          <p:nvPr/>
        </p:nvSpPr>
        <p:spPr>
          <a:xfrm>
            <a:off x="7982712" y="3136392"/>
            <a:ext cx="768096" cy="768096"/>
          </a:xfrm>
          <a:prstGeom prst="ellipse">
            <a:avLst/>
          </a:prstGeom>
          <a:solidFill>
            <a:srgbClr val="1E2761"/>
          </a:solidFill>
          <a:ln/>
        </p:spPr>
      </p:sp>
      <p:pic>
        <p:nvPicPr>
          <p:cNvPr id="41" name="Image 9" descr="/home/claude/rca_pptx/icons/shield.png"/>
          <p:cNvPicPr>
            <a:picLocks noChangeAspect="1"/>
          </p:cNvPicPr>
          <p:nvPr/>
        </p:nvPicPr>
        <p:blipFill>
          <a:blip r:embed="rId11"/>
          <a:stretch>
            <a:fillRect/>
          </a:stretch>
        </p:blipFill>
        <p:spPr>
          <a:xfrm>
            <a:off x="8174736" y="3328416"/>
            <a:ext cx="384048" cy="384048"/>
          </a:xfrm>
          <a:prstGeom prst="rect">
            <a:avLst/>
          </a:prstGeom>
        </p:spPr>
      </p:pic>
      <p:sp>
        <p:nvSpPr>
          <p:cNvPr id="42" name="Text 30"/>
          <p:cNvSpPr/>
          <p:nvPr/>
        </p:nvSpPr>
        <p:spPr>
          <a:xfrm>
            <a:off x="6995160" y="3374136"/>
            <a:ext cx="100584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a:t>
            </a:r>
            <a:endParaRPr lang="en-US" sz="1200" dirty="0"/>
          </a:p>
        </p:txBody>
      </p:sp>
      <p:sp>
        <p:nvSpPr>
          <p:cNvPr id="43" name="Shape 31"/>
          <p:cNvSpPr/>
          <p:nvPr/>
        </p:nvSpPr>
        <p:spPr>
          <a:xfrm rot="2700000">
            <a:off x="9767394" y="2823894"/>
            <a:ext cx="164592" cy="164592"/>
          </a:xfrm>
          <a:prstGeom prst="triangle">
            <a:avLst/>
          </a:prstGeom>
          <a:solidFill>
            <a:srgbClr val="CADCFC"/>
          </a:solidFill>
          <a:ln/>
        </p:spPr>
      </p:sp>
      <p:sp>
        <p:nvSpPr>
          <p:cNvPr id="44" name="Shape 32"/>
          <p:cNvSpPr/>
          <p:nvPr/>
        </p:nvSpPr>
        <p:spPr>
          <a:xfrm rot="8100000">
            <a:off x="9767394" y="4052394"/>
            <a:ext cx="164592" cy="164592"/>
          </a:xfrm>
          <a:prstGeom prst="triangle">
            <a:avLst/>
          </a:prstGeom>
          <a:solidFill>
            <a:srgbClr val="CADCFC"/>
          </a:solidFill>
          <a:ln/>
        </p:spPr>
      </p:sp>
      <p:sp>
        <p:nvSpPr>
          <p:cNvPr id="45" name="Shape 33"/>
          <p:cNvSpPr/>
          <p:nvPr/>
        </p:nvSpPr>
        <p:spPr>
          <a:xfrm rot="13500000">
            <a:off x="8538894" y="4052394"/>
            <a:ext cx="164592" cy="164592"/>
          </a:xfrm>
          <a:prstGeom prst="triangle">
            <a:avLst/>
          </a:prstGeom>
          <a:solidFill>
            <a:srgbClr val="CADCFC"/>
          </a:solidFill>
          <a:ln/>
        </p:spPr>
      </p:sp>
      <p:sp>
        <p:nvSpPr>
          <p:cNvPr id="46" name="Shape 34"/>
          <p:cNvSpPr/>
          <p:nvPr/>
        </p:nvSpPr>
        <p:spPr>
          <a:xfrm rot="18900000">
            <a:off x="8538894" y="2823894"/>
            <a:ext cx="164592" cy="164592"/>
          </a:xfrm>
          <a:prstGeom prst="triangle">
            <a:avLst/>
          </a:prstGeom>
          <a:solidFill>
            <a:srgbClr val="CADCFC"/>
          </a:solidFill>
          <a:ln/>
        </p:spPr>
      </p:sp>
      <p:sp>
        <p:nvSpPr>
          <p:cNvPr id="47" name="Shape 35"/>
          <p:cNvSpPr/>
          <p:nvPr/>
        </p:nvSpPr>
        <p:spPr>
          <a:xfrm>
            <a:off x="6675120" y="5212080"/>
            <a:ext cx="4983480" cy="1097280"/>
          </a:xfrm>
          <a:prstGeom prst="roundRect">
            <a:avLst>
              <a:gd name="adj" fmla="val 6667"/>
            </a:avLst>
          </a:prstGeom>
          <a:solidFill>
            <a:srgbClr val="3B5BA5"/>
          </a:solidFill>
          <a:ln/>
        </p:spPr>
      </p:sp>
      <p:sp>
        <p:nvSpPr>
          <p:cNvPr id="48" name="Text 36"/>
          <p:cNvSpPr/>
          <p:nvPr/>
        </p:nvSpPr>
        <p:spPr>
          <a:xfrm>
            <a:off x="6903720" y="5303520"/>
            <a:ext cx="4572000" cy="256032"/>
          </a:xfrm>
          <a:prstGeom prst="rect">
            <a:avLst/>
          </a:prstGeom>
          <a:noFill/>
          <a:ln/>
        </p:spPr>
        <p:txBody>
          <a:bodyPr wrap="square" lIns="0" tIns="0" rIns="0" bIns="0" rtlCol="0" anchor="ctr"/>
          <a:lstStyle/>
          <a:p>
            <a:pPr marL="0" indent="0">
              <a:buNone/>
            </a:pPr>
            <a:r>
              <a:rPr lang="en-US" sz="1250" b="1" dirty="0">
                <a:solidFill>
                  <a:srgbClr val="CADCFC"/>
                </a:solidFill>
                <a:latin typeface="Calibri" pitchFamily="34" charset="0"/>
                <a:ea typeface="Calibri" pitchFamily="34" charset="-122"/>
                <a:cs typeface="Calibri" pitchFamily="34" charset="-120"/>
              </a:rPr>
              <a:t>Conclusion</a:t>
            </a:r>
            <a:endParaRPr lang="en-US" sz="1250" dirty="0"/>
          </a:p>
        </p:txBody>
      </p:sp>
      <p:sp>
        <p:nvSpPr>
          <p:cNvPr id="49" name="Text 37"/>
          <p:cNvSpPr/>
          <p:nvPr/>
        </p:nvSpPr>
        <p:spPr>
          <a:xfrm>
            <a:off x="6903720" y="5541264"/>
            <a:ext cx="4572000" cy="713232"/>
          </a:xfrm>
          <a:prstGeom prst="rect">
            <a:avLst/>
          </a:prstGeom>
          <a:noFill/>
          <a:ln/>
        </p:spPr>
        <p:txBody>
          <a:bodyPr wrap="square" lIns="0" tIns="0" rIns="0" bIns="0" rtlCol="0" anchor="ctr"/>
          <a:lstStyle/>
          <a:p>
            <a:pPr marL="0" indent="0">
              <a:lnSpc>
                <a:spcPct val="112000"/>
              </a:lnSpc>
              <a:buNone/>
            </a:pPr>
            <a:r>
              <a:rPr lang="en-US" sz="1050" dirty="0">
                <a:solidFill>
                  <a:srgbClr val="FFFFFF"/>
                </a:solidFill>
                <a:latin typeface="Calibri" pitchFamily="34" charset="0"/>
                <a:ea typeface="Calibri" pitchFamily="34" charset="-122"/>
                <a:cs typeface="Calibri" pitchFamily="34" charset="-120"/>
              </a:rPr>
              <a:t>A database connection leak from a recent deployment caused the outage. Stronger monitoring, testing, and deployment controls will reduce the risk of recurrence.</a:t>
            </a:r>
            <a:endParaRPr lang="en-US" sz="1050" dirty="0"/>
          </a:p>
        </p:txBody>
      </p:sp>
      <p:sp>
        <p:nvSpPr>
          <p:cNvPr id="50" name="Text 38"/>
          <p:cNvSpPr/>
          <p:nvPr/>
        </p:nvSpPr>
        <p:spPr>
          <a:xfrm>
            <a:off x="457200" y="6473952"/>
            <a:ext cx="6400800" cy="274320"/>
          </a:xfrm>
          <a:prstGeom prst="rect">
            <a:avLst/>
          </a:prstGeom>
          <a:noFill/>
          <a:ln/>
        </p:spPr>
        <p:txBody>
          <a:bodyPr wrap="square" lIns="0" tIns="0" rIns="0" bIns="0" rtlCol="0" anchor="ctr"/>
          <a:lstStyle/>
          <a:p>
            <a:pPr marL="0" indent="0" algn="l">
              <a:buNone/>
            </a:pPr>
            <a:endParaRPr lang="en-US" sz="1000" dirty="0"/>
          </a:p>
        </p:txBody>
      </p:sp>
      <p:sp>
        <p:nvSpPr>
          <p:cNvPr id="51" name="Text 39"/>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1000" dirty="0">
                <a:solidFill>
                  <a:srgbClr val="CADCFC">
                    <a:alpha val="85000"/>
                  </a:srgbClr>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894</Words>
  <Application>Microsoft Office PowerPoint</Application>
  <PresentationFormat>Widescreen</PresentationFormat>
  <Paragraphs>106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Jyotirmayee Dash</cp:lastModifiedBy>
  <cp:revision>2</cp:revision>
  <dcterms:created xsi:type="dcterms:W3CDTF">2026-08-04T05:11:20Z</dcterms:created>
  <dcterms:modified xsi:type="dcterms:W3CDTF">2026-08-06T06:19:46Z</dcterms:modified>
</cp:coreProperties>
</file>